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35e7ae6c6b47c7" /><Relationship Type="http://schemas.openxmlformats.org/officeDocument/2006/relationships/extended-properties" Target="/docProps/app.xml" Id="R7a818fad06e44618" /><Relationship Type="http://schemas.openxmlformats.org/officeDocument/2006/relationships/officeDocument" Target="/ppt/presentation.xml" Id="Rfc4eb1080bb44065" /></Relationships>
</file>

<file path=ppt/presentation.xml><?xml version="1.0" encoding="utf-8"?>
<p:presentation xmlns:p="http://schemas.openxmlformats.org/presentationml/2006/main">
  <p:sldMasterIdLst>
    <p:sldMasterId xmlns:r="http://schemas.openxmlformats.org/officeDocument/2006/relationships" id="2147483648" r:id="R6766851f2e1743cd"/>
  </p:sldMasterIdLst>
  <p:notesMasterIdLst>
    <p:notesMasterId xmlns:r="http://schemas.openxmlformats.org/officeDocument/2006/relationships" r:id="R7e8f16e7b68647a7"/>
  </p:notesMasterIdLst>
  <p:sldIdLst>
    <p:sldId xmlns:r="http://schemas.openxmlformats.org/officeDocument/2006/relationships" id="256" r:id="R091bcfa78bfd4e94"/>
    <p:sldId xmlns:r="http://schemas.openxmlformats.org/officeDocument/2006/relationships" id="257" r:id="Rca864b61647e4ca8"/>
    <p:sldId xmlns:r="http://schemas.openxmlformats.org/officeDocument/2006/relationships" id="258" r:id="Re60ef2e203ab4d02"/>
    <p:sldId xmlns:r="http://schemas.openxmlformats.org/officeDocument/2006/relationships" id="259" r:id="R8945eb7eab634b80"/>
    <p:sldId xmlns:r="http://schemas.openxmlformats.org/officeDocument/2006/relationships" id="260" r:id="Raba03435cd534627"/>
    <p:sldId xmlns:r="http://schemas.openxmlformats.org/officeDocument/2006/relationships" id="261" r:id="Rcf7fb3105bca4785"/>
    <p:sldId xmlns:r="http://schemas.openxmlformats.org/officeDocument/2006/relationships" id="262" r:id="Rc47f83a73a124759"/>
    <p:sldId xmlns:r="http://schemas.openxmlformats.org/officeDocument/2006/relationships" id="263" r:id="R762d3231e0d64fe0"/>
    <p:sldId xmlns:r="http://schemas.openxmlformats.org/officeDocument/2006/relationships" id="264" r:id="Re21993d2e77940af"/>
    <p:sldId xmlns:r="http://schemas.openxmlformats.org/officeDocument/2006/relationships" id="265" r:id="R02c81370639f4a8a"/>
    <p:sldId xmlns:r="http://schemas.openxmlformats.org/officeDocument/2006/relationships" id="266" r:id="R790c0940166544d4"/>
    <p:sldId xmlns:r="http://schemas.openxmlformats.org/officeDocument/2006/relationships" id="267" r:id="R9a8f1b57406b47e7"/>
    <p:sldId xmlns:r="http://schemas.openxmlformats.org/officeDocument/2006/relationships" id="268" r:id="Ra6adab11d79b4456"/>
    <p:sldId xmlns:r="http://schemas.openxmlformats.org/officeDocument/2006/relationships" id="269" r:id="R501e32447b8b4575"/>
    <p:sldId xmlns:r="http://schemas.openxmlformats.org/officeDocument/2006/relationships" id="270" r:id="Rc1c91d6cba544fec"/>
    <p:sldId xmlns:r="http://schemas.openxmlformats.org/officeDocument/2006/relationships" id="271" r:id="R4125f7b07b4245f6"/>
    <p:sldId xmlns:r="http://schemas.openxmlformats.org/officeDocument/2006/relationships" id="272" r:id="R6f6b03f647f4429e"/>
    <p:sldId xmlns:r="http://schemas.openxmlformats.org/officeDocument/2006/relationships" id="273" r:id="Red61dcfb9d344b5b"/>
    <p:sldId xmlns:r="http://schemas.openxmlformats.org/officeDocument/2006/relationships" id="274" r:id="R68f8abd2ad654644"/>
    <p:sldId xmlns:r="http://schemas.openxmlformats.org/officeDocument/2006/relationships" id="275" r:id="Rc757b13ae8a4492a"/>
    <p:sldId xmlns:r="http://schemas.openxmlformats.org/officeDocument/2006/relationships" id="276" r:id="Rf748f33b7b5b4875"/>
    <p:sldId xmlns:r="http://schemas.openxmlformats.org/officeDocument/2006/relationships" id="277" r:id="Rfefcf037bb804e80"/>
    <p:sldId xmlns:r="http://schemas.openxmlformats.org/officeDocument/2006/relationships" id="278" r:id="Rbfcdf2822bb749db"/>
    <p:sldId xmlns:r="http://schemas.openxmlformats.org/officeDocument/2006/relationships" id="279" r:id="Rdc6b36b7bb3a4b6e"/>
    <p:sldId xmlns:r="http://schemas.openxmlformats.org/officeDocument/2006/relationships" id="280" r:id="Rdbfade0a402f4390"/>
    <p:sldId xmlns:r="http://schemas.openxmlformats.org/officeDocument/2006/relationships" id="281" r:id="R69123e1fb4aa47b3"/>
    <p:sldId xmlns:r="http://schemas.openxmlformats.org/officeDocument/2006/relationships" id="282" r:id="R03f7cf7b836045ea"/>
    <p:sldId xmlns:r="http://schemas.openxmlformats.org/officeDocument/2006/relationships" id="283" r:id="R133253496b8c4f84"/>
    <p:sldId xmlns:r="http://schemas.openxmlformats.org/officeDocument/2006/relationships" id="284" r:id="R9915c52bfb8547f8"/>
    <p:sldId xmlns:r="http://schemas.openxmlformats.org/officeDocument/2006/relationships" id="285" r:id="R4ecbffff3e4747e4"/>
    <p:sldId xmlns:r="http://schemas.openxmlformats.org/officeDocument/2006/relationships" id="286" r:id="R5890be1614474552"/>
    <p:sldId xmlns:r="http://schemas.openxmlformats.org/officeDocument/2006/relationships" id="287" r:id="R608b41ea5b4d420c"/>
    <p:sldId xmlns:r="http://schemas.openxmlformats.org/officeDocument/2006/relationships" id="288" r:id="Re41dc7123cf04df9"/>
    <p:sldId xmlns:r="http://schemas.openxmlformats.org/officeDocument/2006/relationships" id="289" r:id="R23331517fd2749e3"/>
    <p:sldId xmlns:r="http://schemas.openxmlformats.org/officeDocument/2006/relationships" id="290" r:id="Rc9cdf86266d24012"/>
    <p:sldId xmlns:r="http://schemas.openxmlformats.org/officeDocument/2006/relationships" id="291" r:id="R6ac68b056a924f2f"/>
    <p:sldId xmlns:r="http://schemas.openxmlformats.org/officeDocument/2006/relationships" id="292" r:id="Rd2af8981445c4190"/>
    <p:sldId xmlns:r="http://schemas.openxmlformats.org/officeDocument/2006/relationships" id="293" r:id="Rebc09092ebba4f6e"/>
    <p:sldId xmlns:r="http://schemas.openxmlformats.org/officeDocument/2006/relationships" id="294" r:id="Rb4274bb24a4c4f4c"/>
    <p:sldId xmlns:r="http://schemas.openxmlformats.org/officeDocument/2006/relationships" id="295" r:id="R5ff16d90ea0348a5"/>
    <p:sldId xmlns:r="http://schemas.openxmlformats.org/officeDocument/2006/relationships" id="296" r:id="R1d9f9f72b1344653"/>
    <p:sldId xmlns:r="http://schemas.openxmlformats.org/officeDocument/2006/relationships" id="297" r:id="R94e09a2f1a214506"/>
    <p:sldId xmlns:r="http://schemas.openxmlformats.org/officeDocument/2006/relationships" id="298" r:id="Rb1b51098327642d7"/>
    <p:sldId xmlns:r="http://schemas.openxmlformats.org/officeDocument/2006/relationships" id="299" r:id="Raf416dbf98034cf8"/>
    <p:sldId xmlns:r="http://schemas.openxmlformats.org/officeDocument/2006/relationships" id="300" r:id="R3b1628ca8f7843a1"/>
    <p:sldId xmlns:r="http://schemas.openxmlformats.org/officeDocument/2006/relationships" id="301" r:id="Rdfce1735305e491b"/>
    <p:sldId xmlns:r="http://schemas.openxmlformats.org/officeDocument/2006/relationships" id="302" r:id="Rec47c72fbdc745a2"/>
    <p:sldId xmlns:r="http://schemas.openxmlformats.org/officeDocument/2006/relationships" id="303" r:id="R3075ba01d18e4fb3"/>
    <p:sldId xmlns:r="http://schemas.openxmlformats.org/officeDocument/2006/relationships" id="304" r:id="R5327f0530e354def"/>
    <p:sldId xmlns:r="http://schemas.openxmlformats.org/officeDocument/2006/relationships" id="305" r:id="R9aa83992ce964f32"/>
    <p:sldId xmlns:r="http://schemas.openxmlformats.org/officeDocument/2006/relationships" id="306" r:id="R493c39491c874218"/>
    <p:sldId xmlns:r="http://schemas.openxmlformats.org/officeDocument/2006/relationships" id="307" r:id="R0f8c201d7cdf4d10"/>
    <p:sldId xmlns:r="http://schemas.openxmlformats.org/officeDocument/2006/relationships" id="308" r:id="Rcc6fa929d10448dd"/>
    <p:sldId xmlns:r="http://schemas.openxmlformats.org/officeDocument/2006/relationships" id="309" r:id="R4e329b0a7ba54a90"/>
    <p:sldId xmlns:r="http://schemas.openxmlformats.org/officeDocument/2006/relationships" id="310" r:id="R16ef3e160b5541c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c187eaabf042c7" /><Relationship Type="http://schemas.openxmlformats.org/officeDocument/2006/relationships/slideMaster" Target="/ppt/slideMasters/slideMaster1.xml" Id="R6766851f2e1743cd" /><Relationship Type="http://schemas.openxmlformats.org/officeDocument/2006/relationships/notesMaster" Target="/ppt/notesMasters/notesMaster1.xml" Id="R7e8f16e7b68647a7" /><Relationship Type="http://schemas.openxmlformats.org/officeDocument/2006/relationships/presProps" Target="/ppt/presProps.xml" Id="Rdc0e4081de314d70" /><Relationship Type="http://schemas.openxmlformats.org/officeDocument/2006/relationships/tableStyles" Target="/ppt/tableStyles.xml" Id="Re3868a72ac20443d" /><Relationship Type="http://schemas.openxmlformats.org/officeDocument/2006/relationships/slide" Target="/ppt/slides/slide1.xml" Id="R091bcfa78bfd4e94" /><Relationship Type="http://schemas.openxmlformats.org/officeDocument/2006/relationships/slide" Target="/ppt/slides/slide2.xml" Id="Rca864b61647e4ca8" /><Relationship Type="http://schemas.openxmlformats.org/officeDocument/2006/relationships/slide" Target="/ppt/slides/slide3.xml" Id="Re60ef2e203ab4d02" /><Relationship Type="http://schemas.openxmlformats.org/officeDocument/2006/relationships/slide" Target="/ppt/slides/slide4.xml" Id="R8945eb7eab634b80" /><Relationship Type="http://schemas.openxmlformats.org/officeDocument/2006/relationships/slide" Target="/ppt/slides/slide5.xml" Id="Raba03435cd534627" /><Relationship Type="http://schemas.openxmlformats.org/officeDocument/2006/relationships/slide" Target="/ppt/slides/slide6.xml" Id="Rcf7fb3105bca4785" /><Relationship Type="http://schemas.openxmlformats.org/officeDocument/2006/relationships/slide" Target="/ppt/slides/slide7.xml" Id="Rc47f83a73a124759" /><Relationship Type="http://schemas.openxmlformats.org/officeDocument/2006/relationships/slide" Target="/ppt/slides/slide8.xml" Id="R762d3231e0d64fe0" /><Relationship Type="http://schemas.openxmlformats.org/officeDocument/2006/relationships/slide" Target="/ppt/slides/slide9.xml" Id="Re21993d2e77940af" /><Relationship Type="http://schemas.openxmlformats.org/officeDocument/2006/relationships/slide" Target="/ppt/slides/slide10.xml" Id="R02c81370639f4a8a" /><Relationship Type="http://schemas.openxmlformats.org/officeDocument/2006/relationships/slide" Target="/ppt/slides/slide11.xml" Id="R790c0940166544d4" /><Relationship Type="http://schemas.openxmlformats.org/officeDocument/2006/relationships/slide" Target="/ppt/slides/slide12.xml" Id="R9a8f1b57406b47e7" /><Relationship Type="http://schemas.openxmlformats.org/officeDocument/2006/relationships/slide" Target="/ppt/slides/slide13.xml" Id="Ra6adab11d79b4456" /><Relationship Type="http://schemas.openxmlformats.org/officeDocument/2006/relationships/slide" Target="/ppt/slides/slide14.xml" Id="R501e32447b8b4575" /><Relationship Type="http://schemas.openxmlformats.org/officeDocument/2006/relationships/slide" Target="/ppt/slides/slide15.xml" Id="Rc1c91d6cba544fec" /><Relationship Type="http://schemas.openxmlformats.org/officeDocument/2006/relationships/slide" Target="/ppt/slides/slide16.xml" Id="R4125f7b07b4245f6" /><Relationship Type="http://schemas.openxmlformats.org/officeDocument/2006/relationships/slide" Target="/ppt/slides/slide17.xml" Id="R6f6b03f647f4429e" /><Relationship Type="http://schemas.openxmlformats.org/officeDocument/2006/relationships/slide" Target="/ppt/slides/slide18.xml" Id="Red61dcfb9d344b5b" /><Relationship Type="http://schemas.openxmlformats.org/officeDocument/2006/relationships/slide" Target="/ppt/slides/slide19.xml" Id="R68f8abd2ad654644" /><Relationship Type="http://schemas.openxmlformats.org/officeDocument/2006/relationships/slide" Target="/ppt/slides/slide20.xml" Id="Rc757b13ae8a4492a" /><Relationship Type="http://schemas.openxmlformats.org/officeDocument/2006/relationships/slide" Target="/ppt/slides/slide21.xml" Id="Rf748f33b7b5b4875" /><Relationship Type="http://schemas.openxmlformats.org/officeDocument/2006/relationships/slide" Target="/ppt/slides/slide22.xml" Id="Rfefcf037bb804e80" /><Relationship Type="http://schemas.openxmlformats.org/officeDocument/2006/relationships/slide" Target="/ppt/slides/slide23.xml" Id="Rbfcdf2822bb749db" /><Relationship Type="http://schemas.openxmlformats.org/officeDocument/2006/relationships/slide" Target="/ppt/slides/slide24.xml" Id="Rdc6b36b7bb3a4b6e" /><Relationship Type="http://schemas.openxmlformats.org/officeDocument/2006/relationships/slide" Target="/ppt/slides/slide25.xml" Id="Rdbfade0a402f4390" /><Relationship Type="http://schemas.openxmlformats.org/officeDocument/2006/relationships/slide" Target="/ppt/slides/slide26.xml" Id="R69123e1fb4aa47b3" /><Relationship Type="http://schemas.openxmlformats.org/officeDocument/2006/relationships/slide" Target="/ppt/slides/slide27.xml" Id="R03f7cf7b836045ea" /><Relationship Type="http://schemas.openxmlformats.org/officeDocument/2006/relationships/slide" Target="/ppt/slides/slide28.xml" Id="R133253496b8c4f84" /><Relationship Type="http://schemas.openxmlformats.org/officeDocument/2006/relationships/slide" Target="/ppt/slides/slide29.xml" Id="R9915c52bfb8547f8" /><Relationship Type="http://schemas.openxmlformats.org/officeDocument/2006/relationships/slide" Target="/ppt/slides/slide30.xml" Id="R4ecbffff3e4747e4" /><Relationship Type="http://schemas.openxmlformats.org/officeDocument/2006/relationships/slide" Target="/ppt/slides/slide31.xml" Id="R5890be1614474552" /><Relationship Type="http://schemas.openxmlformats.org/officeDocument/2006/relationships/slide" Target="/ppt/slides/slide32.xml" Id="R608b41ea5b4d420c" /><Relationship Type="http://schemas.openxmlformats.org/officeDocument/2006/relationships/slide" Target="/ppt/slides/slide33.xml" Id="Re41dc7123cf04df9" /><Relationship Type="http://schemas.openxmlformats.org/officeDocument/2006/relationships/slide" Target="/ppt/slides/slide34.xml" Id="R23331517fd2749e3" /><Relationship Type="http://schemas.openxmlformats.org/officeDocument/2006/relationships/slide" Target="/ppt/slides/slide35.xml" Id="Rc9cdf86266d24012" /><Relationship Type="http://schemas.openxmlformats.org/officeDocument/2006/relationships/slide" Target="/ppt/slides/slide36.xml" Id="R6ac68b056a924f2f" /><Relationship Type="http://schemas.openxmlformats.org/officeDocument/2006/relationships/slide" Target="/ppt/slides/slide37.xml" Id="Rd2af8981445c4190" /><Relationship Type="http://schemas.openxmlformats.org/officeDocument/2006/relationships/slide" Target="/ppt/slides/slide38.xml" Id="Rebc09092ebba4f6e" /><Relationship Type="http://schemas.openxmlformats.org/officeDocument/2006/relationships/slide" Target="/ppt/slides/slide39.xml" Id="Rb4274bb24a4c4f4c" /><Relationship Type="http://schemas.openxmlformats.org/officeDocument/2006/relationships/slide" Target="/ppt/slides/slide40.xml" Id="R5ff16d90ea0348a5" /><Relationship Type="http://schemas.openxmlformats.org/officeDocument/2006/relationships/slide" Target="/ppt/slides/slide41.xml" Id="R1d9f9f72b1344653" /><Relationship Type="http://schemas.openxmlformats.org/officeDocument/2006/relationships/slide" Target="/ppt/slides/slide42.xml" Id="R94e09a2f1a214506" /><Relationship Type="http://schemas.openxmlformats.org/officeDocument/2006/relationships/slide" Target="/ppt/slides/slide43.xml" Id="Rb1b51098327642d7" /><Relationship Type="http://schemas.openxmlformats.org/officeDocument/2006/relationships/slide" Target="/ppt/slides/slide44.xml" Id="Raf416dbf98034cf8" /><Relationship Type="http://schemas.openxmlformats.org/officeDocument/2006/relationships/slide" Target="/ppt/slides/slide45.xml" Id="R3b1628ca8f7843a1" /><Relationship Type="http://schemas.openxmlformats.org/officeDocument/2006/relationships/slide" Target="/ppt/slides/slide46.xml" Id="Rdfce1735305e491b" /><Relationship Type="http://schemas.openxmlformats.org/officeDocument/2006/relationships/slide" Target="/ppt/slides/slide47.xml" Id="Rec47c72fbdc745a2" /><Relationship Type="http://schemas.openxmlformats.org/officeDocument/2006/relationships/slide" Target="/ppt/slides/slide48.xml" Id="R3075ba01d18e4fb3" /><Relationship Type="http://schemas.openxmlformats.org/officeDocument/2006/relationships/slide" Target="/ppt/slides/slide49.xml" Id="R5327f0530e354def" /><Relationship Type="http://schemas.openxmlformats.org/officeDocument/2006/relationships/slide" Target="/ppt/slides/slide50.xml" Id="R9aa83992ce964f32" /><Relationship Type="http://schemas.openxmlformats.org/officeDocument/2006/relationships/slide" Target="/ppt/slides/slide51.xml" Id="R493c39491c874218" /><Relationship Type="http://schemas.openxmlformats.org/officeDocument/2006/relationships/slide" Target="/ppt/slides/slide52.xml" Id="R0f8c201d7cdf4d10" /><Relationship Type="http://schemas.openxmlformats.org/officeDocument/2006/relationships/slide" Target="/ppt/slides/slide53.xml" Id="Rcc6fa929d10448dd" /><Relationship Type="http://schemas.openxmlformats.org/officeDocument/2006/relationships/slide" Target="/ppt/slides/slide54.xml" Id="R4e329b0a7ba54a90" /><Relationship Type="http://schemas.openxmlformats.org/officeDocument/2006/relationships/slide" Target="/ppt/slides/slide55.xml" Id="R16ef3e160b5541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52fb9465f34a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ee1670102c4866" /><Relationship Type="http://schemas.openxmlformats.org/officeDocument/2006/relationships/notesMaster" Target="/ppt/notesMasters/notesMaster1.xml" Id="R17d0bf52dd2440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c0de0aed224857" /><Relationship Type="http://schemas.openxmlformats.org/officeDocument/2006/relationships/notesMaster" Target="/ppt/notesMasters/notesMaster1.xml" Id="Rb3490ccfdcec40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69b8359f5a4e08" /><Relationship Type="http://schemas.openxmlformats.org/officeDocument/2006/relationships/notesMaster" Target="/ppt/notesMasters/notesMaster1.xml" Id="R73541659104940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df66c6fa2b4b7a" /><Relationship Type="http://schemas.openxmlformats.org/officeDocument/2006/relationships/notesMaster" Target="/ppt/notesMasters/notesMaster1.xml" Id="Rfd4a59c5ef6c44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6bc91e34ee4337" /><Relationship Type="http://schemas.openxmlformats.org/officeDocument/2006/relationships/notesMaster" Target="/ppt/notesMasters/notesMaster1.xml" Id="R23bb0f9ed30c4e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5462ec3fc04da4" /><Relationship Type="http://schemas.openxmlformats.org/officeDocument/2006/relationships/notesMaster" Target="/ppt/notesMasters/notesMaster1.xml" Id="R81a5496f61484f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f4bd8a00fd4379" /><Relationship Type="http://schemas.openxmlformats.org/officeDocument/2006/relationships/notesMaster" Target="/ppt/notesMasters/notesMaster1.xml" Id="Rca14b191d66143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b49973965a453a" /><Relationship Type="http://schemas.openxmlformats.org/officeDocument/2006/relationships/notesMaster" Target="/ppt/notesMasters/notesMaster1.xml" Id="R247f63cf207346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86df3003ad49d6" /><Relationship Type="http://schemas.openxmlformats.org/officeDocument/2006/relationships/notesMaster" Target="/ppt/notesMasters/notesMaster1.xml" Id="R909490131ad945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817a39a83a4211" /><Relationship Type="http://schemas.openxmlformats.org/officeDocument/2006/relationships/notesMaster" Target="/ppt/notesMasters/notesMaster1.xml" Id="R08c7a6d54aa344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83705f43fd475c" /><Relationship Type="http://schemas.openxmlformats.org/officeDocument/2006/relationships/notesMaster" Target="/ppt/notesMasters/notesMaster1.xml" Id="Ra09a7f68e58e44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62a12ada914049" /><Relationship Type="http://schemas.openxmlformats.org/officeDocument/2006/relationships/notesMaster" Target="/ppt/notesMasters/notesMaster1.xml" Id="R3290f0e72e284a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02138513a04786" /><Relationship Type="http://schemas.openxmlformats.org/officeDocument/2006/relationships/notesMaster" Target="/ppt/notesMasters/notesMaster1.xml" Id="Ra700e88a5f7449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219937725f46b9" /><Relationship Type="http://schemas.openxmlformats.org/officeDocument/2006/relationships/notesMaster" Target="/ppt/notesMasters/notesMaster1.xml" Id="R77b856736d6842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d1fb0cdd7c46ab" /><Relationship Type="http://schemas.openxmlformats.org/officeDocument/2006/relationships/notesMaster" Target="/ppt/notesMasters/notesMaster1.xml" Id="R53330b7f6c794c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033537e4a3444b" /><Relationship Type="http://schemas.openxmlformats.org/officeDocument/2006/relationships/notesMaster" Target="/ppt/notesMasters/notesMaster1.xml" Id="R9546215486c741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b703bc81254833" /><Relationship Type="http://schemas.openxmlformats.org/officeDocument/2006/relationships/notesMaster" Target="/ppt/notesMasters/notesMaster1.xml" Id="Rb5977522b01c40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a425662aba44f72" /><Relationship Type="http://schemas.openxmlformats.org/officeDocument/2006/relationships/notesMaster" Target="/ppt/notesMasters/notesMaster1.xml" Id="R2b441fcb3e9d42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c8b9b782ac42bb" /><Relationship Type="http://schemas.openxmlformats.org/officeDocument/2006/relationships/notesMaster" Target="/ppt/notesMasters/notesMaster1.xml" Id="R20e252d30c2b41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b23527e24b14ae1" /><Relationship Type="http://schemas.openxmlformats.org/officeDocument/2006/relationships/notesMaster" Target="/ppt/notesMasters/notesMaster1.xml" Id="Ra2de8fdf21b44b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0d23b9526740f0" /><Relationship Type="http://schemas.openxmlformats.org/officeDocument/2006/relationships/notesMaster" Target="/ppt/notesMasters/notesMaster1.xml" Id="R78fc69bd731b4d8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3cc37d94a374630" /><Relationship Type="http://schemas.openxmlformats.org/officeDocument/2006/relationships/notesMaster" Target="/ppt/notesMasters/notesMaster1.xml" Id="R68bb654628474b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edc32b3ecb4499e" /><Relationship Type="http://schemas.openxmlformats.org/officeDocument/2006/relationships/notesMaster" Target="/ppt/notesMasters/notesMaster1.xml" Id="R16b996d6de4742f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6a160adc8324bc8" /><Relationship Type="http://schemas.openxmlformats.org/officeDocument/2006/relationships/notesMaster" Target="/ppt/notesMasters/notesMaster1.xml" Id="R829c23a66197407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25ebce841644d80" /><Relationship Type="http://schemas.openxmlformats.org/officeDocument/2006/relationships/notesMaster" Target="/ppt/notesMasters/notesMaster1.xml" Id="Rb0bb317d223546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f6442bb263d4b44" /><Relationship Type="http://schemas.openxmlformats.org/officeDocument/2006/relationships/notesMaster" Target="/ppt/notesMasters/notesMaster1.xml" Id="R66706c124ccf4c6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53c2a57f8eb444f" /><Relationship Type="http://schemas.openxmlformats.org/officeDocument/2006/relationships/notesMaster" Target="/ppt/notesMasters/notesMaster1.xml" Id="Re2f38b44e89b4d8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8e9d15793a41f0" /><Relationship Type="http://schemas.openxmlformats.org/officeDocument/2006/relationships/notesMaster" Target="/ppt/notesMasters/notesMaster1.xml" Id="R277e0a916ace489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f39ee8f262d427d" /><Relationship Type="http://schemas.openxmlformats.org/officeDocument/2006/relationships/notesMaster" Target="/ppt/notesMasters/notesMaster1.xml" Id="R3c057d80f36a4c2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6af4ab680034735" /><Relationship Type="http://schemas.openxmlformats.org/officeDocument/2006/relationships/notesMaster" Target="/ppt/notesMasters/notesMaster1.xml" Id="R25c0f107c64942c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e75c36ab0244b73" /><Relationship Type="http://schemas.openxmlformats.org/officeDocument/2006/relationships/notesMaster" Target="/ppt/notesMasters/notesMaster1.xml" Id="Rc1d57447a3c540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1bc6b39a6db4113" /><Relationship Type="http://schemas.openxmlformats.org/officeDocument/2006/relationships/notesMaster" Target="/ppt/notesMasters/notesMaster1.xml" Id="Ra76ff0e233b74e5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4dc47906904a99" /><Relationship Type="http://schemas.openxmlformats.org/officeDocument/2006/relationships/notesMaster" Target="/ppt/notesMasters/notesMaster1.xml" Id="Rb803ba97921e468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bca53710cfc433a" /><Relationship Type="http://schemas.openxmlformats.org/officeDocument/2006/relationships/notesMaster" Target="/ppt/notesMasters/notesMaster1.xml" Id="R4da399d27e3848a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30c572db73d4453" /><Relationship Type="http://schemas.openxmlformats.org/officeDocument/2006/relationships/notesMaster" Target="/ppt/notesMasters/notesMaster1.xml" Id="R965f094c638f457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4e6f530dd8e48ba" /><Relationship Type="http://schemas.openxmlformats.org/officeDocument/2006/relationships/notesMaster" Target="/ppt/notesMasters/notesMaster1.xml" Id="R31c9ed745cb64a7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64c13fbcda14f53" /><Relationship Type="http://schemas.openxmlformats.org/officeDocument/2006/relationships/notesMaster" Target="/ppt/notesMasters/notesMaster1.xml" Id="R41df8b199d2a480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d25f8c51d244770" /><Relationship Type="http://schemas.openxmlformats.org/officeDocument/2006/relationships/notesMaster" Target="/ppt/notesMasters/notesMaster1.xml" Id="Rd1183e7110824fe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601a163f49f4b16" /><Relationship Type="http://schemas.openxmlformats.org/officeDocument/2006/relationships/notesMaster" Target="/ppt/notesMasters/notesMaster1.xml" Id="R053bffd5cca74ef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364494af51a41be" /><Relationship Type="http://schemas.openxmlformats.org/officeDocument/2006/relationships/notesMaster" Target="/ppt/notesMasters/notesMaster1.xml" Id="Rc40507174fc6431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56a2afb783d4bc9" /><Relationship Type="http://schemas.openxmlformats.org/officeDocument/2006/relationships/notesMaster" Target="/ppt/notesMasters/notesMaster1.xml" Id="Rb17022ea0d97464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b6dc199900e495a" /><Relationship Type="http://schemas.openxmlformats.org/officeDocument/2006/relationships/notesMaster" Target="/ppt/notesMasters/notesMaster1.xml" Id="Rc3d161e27ccb46f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fb1399c8a0b4a67" /><Relationship Type="http://schemas.openxmlformats.org/officeDocument/2006/relationships/notesMaster" Target="/ppt/notesMasters/notesMaster1.xml" Id="R45b8cbe2fba54c3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02641d037c84d26" /><Relationship Type="http://schemas.openxmlformats.org/officeDocument/2006/relationships/notesMaster" Target="/ppt/notesMasters/notesMaster1.xml" Id="Ra14614d515314c0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a5919c1bc0e42bb" /><Relationship Type="http://schemas.openxmlformats.org/officeDocument/2006/relationships/notesMaster" Target="/ppt/notesMasters/notesMaster1.xml" Id="R0b9467484f5242e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73e45d8985543ae" /><Relationship Type="http://schemas.openxmlformats.org/officeDocument/2006/relationships/notesMaster" Target="/ppt/notesMasters/notesMaster1.xml" Id="Rdd490e8373cc40d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f011d8eb9cf41bb" /><Relationship Type="http://schemas.openxmlformats.org/officeDocument/2006/relationships/notesMaster" Target="/ppt/notesMasters/notesMaster1.xml" Id="Rc4f312353780414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76494e7466641ca" /><Relationship Type="http://schemas.openxmlformats.org/officeDocument/2006/relationships/notesMaster" Target="/ppt/notesMasters/notesMaster1.xml" Id="R2b567063dd7b4e1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0112061d5704d6b" /><Relationship Type="http://schemas.openxmlformats.org/officeDocument/2006/relationships/notesMaster" Target="/ppt/notesMasters/notesMaster1.xml" Id="R92b366215b94414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30be32123014fc8" /><Relationship Type="http://schemas.openxmlformats.org/officeDocument/2006/relationships/notesMaster" Target="/ppt/notesMasters/notesMaster1.xml" Id="R39f95dc36501416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db33bfe8e6a4c70" /><Relationship Type="http://schemas.openxmlformats.org/officeDocument/2006/relationships/notesMaster" Target="/ppt/notesMasters/notesMaster1.xml" Id="R594d6846ead24fc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3433459186e41b9" /><Relationship Type="http://schemas.openxmlformats.org/officeDocument/2006/relationships/notesMaster" Target="/ppt/notesMasters/notesMaster1.xml" Id="Rb0dc3adeb67149e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1fa5f9a5b5e4ab3" /><Relationship Type="http://schemas.openxmlformats.org/officeDocument/2006/relationships/notesMaster" Target="/ppt/notesMasters/notesMaster1.xml" Id="R77147015056b4c7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7b3066c85884c80" /><Relationship Type="http://schemas.openxmlformats.org/officeDocument/2006/relationships/notesMaster" Target="/ppt/notesMasters/notesMaster1.xml" Id="R5614f0084f7c46b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a7b81f43731431b" /><Relationship Type="http://schemas.openxmlformats.org/officeDocument/2006/relationships/notesMaster" Target="/ppt/notesMasters/notesMaster1.xml" Id="R920735cc67bd40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 A phone signs; another wallet pays</a:t>
            </a:r>
          </a:p>
          <a:p xmlns:a="http://schemas.openxmlformats.org/drawingml/2006/main">
            <a:r>
              <a:t/>
            </a:r>
          </a:p>
          <a:p xmlns:a="http://schemas.openxmlformats.org/drawingml/2006/main">
            <a:r>
              <a:t>A sample Sign and Burn onboarding, followed by three shielded transactions. The signing browser</a:t>
            </a:r>
          </a:p>
          <a:p xmlns:a="http://schemas.openxmlformats.org/drawingml/2006/main">
            <a:r>
              <a:t>keeps the passkey access and the console's ledger. A second browser holds the wallet that pays gas.</a:t>
            </a:r>
          </a:p>
          <a:p xmlns:a="http://schemas.openxmlformats.org/drawingml/2006/main">
            <a:r>
              <a:t>The wallet can belong to you or to someone helping you. It does not become an owner of the Safe.</a:t>
            </a:r>
          </a:p>
          <a:p xmlns:a="http://schemas.openxmlformats.org/drawingml/2006/main">
            <a:r>
              <a:t/>
            </a:r>
          </a:p>
          <a:p xmlns:a="http://schemas.openxmlformats.org/drawingml/2006/main">
            <a:r>
              <a:t>**Test network only.** This walkthrough describes the current implementation and its limits. It</a:t>
            </a:r>
          </a:p>
          <a:p xmlns:a="http://schemas.openxmlformats.org/drawingml/2006/main">
            <a:r>
              <a:t>is not an audit or a claim of protection against a compromised device.</a:t>
            </a:r>
          </a:p>
          <a:p xmlns:a="http://schemas.openxmlformats.org/drawingml/2006/main">
            <a:r>
              <a:t/>
            </a:r>
          </a:p>
          <a:p xmlns:a="http://schemas.openxmlformats.org/drawingml/2006/main">
            <a:r>
              <a:t>Each screenshot is paired with a diagram of the signing phone, its passkey and page memory,</a:t>
            </a:r>
          </a:p>
          <a:p xmlns:a="http://schemas.openxmlformats.org/drawingml/2006/main">
            <a:r>
              <a:t>the data disclosed outside the page, and the seat's state. Gold marks the passkey; violet marks</a:t>
            </a:r>
          </a:p>
          <a:p xmlns:a="http://schemas.openxmlformats.org/drawingml/2006/main">
            <a:r>
              <a:t>private seeds; blue marks public values; coral marks signed approvals; green marks the chain.</a:t>
            </a:r>
          </a:p>
          <a:p xmlns:a="http://schemas.openxmlformats.org/drawingml/2006/main">
            <a:r>
              <a:t>The phone prompts and physical objects are explanatory illustrations, not native dialogs. A public</a:t>
            </a:r>
          </a:p>
          <a:p xmlns:a="http://schemas.openxmlformats.org/drawingml/2006/main">
            <a:r>
              <a:t>value is not a private seed. Click a diagram to read it at full size.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A sample Sign and Burn onboarding, followed by three shielded transactions. The signing browser</a:t>
            </a:r>
          </a:p>
          <a:p xmlns:a="http://schemas.openxmlformats.org/drawingml/2006/main">
            <a:r>
              <a:t>keeps the passkey access and the console's ledger. A second browser holds the wallet that pays gas.</a:t>
            </a:r>
          </a:p>
          <a:p xmlns:a="http://schemas.openxmlformats.org/drawingml/2006/main">
            <a:r>
              <a:t>The wallet can belong to you or to someone helping you. It does not become an owner of the Safe.</a:t>
            </a:r>
          </a:p>
          <a:p xmlns:a="http://schemas.openxmlformats.org/drawingml/2006/main">
            <a:r>
              <a:t/>
            </a:r>
          </a:p>
          <a:p xmlns:a="http://schemas.openxmlformats.org/drawingml/2006/main">
            <a:r>
              <a:t>**Test network only.** This walkthrough describes the current implementation and its limits. It</a:t>
            </a:r>
          </a:p>
          <a:p xmlns:a="http://schemas.openxmlformats.org/drawingml/2006/main">
            <a:r>
              <a:t>is not an audit or a claim of protection against a compromised device.</a:t>
            </a:r>
          </a:p>
          <a:p xmlns:a="http://schemas.openxmlformats.org/drawingml/2006/main">
            <a:r>
              <a:t/>
            </a:r>
          </a:p>
          <a:p xmlns:a="http://schemas.openxmlformats.org/drawingml/2006/main">
            <a:r>
              <a:t>Each screenshot is paired with a diagram of the signing phone, its passkey and page memory,</a:t>
            </a:r>
          </a:p>
          <a:p xmlns:a="http://schemas.openxmlformats.org/drawingml/2006/main">
            <a:r>
              <a:t>the data disclosed outside the page, and the seat's state. Gold marks the passkey; violet marks</a:t>
            </a:r>
          </a:p>
          <a:p xmlns:a="http://schemas.openxmlformats.org/drawingml/2006/main">
            <a:r>
              <a:t>private seeds; blue marks public values; coral marks signed approvals; green marks the chain.</a:t>
            </a:r>
          </a:p>
          <a:p xmlns:a="http://schemas.openxmlformats.org/drawingml/2006/main">
            <a:r>
              <a:t>The phone prompts and physical objects are explanatory illustrations, not native dialogs. A public</a:t>
            </a:r>
          </a:p>
          <a:p xmlns:a="http://schemas.openxmlformats.org/drawingml/2006/main">
            <a:r>
              <a:t>value is not a private seed. Click a diagram to read it at full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These are screenshots of the running page at application commit `f13bf89`, captured on 2026-10-09. The signing browser is Chromium</a:t>
            </a:r>
          </a:p>
          <a:p xmlns:a="http://schemas.openxmlformats.org/drawingml/2006/main">
            <a:r>
              <a:t>at a phone width of 390 pixels, with no wallet and a virtual passkey. A separate browser context</a:t>
            </a:r>
          </a:p>
          <a:p xmlns:a="http://schemas.openxmlformats.org/drawingml/2006/main">
            <a:r>
              <a:t>plays the payer. Both use local Anvil, chain 31337, with the project's pinned Base Sepolia contract</a:t>
            </a:r>
          </a:p>
          <a:p xmlns:a="http://schemas.openxmlformats.org/drawingml/2006/main">
            <a:r>
              <a:t>bytecode. The published page uses Base Sepolia, chain 84532; the pictures therefore say Local Anvil.</a:t>
            </a:r>
          </a:p>
          <a:p xmlns:a="http://schemas.openxmlformats.org/drawingml/2006/main">
            <a:r>
              <a:t>All accounts and approvals shown are disposable test data. The local build changes the console</a:t>
            </a:r>
          </a:p>
          <a:p xmlns:a="http://schemas.openxmlformats.org/drawingml/2006/main">
            <a:r>
              <a:t>configuration, so its displayed fingerprint also differs from the published Base Sepolia image.</a:t>
            </a:r>
          </a:p>
          <a:p xmlns:a="http://schemas.openxmlformats.org/drawingml/2006/main">
            <a:r>
              <a:t/>
            </a:r>
          </a:p>
          <a:p xmlns:a="http://schemas.openxmlformats.org/drawingml/2006/main">
            <a:r>
              <a:t>This is a phone-shaped browser rehearsal, not a test on an iPhone or Android device. The virtual</a:t>
            </a:r>
          </a:p>
          <a:p xmlns:a="http://schemas.openxmlformats.org/drawingml/2006/main">
            <a:r>
              <a:t>passkey handles the native dialogs automatically. The screenshots do not show Face ID, Touch ID,</a:t>
            </a:r>
          </a:p>
          <a:p xmlns:a="http://schemas.openxmlformats.org/drawingml/2006/main">
            <a:r>
              <a:t>a password manager dialog, or a real MetaMask confirmation. The buttons and screen states are real;</a:t>
            </a:r>
          </a:p>
          <a:p xmlns:a="http://schemas.openxmlformats.org/drawingml/2006/main">
            <a:r>
              <a:t>the appearance and PRF support of those native prompts depend on your browser and authenticator.</a:t>
            </a:r>
          </a:p>
          <a:p xmlns:a="http://schemas.openxmlformats.org/drawingml/2006/main">
            <a:r>
              <a:t>Recorded real-device checks are in [the live test table](testing/live.md).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Step | On the signing phone | On the payer's device | Gas paid?</a:t>
            </a:r>
          </a:p>
          <a:p xmlns:a="http://schemas.openxmlformats.org/drawingml/2006/main">
            <a:r>
              <a:t>Create passkey | Approve the native creation prompt | Nothing | No</a:t>
            </a:r>
          </a:p>
          <a:p xmlns:a="http://schemas.openxmlformats.org/drawingml/2006/main">
            <a:r>
              <a:t>Prepare key 0 | Approve a passkey assertion with a PRF output | Nothing | No</a:t>
            </a:r>
          </a:p>
          <a:p xmlns:a="http://schemas.openxmlformats.org/drawingml/2006/main">
            <a:r>
              <a:t>Deploy | Copy the build request; wait | Review, connect wallet, confirm deployment | Yes, from the wallet</a:t>
            </a:r>
          </a:p>
          <a:p xmlns:a="http://schemas.openxmlformats.org/drawingml/2006/main">
            <a:r>
              <a:t>Fund | Copy the Safe address or reuse the build link | Confirm a transfer into the Safe | Yes, plus the test ETH sent</a:t>
            </a:r>
          </a:p>
          <a:p xmlns:a="http://schemas.openxmlformats.org/drawingml/2006/main">
            <a:r>
              <a:t>Each shielded transfer | Review, hold, approve one passkey assertion; copy approval link | Review the same approval; confirm its send | Yes, from the wallet</a:t>
            </a:r>
          </a:p>
          <a:p xmlns:a="http://schemas.openxmlformats.org/drawingml/2006/main">
            <a:r>
              <a:t>Retry a refused send | Keep the same approval and ledger; no new passkey tap | Send that existing approval again | Only when a transaction is actually sent and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Safe supplies the transfer amount. The payer supplies gas. If a usable wallet is on the phone,</a:t>
            </a:r>
          </a:p>
          <a:p xmlns:a="http://schemas.openxmlformats.org/drawingml/2006/main">
            <a:r>
              <a:t>connect it there and use the local Build or Send path instead of copying a link. The passkey,</a:t>
            </a:r>
          </a:p>
          <a:p xmlns:a="http://schemas.openxmlformats.org/drawingml/2006/main">
            <a:r>
              <a:t>PRF, console and disclosure order are the same; the extra payer browser is optional.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“Signing exposes the private key” needs a distinction. Normal passkey use does not export the</a:t>
            </a:r>
          </a:p>
          <a:p xmlns:a="http://schemas.openxmlformats.org/drawingml/2006/main">
            <a:r>
              <a:t>passkey's private key. This application does receive other secret material through the PRF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Part | What it does | What the page or others can see</a:t>
            </a:r>
          </a:p>
          <a:p xmlns:a="http://schemas.openxmlformats.org/drawingml/2006/main">
            <a:r>
              <a:t>Passkey P-256 private key | Makes the WebAuthn curve signature | WebAuthn does not return it to the page. The authenticator or credential provider holds it.</a:t>
            </a:r>
          </a:p>
          <a:p xmlns:a="http://schemas.openxmlformats.org/drawingml/2006/main">
            <a:r>
              <a:t>Passkey P-256 public key | Lets Safe's passkey signer check that signature | Returned at passkey creation; public on-chain when its signer is deployed. It is not the rotating key.</a:t>
            </a:r>
          </a:p>
          <a:p xmlns:a="http://schemas.openxmlformats.org/drawingml/2006/main">
            <a:r>
              <a:t>Passkey PRF secret | Produces repeatable outputs for the requested salts | The page gets outputs, not this underlying secret.</a:t>
            </a:r>
          </a:p>
          <a:p xmlns:a="http://schemas.openxmlformats.org/drawingml/2006/main">
            <a:r>
              <a:t>seed(n) | Produces all 67 private hash-chain starting values for one-time key n | Returned to the signing page by the PRF. It passes through page and console memory. This is private signing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Part | What it does | What the page or others can see</a:t>
            </a:r>
          </a:p>
          <a:p xmlns:a="http://schemas.openxmlformats.org/drawingml/2006/main">
            <a:r>
              <a:t>One-time signature | Authorizes this approval and its next fingerprint | Reveals 67 selected positions along the private hash chains. A position can be a chain's starting value. It does not disclose the whole seed.</a:t>
            </a:r>
          </a:p>
          <a:p xmlns:a="http://schemas.openxmlformats.org/drawingml/2006/main">
            <a:r>
              <a:t>Full one-time public key | The 67 hash-chain endpoints | Anyone with the message and one-time signature can compute these endpoints.</a:t>
            </a:r>
          </a:p>
          <a:p xmlns:a="http://schemas.openxmlformats.org/drawingml/2006/main">
            <a:r>
              <a:t>One-time fingerprint | Hash commitment to those endpoints, with their context | Stored on-chain before that key signs. It is not the full public key.</a:t>
            </a:r>
          </a:p>
          <a:p xmlns:a="http://schemas.openxmlformats.org/drawingml/2006/main">
            <a:r>
              <a:t>Gas wallet | Sends the prepared calls and pays their gas | Has its own account and keys. It is separate from the passkey and the seat's one-time 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passkey is used repeatedly. The one-time key is used for one approval only. The next sections</a:t>
            </a:r>
          </a:p>
          <a:p xmlns:a="http://schemas.openxmlformats.org/drawingml/2006/main">
            <a:r>
              <a:t>follow key 0, then key 1, then key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Press **Make a passkey**. Expect your browser or credential provider to ask where to create it and</a:t>
            </a:r>
          </a:p>
          <a:p xmlns:a="http://schemas.openxmlformats.org/drawingml/2006/main">
            <a:r>
              <a:t>to require user verification, such as a face, fingerprint or PIN.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1. On the phone: make the passkey</a:t>
            </a:r>
          </a:p>
          <a:p xmlns:a="http://schemas.openxmlformats.org/drawingml/2006/main">
            <a:r>
              <a:t>screenshots/onboarding/01-phone-passkey.png</a:t>
            </a:r>
          </a:p>
          <a:p xmlns:a="http://schemas.openxmlformats.org/drawingml/2006/main">
            <a:r>
              <a:t>infographics/onboarding/01-phone-passkey.svg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page calls `navigator.credentials.create({ publicKey: ... })`. It asks for P-256 (`alg: -7`),</a:t>
            </a:r>
          </a:p>
          <a:p xmlns:a="http://schemas.openxmlformats.org/drawingml/2006/main">
            <a:r>
              <a:t>a discoverable credential, required user verification and the `prf` extension. It records the</a:t>
            </a:r>
          </a:p>
          <a:p xmlns:a="http://schemas.openxmlformats.org/drawingml/2006/main">
            <a:r>
              <a:t>credential ID, public coordinates and site domain; it does not record the passkey private key.</a:t>
            </a:r>
          </a:p>
          <a:p xmlns:a="http://schemas.openxmlformats.org/drawingml/2006/main">
            <a:r>
              <a:t>The passkey belongs to the site's domain. A passkey made on localhost is not one for signandburn.app.</a:t>
            </a:r>
          </a:p>
          <a:p xmlns:a="http://schemas.openxmlformats.org/drawingml/2006/main">
            <a:r>
              <a:t/>
            </a:r>
          </a:p>
          <a:p xmlns:a="http://schemas.openxmlformats.org/drawingml/2006/main">
            <a:r>
              <a:t>**Gas:** none. **On-chain change:** none. **Exposure:** the page receives the passkey public key and</a:t>
            </a:r>
          </a:p>
          <a:p xmlns:a="http://schemas.openxmlformats.org/drawingml/2006/main">
            <a:r>
              <a:t>credential metadata. No one-time approval has been made.</a:t>
            </a:r>
          </a:p>
          <a:p xmlns:a="http://schemas.openxmlformats.org/drawingml/2006/main">
            <a:r>
              <a:t/>
            </a:r>
          </a:p>
          <a:p xmlns:a="http://schemas.openxmlformats.org/drawingml/2006/main">
            <a:r>
              <a:t>“I already have one” is a different path. The page asks for two ordinary WebAuthn assertions to</a:t>
            </a:r>
          </a:p>
          <a:p xmlns:a="http://schemas.openxmlformats.org/drawingml/2006/main">
            <a:r>
              <a:t>recover the existing passkey's P-256 public key. Those are not two signatures with a one-time key.</a:t>
            </a:r>
          </a:p>
          <a:p xmlns:a="http://schemas.openxmlformats.org/drawingml/2006/main">
            <a:r>
              <a:t>A synced passkey does not sync this application's ledger: do not alternate signing browsers for</a:t>
            </a:r>
          </a:p>
          <a:p xmlns:a="http://schemas.openxmlformats.org/drawingml/2006/main">
            <a:r>
              <a:t>one seat while an approval might be waiting.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Press **Tap to make key 0**. This is another user-verification prompt, not a wallet 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2. On the phone: prepare the first one-time key</a:t>
            </a:r>
          </a:p>
          <a:p xmlns:a="http://schemas.openxmlformats.org/drawingml/2006/main">
            <a:r>
              <a:t>screenshots/onboarding/02-phone-first-key.png</a:t>
            </a:r>
          </a:p>
          <a:p xmlns:a="http://schemas.openxmlformats.org/drawingml/2006/main">
            <a:r>
              <a:t>infographics/onboarding/02-phone-first-key.svg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page calls `navigator.credentials.get({ publicKey: ... })` with a fresh challenge and one PRF</a:t>
            </a:r>
          </a:p>
          <a:p xmlns:a="http://schemas.openxmlformats.org/drawingml/2006/main">
            <a:r>
              <a:t>salt for key 0. The PRF returns `seed(0)`. The console derives 67 chain starts, hashes each to its</a:t>
            </a:r>
          </a:p>
          <a:p xmlns:a="http://schemas.openxmlformats.org/drawingml/2006/main">
            <a:r>
              <a:t>endpoint, then hashes the endpoints into key 0's fingerprint. The first-key setup uses the PRF</a:t>
            </a:r>
          </a:p>
          <a:p xmlns:a="http://schemas.openxmlformats.org/drawingml/2006/main">
            <a:r>
              <a:t>output; it does not make a one-time transaction signature.</a:t>
            </a:r>
          </a:p>
          <a:p xmlns:a="http://schemas.openxmlformats.org/drawingml/2006/main">
            <a:r>
              <a:t/>
            </a:r>
          </a:p>
          <a:p xmlns:a="http://schemas.openxmlformats.org/drawingml/2006/main">
            <a:r>
              <a:t>**Gas:** none. **On-chain change:** none. **Exposure:** `seed(0)` is briefly in the signing page and</a:t>
            </a:r>
          </a:p>
          <a:p xmlns:a="http://schemas.openxmlformats.org/drawingml/2006/main">
            <a:r>
              <a:t>console. The browser record keeps the fingerprint and predicted addresses, not the seed.</a:t>
            </a:r>
          </a:p>
          <a:p xmlns:a="http://schemas.openxmlformats.org/drawingml/2006/main">
            <a:r>
              <a:t>A hostile page or extension able to read that memory could capture the seed at this point, before</a:t>
            </a:r>
          </a:p>
          <a:p xmlns:a="http://schemas.openxmlformats.org/drawingml/2006/main">
            <a:r>
              <a:t>any shielded transaction exists. Public-key disclosure is not the only exposure to consider.</a:t>
            </a:r>
          </a:p>
          <a:p xmlns:a="http://schemas.openxmlformats.org/drawingml/2006/main">
            <a:r>
              <a:t/>
            </a:r>
          </a:p>
          <a:p xmlns:a="http://schemas.openxmlformats.org/drawingml/2006/main">
            <a:r>
              <a:t>A missing PRF result stops this path. Device support is something to test, not something a phone</a:t>
            </a:r>
          </a:p>
          <a:p xmlns:a="http://schemas.openxmlformats.org/drawingml/2006/main">
            <a:r>
              <a:t>screenshot establishes.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addresses are worked out before deployment. **Connect a wallet** remains available. If this</a:t>
            </a:r>
          </a:p>
          <a:p xmlns:a="http://schemas.openxmlformats.org/drawingml/2006/main">
            <a:r>
              <a:t>phone has no wallet, press **Copy link** and send the plain URL to the person paying.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3. On the phone: give someone the build request</a:t>
            </a:r>
          </a:p>
          <a:p xmlns:a="http://schemas.openxmlformats.org/drawingml/2006/main">
            <a:r>
              <a:t>screenshots/onboarding/03-phone-build-link.png</a:t>
            </a:r>
          </a:p>
          <a:p xmlns:a="http://schemas.openxmlformats.org/drawingml/2006/main">
            <a:r>
              <a:t>infographics/onboarding/03-phone-build-link.svg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This is an unsigned build request. It holds the passkey's public coordinates, seat number, key 0's</a:t>
            </a:r>
          </a:p>
          <a:p xmlns:a="http://schemas.openxmlformats.org/drawingml/2006/main">
            <a:r>
              <a:t>fingerprint and chain identifier. It does not contain a seed or a one-time approval signature.</a:t>
            </a:r>
          </a:p>
          <a:p xmlns:a="http://schemas.openxmlformats.org/drawingml/2006/main">
            <a:r>
              <a:t>The payer's page rebuilds the calls and addresses from those values rather than accepting arbitrary</a:t>
            </a:r>
          </a:p>
          <a:p xmlns:a="http://schemas.openxmlformats.org/drawingml/2006/main">
            <a:r>
              <a:t>calls from the link.</a:t>
            </a:r>
          </a:p>
          <a:p xmlns:a="http://schemas.openxmlformats.org/drawingml/2006/main">
            <a:r>
              <a:t/>
            </a:r>
          </a:p>
          <a:p xmlns:a="http://schemas.openxmlformats.org/drawingml/2006/main">
            <a:r>
              <a:t>**Gas:** still none. **Exposure:** public setup values go to whoever receives the link, including</a:t>
            </a:r>
          </a:p>
          <a:p xmlns:a="http://schemas.openxmlformats.org/drawingml/2006/main">
            <a:r>
              <a:t>the messaging service used to send it. A build link is different from the signed approval link below.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payer opens the link, or opens **Pay for a request** on this site and pastes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4. On the payer's device: review, connect, deploy</a:t>
            </a:r>
          </a:p>
          <a:p xmlns:a="http://schemas.openxmlformats.org/drawingml/2006/main">
            <a:r>
              <a:t>screenshots/onboarding/04-payer-paste.png</a:t>
            </a:r>
          </a:p>
          <a:p xmlns:a="http://schemas.openxmlformats.org/drawingml/2006/main">
            <a:r>
              <a:t>infographics/onboarding/04-payer-paste.svg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Pasting reviews the request here. It does not visit the pasted host or send a wallet transaction.</a:t>
            </a:r>
          </a:p>
          <a:p xmlns:a="http://schemas.openxmlformats.org/drawingml/2006/main">
            <a:r>
              <a:t>The payer connects a browser wallet. With multiple wallets, the page asks which to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4. On the payer's device: review, connect, deploy</a:t>
            </a:r>
          </a:p>
          <a:p xmlns:a="http://schemas.openxmlformats.org/drawingml/2006/main">
            <a:r>
              <a:t>screenshots/onboarding/05-payer-choose-wallet.png</a:t>
            </a:r>
          </a:p>
          <a:p xmlns:a="http://schemas.openxmlformats.org/drawingml/2006/main">
            <a:r>
              <a:t>infographics/onboarding/05-payer-choose-wallet.svg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payer checks the predicted Safe and seat, then presses **Pay: one 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4. On the payer's device: review, connect, deploy</a:t>
            </a:r>
          </a:p>
          <a:p xmlns:a="http://schemas.openxmlformats.org/drawingml/2006/main">
            <a:r>
              <a:t>screenshots/onboarding/06-payer-build.png</a:t>
            </a:r>
          </a:p>
          <a:p xmlns:a="http://schemas.openxmlformats.org/drawingml/2006/main">
            <a:r>
              <a:t>infographics/onboarding/06-payer-build.svg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Expect a separate wallet confirmation after pressing Pay. The payer needs Base Sepolia ETH for gas</a:t>
            </a:r>
          </a:p>
          <a:p xmlns:a="http://schemas.openxmlformats.org/drawingml/2006/main">
            <a:r>
              <a:t>on the published site. A Trezor or Ledger can be used through a browser wallet that drives it.</a:t>
            </a:r>
          </a:p>
          <a:p xmlns:a="http://schemas.openxmlformats.org/drawingml/2006/main">
            <a:r>
              <a:t>The stand-in wallet in these pictures is not a screenshot of MetaMask's confirmation.</a:t>
            </a:r>
          </a:p>
          <a:p xmlns:a="http://schemas.openxmlformats.org/drawingml/2006/main">
            <a:r>
              <a:t/>
            </a:r>
          </a:p>
          <a:p xmlns:a="http://schemas.openxmlformats.org/drawingml/2006/main">
            <a:r>
              <a:t>The transaction deploys the passkey signer, seat and 1-of-1 Safe, plus the SeatFactory if needed.</a:t>
            </a:r>
          </a:p>
          <a:p xmlns:a="http://schemas.openxmlformats.org/drawingml/2006/main">
            <a:r>
              <a:t>Already deployed parts are skipped. The seat becomes the Safe's one owner. The payer owns none of it.</a:t>
            </a:r>
          </a:p>
          <a:p xmlns:a="http://schemas.openxmlformats.org/drawingml/2006/main">
            <a:r>
              <a:t/>
            </a:r>
          </a:p>
          <a:p xmlns:a="http://schemas.openxmlformats.org/drawingml/2006/main">
            <a:r>
              <a:t>**Exposure:** the passkey P-256 public key is now public through its signer. The seat holds key 0's</a:t>
            </a:r>
          </a:p>
          <a:p xmlns:a="http://schemas.openxmlformats.org/drawingml/2006/main">
            <a:r>
              <a:t>fingerprint, not its full one-time public key. The gas account is a separate signer; a normal EOA</a:t>
            </a:r>
          </a:p>
          <a:p xmlns:a="http://schemas.openxmlformats.org/drawingml/2006/main">
            <a:r>
              <a:t>transaction signature also allows its public key to be recovered by those who receive it.</a:t>
            </a:r>
          </a:p>
          <a:p xmlns:a="http://schemas.openxmlformats.org/drawingml/2006/main">
            <a:r>
              <a:t/>
            </a:r>
          </a:p>
          <a:p xmlns:a="http://schemas.openxmlformats.org/drawingml/2006/main">
            <a:r>
              <a:t>If the wallet says a request is already waiting, open it and finish or cancel the pending request,</a:t>
            </a:r>
          </a:p>
          <a:p xmlns:a="http://schemas.openxmlformats.org/drawingml/2006/main">
            <a:r>
              <a:t>then reconnect. A connection attempt does not send the deployment or approval 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Gas money and Safe money are separate. The payer's wallet pays transaction fees. The Safe needs</a:t>
            </a:r>
          </a:p>
          <a:p xmlns:a="http://schemas.openxmlformats.org/drawingml/2006/main">
            <a:r>
              <a:t>its own balance for the transfers it will 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5. Put spending ETH in the Safe</a:t>
            </a:r>
          </a:p>
          <a:p xmlns:a="http://schemas.openxmlformats.org/drawingml/2006/main">
            <a:r>
              <a:t>screenshots/onboarding/07-phone-fund.png</a:t>
            </a:r>
          </a:p>
          <a:p xmlns:a="http://schemas.openxmlformats.org/drawingml/2006/main">
            <a:r>
              <a:t>infographics/onboarding/07-phone-fund.svg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stray `nullnull` text in this captured funding screen is a display bug, not transaction data.</a:t>
            </a:r>
          </a:p>
          <a:p xmlns:a="http://schemas.openxmlformats.org/drawingml/2006/main">
            <a:r>
              <a:t>The capture keeps it as shown by the page.</a:t>
            </a:r>
          </a:p>
          <a:p xmlns:a="http://schemas.openxmlformats.org/drawingml/2006/main">
            <a:r>
              <a:t/>
            </a:r>
          </a:p>
          <a:p xmlns:a="http://schemas.openxmlformats.org/drawingml/2006/main">
            <a:r>
              <a:t>The payer can send **0.001 test ETH** to the Safe, or someone can send test ETH to its address by</a:t>
            </a:r>
          </a:p>
          <a:p xmlns:a="http://schemas.openxmlformats.org/drawingml/2006/main">
            <a:r>
              <a:t>another route. This is a separate wallet transaction, with its own gas. It does not consume a</a:t>
            </a:r>
          </a:p>
          <a:p xmlns:a="http://schemas.openxmlformats.org/drawingml/2006/main">
            <a:r>
              <a:t>one-time signing key. The phone watches the chain and moves on when the funds arrive.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On the phone, enter the recipient and amount. Read the console's explanation and transaction hash.</a:t>
            </a:r>
          </a:p>
          <a:p xmlns:a="http://schemas.openxmlformats.org/drawingml/2006/main">
            <a:r>
              <a:t>Hold the button for two seconds. Reject remains a separate press.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6. First shielded transaction: key 0 sends 0.0001 test ETH</a:t>
            </a:r>
          </a:p>
          <a:p xmlns:a="http://schemas.openxmlformats.org/drawingml/2006/main">
            <a:r>
              <a:t>screenshots/onboarding/09-phone-review.png</a:t>
            </a:r>
          </a:p>
          <a:p xmlns:a="http://schemas.openxmlformats.org/drawingml/2006/main">
            <a:r>
              <a:t>infographics/onboarding/09-phone-review.svg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captured phone layout clips the long hash and some label text. The short check code is visible;</a:t>
            </a:r>
          </a:p>
          <a:p xmlns:a="http://schemas.openxmlformats.org/drawingml/2006/main">
            <a:r>
              <a:t>the desktop payer screenshot below shows the full hash. That clipping is a layout limitation of</a:t>
            </a:r>
          </a:p>
          <a:p xmlns:a="http://schemas.openxmlformats.org/drawingml/2006/main">
            <a:r>
              <a:t>the current page, not redaction applied to these screenshots.</a:t>
            </a:r>
          </a:p>
          <a:p xmlns:a="http://schemas.openxmlformats.org/drawingml/2006/main">
            <a:r>
              <a:t/>
            </a:r>
          </a:p>
          <a:p xmlns:a="http://schemas.openxmlformats.org/drawingml/2006/main">
            <a:r>
              <a:t>At this point, no one-time signature for the transaction has been made. The console has built the</a:t>
            </a:r>
          </a:p>
          <a:p xmlns:a="http://schemas.openxmlformats.org/drawingml/2006/main">
            <a:r>
              <a:t>Safe transaction hash and challenge `c` from the displayed fields, chain, seat, Safe and key number.</a:t>
            </a:r>
          </a:p>
          <a:p xmlns:a="http://schemas.openxmlformats.org/drawingml/2006/main">
            <a:r>
              <a:t>It does not accept a precomputed hash supplied by the payer or wallet.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application requests an assertion with two PRF outputs. This is the shape of the request;</a:t>
            </a:r>
          </a:p>
          <a:p xmlns:a="http://schemas.openxmlformats.org/drawingml/2006/main">
            <a:r>
              <a:t>it omits credential selection and byte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navigator.credentials.get({</a:t>
            </a:r>
          </a:p>
          <a:p xmlns:a="http://schemas.openxmlformats.org/drawingml/2006/main">
            <a:r>
              <a:t>  publicKey: {</a:t>
            </a:r>
          </a:p>
          <a:p xmlns:a="http://schemas.openxmlformats.org/drawingml/2006/main">
            <a:r>
              <a:t>    rpId: siteDomain,</a:t>
            </a:r>
          </a:p>
          <a:p xmlns:a="http://schemas.openxmlformats.org/drawingml/2006/main">
            <a:r>
              <a:t>    challenge: c,</a:t>
            </a:r>
          </a:p>
          <a:p xmlns:a="http://schemas.openxmlformats.org/drawingml/2006/main">
            <a:r>
              <a:t>    userVerification: "required",</a:t>
            </a:r>
          </a:p>
          <a:p xmlns:a="http://schemas.openxmlformats.org/drawingml/2006/main">
            <a:r>
              <a:t>    extensions: {</a:t>
            </a:r>
          </a:p>
          <a:p xmlns:a="http://schemas.openxmlformats.org/drawingml/2006/main">
            <a:r>
              <a:t>      prf: { eval: { first: salt(0), second: salt(1) } }</a:t>
            </a:r>
          </a:p>
          <a:p xmlns:a="http://schemas.openxmlformats.org/drawingml/2006/main">
            <a:r>
              <a:t>    }</a:t>
            </a:r>
          </a:p>
          <a:p xmlns:a="http://schemas.openxmlformats.org/drawingml/2006/main">
            <a:r>
              <a:t>  }</a:t>
            </a:r>
          </a:p>
          <a:p xmlns:a="http://schemas.openxmlformats.org/drawingml/2006/main">
            <a:r>
              <a:t>});</a:t>
            </a:r>
          </a:p>
          <a:p xmlns:a="http://schemas.openxmlformats.org/drawingml/2006/main">
            <a:r>
              <a:t>Request shape only. Credential selection and byte conversion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response has two different jobs:</a:t>
            </a:r>
          </a:p>
          <a:p xmlns:a="http://schemas.openxmlformats.org/drawingml/2006/main">
            <a:r>
              <a:t/>
            </a:r>
          </a:p>
          <a:p xmlns:a="http://schemas.openxmlformats.org/drawingml/2006/main">
            <a:r>
              <a:t>1. A WebAuthn P-256 assertion. More precisely, the passkey signs authenticator data plus the</a:t>
            </a:r>
          </a:p>
          <a:p xmlns:a="http://schemas.openxmlformats.org/drawingml/2006/main">
            <a:r>
              <a:t>   SHA-256 hash of the client-data JSON, which contains challenge `c` and the origin. It does not</a:t>
            </a:r>
          </a:p>
          <a:p xmlns:a="http://schemas.openxmlformats.org/drawingml/2006/main">
            <a:r>
              <a:t>   simply sign the raw bytes of `c`.</a:t>
            </a:r>
          </a:p>
          <a:p xmlns:a="http://schemas.openxmlformats.org/drawingml/2006/main">
            <a:r>
              <a:t>2. PRF outputs `seed(0)` and `seed(1)`. These are private one-time signing material returned to the</a:t>
            </a:r>
          </a:p>
          <a:p xmlns:a="http://schemas.openxmlformats.org/drawingml/2006/main">
            <a:r>
              <a:t>   page. They are not the passkey private key, and they are not derived by recovering a secret</a:t>
            </a:r>
          </a:p>
          <a:p xmlns:a="http://schemas.openxmlformats.org/drawingml/2006/main">
            <a:r>
              <a:t>   from its P-256 signature.</a:t>
            </a:r>
          </a:p>
          <a:p xmlns:a="http://schemas.openxmlformats.org/drawingml/2006/main">
            <a:r>
              <a:t/>
            </a:r>
          </a:p>
          <a:p xmlns:a="http://schemas.openxmlformats.org/drawingml/2006/main">
            <a:r>
              <a:t>The console checks the assertion's challenge and user-verification fields. It checks that</a:t>
            </a:r>
          </a:p>
          <a:p xmlns:a="http://schemas.openxmlformats.org/drawingml/2006/main">
            <a:r>
              <a:t>`seed(0)` produces the fingerprint the seat expects. It derives key 1's fingerprint from</a:t>
            </a:r>
          </a:p>
          <a:p xmlns:a="http://schemas.openxmlformats.org/drawingml/2006/main">
            <a:r>
              <a:t>`seed(1)`, builds `m` from `c` and that next fingerprint, and signs `m` with one-time key 0.</a:t>
            </a:r>
          </a:p>
          <a:p xmlns:a="http://schemas.openxmlformats.org/drawingml/2006/main">
            <a:r>
              <a:t>Only the one-time signature binds the next fingerprint in this v1 format; the P-256 challenge</a:t>
            </a:r>
          </a:p>
          <a:p xmlns:a="http://schemas.openxmlformats.org/drawingml/2006/main">
            <a:r>
              <a:t>does not include it. See [the open authorization question](research.md#1-complete-authorization).</a:t>
            </a:r>
          </a:p>
          <a:p xmlns:a="http://schemas.openxmlformats.org/drawingml/2006/main">
            <a:r>
              <a:t/>
            </a:r>
          </a:p>
          <a:p xmlns:a="http://schemas.openxmlformats.org/drawingml/2006/main">
            <a:r>
              <a:t>The console records the signed approval in its ledger before returning it. Key 0 must never sign</a:t>
            </a:r>
          </a:p>
          <a:p xmlns:a="http://schemas.openxmlformats.org/drawingml/2006/main">
            <a:r>
              <a:t>another message, even though the chain still expects key 0 until the approval lands.</a:t>
            </a:r>
          </a:p>
          <a:p xmlns:a="http://schemas.openxmlformats.org/drawingml/2006/main">
            <a:r>
              <a:t>The application does not intentionally save or log seeds. Clearing references is not a proof that</a:t>
            </a:r>
          </a:p>
          <a:p xmlns:a="http://schemas.openxmlformats.org/drawingml/2006/main">
            <a:r>
              <a:t>all copies have been erased from JavaScript or WebAssembly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page sends the completed approval to the RPC for simulation. That call costs no gas and changes</a:t>
            </a:r>
          </a:p>
          <a:p xmlns:a="http://schemas.openxmlformats.org/drawingml/2006/main">
            <a:r>
              <a:t>no chain state, but it is a disclosure to the RPC operator. It includes the one-time signature and</a:t>
            </a:r>
          </a:p>
          <a:p xmlns:a="http://schemas.openxmlformats.org/drawingml/2006/main">
            <a:r>
              <a:t>the P-256 assertion. Anyone with the approval and its public context can compute the 67 one-time</a:t>
            </a:r>
          </a:p>
          <a:p xmlns:a="http://schemas.openxmlformats.org/drawingml/2006/main">
            <a:r>
              <a:t>public-key endpoints.</a:t>
            </a:r>
          </a:p>
          <a:p xmlns:a="http://schemas.openxmlformats.org/drawingml/2006/main">
            <a:r>
              <a:t/>
            </a:r>
          </a:p>
          <a:p xmlns:a="http://schemas.openxmlformats.org/drawingml/2006/main">
            <a:r>
              <a:t>The phone then offers a signed payment link. It contains the signatures, next fingerprint and</a:t>
            </a:r>
          </a:p>
          <a:p xmlns:a="http://schemas.openxmlformats.org/drawingml/2006/main">
            <a:r>
              <a:t>transaction fields, not the seeds. The URL fragment is not sent in the ordinary request for the</a:t>
            </a:r>
          </a:p>
          <a:p xmlns:a="http://schemas.openxmlformats.org/drawingml/2006/main">
            <a:r>
              <a:t>page, but copying it into a message discloses it to the recipient and potentially the messaging</a:t>
            </a:r>
          </a:p>
          <a:p xmlns:a="http://schemas.openxmlformats.org/drawingml/2006/main">
            <a:r>
              <a:t>service. A fragment is not encrypted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signature leaves before the on-chain burn</a:t>
            </a:r>
          </a:p>
          <a:p xmlns:a="http://schemas.openxmlformats.org/drawingml/2006/main">
            <a:r>
              <a:t>screenshots/onboarding/10-phone-signed-link.png</a:t>
            </a:r>
          </a:p>
          <a:p xmlns:a="http://schemas.openxmlformats.org/drawingml/2006/main">
            <a:r>
              <a:t>infographics/onboarding/10-phone-signed-link.svg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payer opens that link. Their console computes the hash again from the fields; compare its</a:t>
            </a:r>
          </a:p>
          <a:p xmlns:a="http://schemas.openxmlformats.org/drawingml/2006/main">
            <a:r>
              <a:t>check code with the phone's. The payer's RPC receives the approval for simulation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signature leaves before the on-chain burn</a:t>
            </a:r>
          </a:p>
          <a:p xmlns:a="http://schemas.openxmlformats.org/drawingml/2006/main">
            <a:r>
              <a:t>screenshots/onboarding/11-payer-approval.png</a:t>
            </a:r>
          </a:p>
          <a:p xmlns:a="http://schemas.openxmlformats.org/drawingml/2006/main">
            <a:r>
              <a:t>infographics/onboarding/11-payer-approval.svg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Pressing **Send it: one transaction** asks the payer's wallet to send a Multicall3 transaction.</a:t>
            </a:r>
          </a:p>
          <a:p xmlns:a="http://schemas.openxmlformats.org/drawingml/2006/main">
            <a:r>
              <a:t>The wallet pays gas; it does not make the seat's approval. The call approves with the seat and</a:t>
            </a:r>
          </a:p>
          <a:p xmlns:a="http://schemas.openxmlformats.org/drawingml/2006/main">
            <a:r>
              <a:t>tries to execute the Safe transaction.</a:t>
            </a:r>
          </a:p>
          <a:p xmlns:a="http://schemas.openxmlformats.org/drawingml/2006/main">
            <a:r>
              <a:t/>
            </a:r>
          </a:p>
          <a:p xmlns:a="http://schemas.openxmlformats.org/drawingml/2006/main">
            <a:r>
              <a:t>Once the transaction is broadcast, its recipients can read the signatures. Do not assume every</a:t>
            </a:r>
          </a:p>
          <a:p xmlns:a="http://schemas.openxmlformats.org/drawingml/2006/main">
            <a:r>
              <a:t>network has a public mempool or that a private relay keeps transaction data private forever.</a:t>
            </a:r>
          </a:p>
          <a:p xmlns:a="http://schemas.openxmlformats.org/drawingml/2006/main">
            <a:r>
              <a:t>After inclusion, the signatures remain in on-chain transaction data.</a:t>
            </a:r>
          </a:p>
          <a:p xmlns:a="http://schemas.openxmlformats.org/drawingml/2006/main">
            <a:r>
              <a:t/>
            </a:r>
          </a:p>
          <a:p xmlns:a="http://schemas.openxmlformats.org/drawingml/2006/main">
            <a:r>
              <a:t>When `Seat.approve` succeeds, it replaces key 0's fingerprint with key 1's and advances `n` to 1.</a:t>
            </a:r>
          </a:p>
          <a:p xmlns:a="http://schemas.openxmlformats.org/drawingml/2006/main">
            <a:r>
              <a:t>The example's Safe also runs the transfer. The phone sees this and displays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signature leaves before the on-chain burn</a:t>
            </a:r>
          </a:p>
          <a:p xmlns:a="http://schemas.openxmlformats.org/drawingml/2006/main">
            <a:r>
              <a:t>screenshots/onboarding/12-phone-first-done.png</a:t>
            </a:r>
          </a:p>
          <a:p xmlns:a="http://schemas.openxmlformats.org/drawingml/2006/main">
            <a:r>
              <a:t>infographics/onboarding/12-phone-first-done.svg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same phone remains the signer. The same other browser remains the payer. There is no deployment</a:t>
            </a:r>
          </a:p>
          <a:p xmlns:a="http://schemas.openxmlformats.org/drawingml/2006/main">
            <a:r>
              <a:t>step again. Each new approval gets one passkey assertion and one new pair of PRF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Example | Safe sends | Key signs | PRF outputs returned to the phone | State after the approval lands</a:t>
            </a:r>
          </a:p>
          <a:p xmlns:a="http://schemas.openxmlformats.org/drawingml/2006/main">
            <a:r>
              <a:t>First | 0.0001 test ETH | 0 | seed(0), seed(1) | Seat expects key 1; Safe nonce 1</a:t>
            </a:r>
          </a:p>
          <a:p xmlns:a="http://schemas.openxmlformats.org/drawingml/2006/main">
            <a:r>
              <a:t>Second | 0.0002 test ETH | 1 | seed(1), seed(2) | Seat expects key 2; Safe nonce 2</a:t>
            </a:r>
          </a:p>
          <a:p xmlns:a="http://schemas.openxmlformats.org/drawingml/2006/main">
            <a:r>
              <a:t>Third | 0.0001 test ETH | 2 | seed(2), seed(3) | Seat expects key 3; Safe nonce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 same method applies at key 27: the console reads `n = 27` from the seat, asks for PRF</a:t>
            </a:r>
          </a:p>
          <a:p xmlns:a="http://schemas.openxmlformats.org/drawingml/2006/main">
            <a:r>
              <a:t>outputs `seed(27)` and `seed(28)`, signs once with key 27, and commits key 28's fingerprint.</a:t>
            </a:r>
          </a:p>
          <a:p xmlns:a="http://schemas.openxmlformats.org/drawingml/2006/main">
            <a:r>
              <a:t>The seat advances to `n = 28` only when that approval lands. `n` is an approval index, not a</a:t>
            </a:r>
          </a:p>
          <a:p xmlns:a="http://schemas.openxmlformats.org/drawingml/2006/main">
            <a:r>
              <a:t>random nonce, and it is separate from the Safe transaction nonce.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7. Two more shielded transactions</a:t>
            </a:r>
          </a:p>
          <a:p xmlns:a="http://schemas.openxmlformats.org/drawingml/2006/main">
            <a:r>
              <a:t>Conceptual example only, not another captured transaction.</a:t>
            </a:r>
          </a:p>
          <a:p xmlns:a="http://schemas.openxmlformats.org/drawingml/2006/main">
            <a:r>
              <a:t>infographics/onboarding/key-27.svg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This diagram is a conceptual example, not an additional captured transaction.</a:t>
            </a:r>
          </a:p>
          <a:p xmlns:a="http://schemas.openxmlformats.org/drawingml/2006/main">
            <a:r>
              <a:t/>
            </a:r>
          </a:p>
          <a:p xmlns:a="http://schemas.openxmlformats.org/drawingml/2006/main">
            <a:r>
              <a:t>This illustrates why the seeds are a separate risk: `seed(1)` is returned while approving with</a:t>
            </a:r>
          </a:p>
          <a:p xmlns:a="http://schemas.openxmlformats.org/drawingml/2006/main">
            <a:r>
              <a:t>key 0, then returned again when key 1 signs. The fingerprint of the next key hides its public key</a:t>
            </a:r>
          </a:p>
          <a:p xmlns:a="http://schemas.openxmlformats.org/drawingml/2006/main">
            <a:r>
              <a:t>from the chain; it does not hide that seed from a compromised signing page during the tap.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7. Two more shielded transactions</a:t>
            </a:r>
          </a:p>
          <a:p xmlns:a="http://schemas.openxmlformats.org/drawingml/2006/main">
            <a:r>
              <a:t>screenshots/onboarding/14-phone-second-done.png</a:t>
            </a:r>
          </a:p>
          <a:p xmlns:a="http://schemas.openxmlformats.org/drawingml/2006/main">
            <a:r>
              <a:t>infographics/onboarding/14-phone-second-done.svg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For the third example, the payer rejects the wallet's send confirmation. The phone is reloaded.</a:t>
            </a:r>
          </a:p>
          <a:p xmlns:a="http://schemas.openxmlformats.org/drawingml/2006/main">
            <a:r>
              <a:t>It still offers approval 2, already signed. Reloading does not justify another signature or let</a:t>
            </a:r>
          </a:p>
          <a:p xmlns:a="http://schemas.openxmlformats.org/drawingml/2006/main">
            <a:r>
              <a:t>the user change this waiting approval. The payer retries the same approval without another tap</a:t>
            </a:r>
          </a:p>
          <a:p xmlns:a="http://schemas.openxmlformats.org/drawingml/2006/main">
            <a:r>
              <a:t>on the 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7. Two more shielded transactions</a:t>
            </a:r>
          </a:p>
          <a:p xmlns:a="http://schemas.openxmlformats.org/drawingml/2006/main">
            <a:r>
              <a:t>screenshots/onboarding/13-phone-waiting-after-refusal.png</a:t>
            </a:r>
          </a:p>
          <a:p xmlns:a="http://schemas.openxmlformats.org/drawingml/2006/main">
            <a:r>
              <a:t>infographics/onboarding/13-phone-waiting-after-refusal.svg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After the payer accepts the retry, key 2 burns on-chain and the Safe makes the third transfer.</a:t>
            </a:r>
          </a:p>
          <a:p xmlns:a="http://schemas.openxmlformats.org/drawingml/2006/main">
            <a:r>
              <a:t>The three transfers total 0.0004 test ETH. With a starting Safe balance of 0.001, the Safe has</a:t>
            </a:r>
          </a:p>
          <a:p xmlns:a="http://schemas.openxmlformats.org/drawingml/2006/main">
            <a:r>
              <a:t>0.0006 test ETH left in this example. Gas was paid separately by the payer.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7. Two more shielded transactions</a:t>
            </a:r>
          </a:p>
          <a:p xmlns:a="http://schemas.openxmlformats.org/drawingml/2006/main">
            <a:r>
              <a:t>screenshots/onboarding/16-phone-history.png</a:t>
            </a:r>
          </a:p>
          <a:p xmlns:a="http://schemas.openxmlformats.org/drawingml/2006/main">
            <a:r>
              <a:t>infographics/onboarding/16-phone-history.svg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A landed approval and a successful Safe execution are separate outcomes. The implementation can</a:t>
            </a:r>
          </a:p>
          <a:p xmlns:a="http://schemas.openxmlformats.org/drawingml/2006/main">
            <a:r>
              <a:t>burn the key and keep the seat's vote even if Safe execution fails. A payer's successful receipt</a:t>
            </a:r>
          </a:p>
          <a:p xmlns:a="http://schemas.openxmlformats.org/drawingml/2006/main">
            <a:r>
              <a:t>alone does not establish that the transfer ran. Check the page's execution result and Safe nonce.</a:t>
            </a:r>
          </a:p>
          <a:p xmlns:a="http://schemas.openxmlformats.org/drawingml/2006/main">
            <a:r>
              <a:t>The screenshots above show successful executions; the refusal did not land until retried.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Place or moment | What is exposed | What that means</a:t>
            </a:r>
          </a:p>
          <a:p xmlns:a="http://schemas.openxmlformats.org/drawingml/2006/main">
            <a:r>
              <a:t>Signing page after a PRF call | Current and, for an approval, next seeds; assertion; then the completed approval | Malware with access to this memory can steal private one-time material. This exceeds the intended public-signature exposure.</a:t>
            </a:r>
          </a:p>
          <a:p xmlns:a="http://schemas.openxmlformats.org/drawingml/2006/main">
            <a:r>
              <a:t>First-key setup | seed(0) briefly reaches the page | Seed exposure can precede any transaction approval.</a:t>
            </a:r>
          </a:p>
          <a:p xmlns:a="http://schemas.openxmlformats.org/drawingml/2006/main">
            <a:r>
              <a:t>Simulation RPC | Completed approval and transaction details | Gas-free does not mean private. The one-time public key can be computed before the burn lands.</a:t>
            </a:r>
          </a:p>
          <a:p xmlns:a="http://schemas.openxmlformats.org/drawingml/2006/main">
            <a:r>
              <a:t>Copied approval link, messaging service, payer or hypothetical relayer | Completed approval, transaction fields and next fingerprint | They can submit the existing approval. They do not receive seeds through the intended link format. No relayer service is built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Place or moment | What is exposed | What that means</a:t>
            </a:r>
          </a:p>
          <a:p xmlns:a="http://schemas.openxmlformats.org/drawingml/2006/main">
            <a:r>
              <a:t>Payer wallet and its transaction infrastructure | Calls and signatures submitted for broadcast | The approval is visible before inclusion. A compromised payer cannot be assumed to keep it private.</a:t>
            </a:r>
          </a:p>
          <a:p xmlns:a="http://schemas.openxmlformats.org/drawingml/2006/main">
            <a:r>
              <a:t>Included transaction | Signatures and transaction fields, permanently | The old key is retired on-chain if the approval succeeds. Only the next key's fingerprint is committed.</a:t>
            </a:r>
          </a:p>
          <a:p xmlns:a="http://schemas.openxmlformats.org/drawingml/2006/main">
            <a:r>
              <a:t>Cleared ledger or a second signing browser | The console can lose knowledge of an already disclosed signature | A second signature with the same one-time key can reveal more chain positions and enable forgery attempts. Reuse breaks the design's assumption.</a:t>
            </a:r>
          </a:p>
          <a:p xmlns:a="http://schemas.openxmlformats.org/drawingml/2006/main">
            <a:r>
              <a:t>Compromised OS, authenticator or synced credential account | Depends on what the attacker controls | An attacker may invoke the passkey or capture outputs. The application does not protect a compromised signing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There is no built-in expiry on the signed approval. Time between disclosure and inclusion can be</a:t>
            </a:r>
          </a:p>
          <a:p xmlns:a="http://schemas.openxmlformats.org/drawingml/2006/main">
            <a:r>
              <a:t>long, especially when a link is sent to another person. The console treats the key as used for</a:t>
            </a:r>
          </a:p>
          <a:p xmlns:a="http://schemas.openxmlformats.org/drawingml/2006/main">
            <a:r>
              <a:t>signing immediately; the seat retires it only when the approval lands. Keep the signing browser's</a:t>
            </a:r>
          </a:p>
          <a:p xmlns:a="http://schemas.openxmlformats.org/drawingml/2006/main">
            <a:r>
              <a:t>ledger, use one signing browser per seat, and resend the same waiting approval.</a:t>
            </a:r>
          </a:p>
          <a:p xmlns:a="http://schemas.openxmlformats.org/drawingml/2006/main">
            <a:r>
              <a:t/>
            </a:r>
          </a:p>
          <a:p xmlns:a="http://schemas.openxmlformats.org/drawingml/2006/main">
            <a:r>
              <a:t>Revealing a public key is not ordinary private-key extraction. The theoretical curve-breaking</a:t>
            </a:r>
          </a:p>
          <a:p xmlns:a="http://schemas.openxmlformats.org/drawingml/2006/main">
            <a:r>
              <a:t>scenario concerns public curve keys; the passkey's P-256 public key is already public after its</a:t>
            </a:r>
          </a:p>
          <a:p xmlns:a="http://schemas.openxmlformats.org/drawingml/2006/main">
            <a:r>
              <a:t>signer is deployed. The one-time half is intended to require an additional hash-based signature.</a:t>
            </a:r>
          </a:p>
          <a:p xmlns:a="http://schemas.openxmlformats.org/drawingml/2006/main">
            <a:r>
              <a:t>It does not make the signing page trustworthy, and it does not protect the gas wallet's funds.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notes/onboarding-walkthrough.md</a:t>
            </a:r>
          </a:p>
          <a:p xmlns:a="http://schemas.openxmlformats.org/drawingml/2006/main">
            <a:r>
              <a:t>Captured application commit: f13bf89</a:t>
            </a:r>
          </a:p>
          <a:p xmlns:a="http://schemas.openxmlformats.org/drawingml/2006/main">
            <a:r>
              <a:t/>
            </a:r>
          </a:p>
          <a:p xmlns:a="http://schemas.openxmlformats.org/drawingml/2006/main">
            <a:r>
              <a:t>This walkthrough was checked against [passkey methods](../site/src/passkey.mjs),</a:t>
            </a:r>
          </a:p>
          <a:p xmlns:a="http://schemas.openxmlformats.org/drawingml/2006/main">
            <a:r>
              <a:t>[console signing and the ledger](../console/core.py), [the page's signing and simulation order](../site/src/main.mjs),</a:t>
            </a:r>
          </a:p>
          <a:p xmlns:a="http://schemas.openxmlformats.org/drawingml/2006/main">
            <a:r>
              <a:t>[payment links](../site/src/pay.mjs), [one-time key derivation](../reference/python/sign_and_burn.py),</a:t>
            </a:r>
          </a:p>
          <a:p xmlns:a="http://schemas.openxmlformats.org/drawingml/2006/main">
            <a:r>
              <a:t>and [the seat's checks and rotation](../contracts/src/Seat.sol).</a:t>
            </a:r>
          </a:p>
          <a:p xmlns:a="http://schemas.openxmlformats.org/drawingml/2006/main">
            <a:r>
              <a:t>The capture run checked one passkey assertion per fresh approval, three Safe executions,</a:t>
            </a:r>
          </a:p>
          <a:p xmlns:a="http://schemas.openxmlformats.org/drawingml/2006/main">
            <a:r>
              <a:t>key-number advances, and the same approval surviving refusal and reload. The native prompts,</a:t>
            </a:r>
          </a:p>
          <a:p xmlns:a="http://schemas.openxmlformats.org/drawingml/2006/main">
            <a:r>
              <a:t>real phone PRF support, a live MetaMask session and a real second-device flow were not tested here.</a:t>
            </a:r>
          </a:p>
          <a:p xmlns:a="http://schemas.openxmlformats.org/drawingml/2006/main">
            <a:r>
              <a:t/>
            </a:r>
          </a:p>
          <a:p xmlns:a="http://schemas.openxmlformats.org/drawingml/2006/main">
            <a:r>
              <a:t>Complete source walkthrough:</a:t>
            </a:r>
          </a:p>
          <a:p xmlns:a="http://schemas.openxmlformats.org/drawingml/2006/main">
            <a:r>
              <a:t># A phone signs; another wallet pays</a:t>
            </a:r>
          </a:p>
          <a:p xmlns:a="http://schemas.openxmlformats.org/drawingml/2006/main">
            <a:r>
              <a:t/>
            </a:r>
          </a:p>
          <a:p xmlns:a="http://schemas.openxmlformats.org/drawingml/2006/main">
            <a:r>
              <a:t>A sample Sign and Burn onboarding, followed by three shielded transactions. The signing browser</a:t>
            </a:r>
          </a:p>
          <a:p xmlns:a="http://schemas.openxmlformats.org/drawingml/2006/main">
            <a:r>
              <a:t>keeps the passkey access and the console's ledger. A second browser holds the wallet that pays gas.</a:t>
            </a:r>
          </a:p>
          <a:p xmlns:a="http://schemas.openxmlformats.org/drawingml/2006/main">
            <a:r>
              <a:t>The wallet can belong to you or to someone helping you. It does not become an owner of the Safe.</a:t>
            </a:r>
          </a:p>
          <a:p xmlns:a="http://schemas.openxmlformats.org/drawingml/2006/main">
            <a:r>
              <a:t/>
            </a:r>
          </a:p>
          <a:p xmlns:a="http://schemas.openxmlformats.org/drawingml/2006/main">
            <a:r>
              <a:t>**Test network only.** This walkthrough describes the current implementation and its limits. It</a:t>
            </a:r>
          </a:p>
          <a:p xmlns:a="http://schemas.openxmlformats.org/drawingml/2006/main">
            <a:r>
              <a:t>is not an audit or a claim of protection against a compromised device.</a:t>
            </a:r>
          </a:p>
          <a:p xmlns:a="http://schemas.openxmlformats.org/drawingml/2006/main">
            <a:r>
              <a:t/>
            </a:r>
          </a:p>
          <a:p xmlns:a="http://schemas.openxmlformats.org/drawingml/2006/main">
            <a:r>
              <a:t>Each screenshot is paired with a diagram of the signing phone, its passkey and page memory,</a:t>
            </a:r>
          </a:p>
          <a:p xmlns:a="http://schemas.openxmlformats.org/drawingml/2006/main">
            <a:r>
              <a:t>the data disclosed outside the page, and the seat's state. Gold marks the passkey; violet marks</a:t>
            </a:r>
          </a:p>
          <a:p xmlns:a="http://schemas.openxmlformats.org/drawingml/2006/main">
            <a:r>
              <a:t>private seeds; blue marks public values; coral marks signed approvals; green marks the chain.</a:t>
            </a:r>
          </a:p>
          <a:p xmlns:a="http://schemas.openxmlformats.org/drawingml/2006/main">
            <a:r>
              <a:t>The phone prompts and physical objects are explanatory illustrations, not native dialogs. A public</a:t>
            </a:r>
          </a:p>
          <a:p xmlns:a="http://schemas.openxmlformats.org/drawingml/2006/main">
            <a:r>
              <a:t>value is not a private seed. Click a diagram to read it at full size.</a:t>
            </a:r>
          </a:p>
          <a:p xmlns:a="http://schemas.openxmlformats.org/drawingml/2006/main">
            <a:r>
              <a:t/>
            </a:r>
          </a:p>
          <a:p xmlns:a="http://schemas.openxmlformats.org/drawingml/2006/main">
            <a:r>
              <a:t>## About these screenshots</a:t>
            </a:r>
          </a:p>
          <a:p xmlns:a="http://schemas.openxmlformats.org/drawingml/2006/main">
            <a:r>
              <a:t/>
            </a:r>
          </a:p>
          <a:p xmlns:a="http://schemas.openxmlformats.org/drawingml/2006/main">
            <a:r>
              <a:t>These are screenshots of the running page at application commit `f13bf89`, captured on 2026-10-09. The signing browser is Chromium</a:t>
            </a:r>
          </a:p>
          <a:p xmlns:a="http://schemas.openxmlformats.org/drawingml/2006/main">
            <a:r>
              <a:t>at a phone width of 390 pixels, with no wallet and a virtual passkey. A separate browser context</a:t>
            </a:r>
          </a:p>
          <a:p xmlns:a="http://schemas.openxmlformats.org/drawingml/2006/main">
            <a:r>
              <a:t>plays the payer. Both use local Anvil, chain 31337, with the project's pinned Base Sepolia contract</a:t>
            </a:r>
          </a:p>
          <a:p xmlns:a="http://schemas.openxmlformats.org/drawingml/2006/main">
            <a:r>
              <a:t>bytecode. The published page uses Base Sepolia, chain 84532; the pictures therefore say Local Anvil.</a:t>
            </a:r>
          </a:p>
          <a:p xmlns:a="http://schemas.openxmlformats.org/drawingml/2006/main">
            <a:r>
              <a:t>All accounts and approvals shown are disposable test data. The local build changes the console</a:t>
            </a:r>
          </a:p>
          <a:p xmlns:a="http://schemas.openxmlformats.org/drawingml/2006/main">
            <a:r>
              <a:t>configuration, so its displayed fingerprint also differs from the published Base Sepolia image.</a:t>
            </a:r>
          </a:p>
          <a:p xmlns:a="http://schemas.openxmlformats.org/drawingml/2006/main">
            <a:r>
              <a:t/>
            </a:r>
          </a:p>
          <a:p xmlns:a="http://schemas.openxmlformats.org/drawingml/2006/main">
            <a:r>
              <a:t>This is a phone-shaped browser rehearsal, not a test on an iPhone or Android device. The virtual</a:t>
            </a:r>
          </a:p>
          <a:p xmlns:a="http://schemas.openxmlformats.org/drawingml/2006/main">
            <a:r>
              <a:t>passkey handles the native dialogs automatically. The screenshots do not show Face ID, Touch ID,</a:t>
            </a:r>
          </a:p>
          <a:p xmlns:a="http://schemas.openxmlformats.org/drawingml/2006/main">
            <a:r>
              <a:t>a password manager dialog, or a real MetaMask confirmation. The buttons and screen states are real;</a:t>
            </a:r>
          </a:p>
          <a:p xmlns:a="http://schemas.openxmlformats.org/drawingml/2006/main">
            <a:r>
              <a:t>the appearance and PRF support of those native prompts depend on your browser and authenticator.</a:t>
            </a:r>
          </a:p>
          <a:p xmlns:a="http://schemas.openxmlformats.org/drawingml/2006/main">
            <a:r>
              <a:t>Recorded real-device checks are in [the live test table](testing/live.md).</a:t>
            </a:r>
          </a:p>
          <a:p xmlns:a="http://schemas.openxmlformats.org/drawingml/2006/main">
            <a:r>
              <a:t/>
            </a:r>
          </a:p>
          <a:p xmlns:a="http://schemas.openxmlformats.org/drawingml/2006/main">
            <a:r>
              <a:t>## What you do, and when gas is needed</a:t>
            </a:r>
          </a:p>
          <a:p xmlns:a="http://schemas.openxmlformats.org/drawingml/2006/main">
            <a:r>
              <a:t/>
            </a:r>
          </a:p>
          <a:p xmlns:a="http://schemas.openxmlformats.org/drawingml/2006/main">
            <a:r>
              <a:t>| Step | On the signing phone | On the payer's device | Gas paid? |</a:t>
            </a:r>
          </a:p>
          <a:p xmlns:a="http://schemas.openxmlformats.org/drawingml/2006/main">
            <a:r>
              <a:t>|---|---|---|---|</a:t>
            </a:r>
          </a:p>
          <a:p xmlns:a="http://schemas.openxmlformats.org/drawingml/2006/main">
            <a:r>
              <a:t>| Create passkey | Approve the native creation prompt | Nothing | No |</a:t>
            </a:r>
          </a:p>
          <a:p xmlns:a="http://schemas.openxmlformats.org/drawingml/2006/main">
            <a:r>
              <a:t>| Prepare key 0 | Approve a passkey assertion with a PRF output | Nothing | No |</a:t>
            </a:r>
          </a:p>
          <a:p xmlns:a="http://schemas.openxmlformats.org/drawingml/2006/main">
            <a:r>
              <a:t>| Deploy | Copy the build request; wait | Review, connect wallet, confirm deployment | Yes, from the wallet |</a:t>
            </a:r>
          </a:p>
          <a:p xmlns:a="http://schemas.openxmlformats.org/drawingml/2006/main">
            <a:r>
              <a:t>| Fund | Copy the Safe address or reuse the build link | Confirm a transfer into the Safe | Yes, plus the test ETH sent |</a:t>
            </a:r>
          </a:p>
          <a:p xmlns:a="http://schemas.openxmlformats.org/drawingml/2006/main">
            <a:r>
              <a:t>| Each shielded transfer | Review, hold, approve one passkey assertion; copy approval link | Review the same approval; confirm its send | Yes, from the wallet |</a:t>
            </a:r>
          </a:p>
          <a:p xmlns:a="http://schemas.openxmlformats.org/drawingml/2006/main">
            <a:r>
              <a:t>| Retry a refused send | Keep the same approval and ledger; no new passkey tap | Send that existing approval again | Only when a transaction is actually sent and included |</a:t>
            </a:r>
          </a:p>
          <a:p xmlns:a="http://schemas.openxmlformats.org/drawingml/2006/main">
            <a:r>
              <a:t/>
            </a:r>
          </a:p>
          <a:p xmlns:a="http://schemas.openxmlformats.org/drawingml/2006/main">
            <a:r>
              <a:t>The Safe supplies the transfer amount. The payer supplies gas. If a usable wallet is on the phone,</a:t>
            </a:r>
          </a:p>
          <a:p xmlns:a="http://schemas.openxmlformats.org/drawingml/2006/main">
            <a:r>
              <a:t>connect it there and use the local Build or Send path instead of copying a link. The passkey,</a:t>
            </a:r>
          </a:p>
          <a:p xmlns:a="http://schemas.openxmlformats.org/drawingml/2006/main">
            <a:r>
              <a:t>PRF, console and disclosure order are the same; the extra payer browser is optional.</a:t>
            </a:r>
          </a:p>
          <a:p xmlns:a="http://schemas.openxmlformats.org/drawingml/2006/main">
            <a:r>
              <a:t/>
            </a:r>
          </a:p>
          <a:p xmlns:a="http://schemas.openxmlformats.org/drawingml/2006/main">
            <a:r>
              <a:t>## First, which key is which?</a:t>
            </a:r>
          </a:p>
          <a:p xmlns:a="http://schemas.openxmlformats.org/drawingml/2006/main">
            <a:r>
              <a:t/>
            </a:r>
          </a:p>
          <a:p xmlns:a="http://schemas.openxmlformats.org/drawingml/2006/main">
            <a:r>
              <a:t>“Signing exposes the private key” needs a distinction. Normal passkey use does not export the</a:t>
            </a:r>
          </a:p>
          <a:p xmlns:a="http://schemas.openxmlformats.org/drawingml/2006/main">
            <a:r>
              <a:t>passkey's private key. This application does receive other secret material through the PRF extension.</a:t>
            </a:r>
          </a:p>
          <a:p xmlns:a="http://schemas.openxmlformats.org/drawingml/2006/main">
            <a:r>
              <a:t/>
            </a:r>
          </a:p>
          <a:p xmlns:a="http://schemas.openxmlformats.org/drawingml/2006/main">
            <a:r>
              <a:t>| Part | What it does | What the page or others can see |</a:t>
            </a:r>
          </a:p>
          <a:p xmlns:a="http://schemas.openxmlformats.org/drawingml/2006/main">
            <a:r>
              <a:t>|---|---|---|</a:t>
            </a:r>
          </a:p>
          <a:p xmlns:a="http://schemas.openxmlformats.org/drawingml/2006/main">
            <a:r>
              <a:t>| Passkey P-256 private key | Makes the WebAuthn curve signature | WebAuthn does not return it to the page. The authenticator or credential provider holds it. |</a:t>
            </a:r>
          </a:p>
          <a:p xmlns:a="http://schemas.openxmlformats.org/drawingml/2006/main">
            <a:r>
              <a:t>| Passkey P-256 public key | Lets Safe's passkey signer check that signature | Returned at passkey creation; public on-chain when its signer is deployed. It is not the rotating key. |</a:t>
            </a:r>
          </a:p>
          <a:p xmlns:a="http://schemas.openxmlformats.org/drawingml/2006/main">
            <a:r>
              <a:t>| Passkey PRF secret | Produces repeatable outputs for the requested salts | The page gets outputs, not this underlying secret. |</a:t>
            </a:r>
          </a:p>
          <a:p xmlns:a="http://schemas.openxmlformats.org/drawingml/2006/main">
            <a:r>
              <a:t>| `seed(n)` | Produces all 67 private hash-chain starting values for one-time key `n` | Returned to the signing page by the PRF. It passes through page and console memory. This is private signing material. |</a:t>
            </a:r>
          </a:p>
          <a:p xmlns:a="http://schemas.openxmlformats.org/drawingml/2006/main">
            <a:r>
              <a:t>| One-time signature | Authorizes this approval and its next fingerprint | Reveals 67 selected positions along the private hash chains. A position can be a chain's starting value. It does not disclose the whole seed. |</a:t>
            </a:r>
          </a:p>
          <a:p xmlns:a="http://schemas.openxmlformats.org/drawingml/2006/main">
            <a:r>
              <a:t>| Full one-time public key | The 67 hash-chain endpoints | Anyone with the message and one-time signature can compute these endpoints. |</a:t>
            </a:r>
          </a:p>
          <a:p xmlns:a="http://schemas.openxmlformats.org/drawingml/2006/main">
            <a:r>
              <a:t>| One-time fingerprint | Hash commitment to those endpoints, with their context | Stored on-chain before that key signs. It is not the full public key. |</a:t>
            </a:r>
          </a:p>
          <a:p xmlns:a="http://schemas.openxmlformats.org/drawingml/2006/main">
            <a:r>
              <a:t>| Gas wallet | Sends the prepared calls and pays their gas | Has its own account and keys. It is separate from the passkey and the seat's one-time keys. |</a:t>
            </a:r>
          </a:p>
          <a:p xmlns:a="http://schemas.openxmlformats.org/drawingml/2006/main">
            <a:r>
              <a:t/>
            </a:r>
          </a:p>
          <a:p xmlns:a="http://schemas.openxmlformats.org/drawingml/2006/main">
            <a:r>
              <a:t>The passkey is used repeatedly. The one-time key is used for one approval only. The next sections</a:t>
            </a:r>
          </a:p>
          <a:p xmlns:a="http://schemas.openxmlformats.org/drawingml/2006/main">
            <a:r>
              <a:t>follow key 0, then key 1, then key 2.</a:t>
            </a:r>
          </a:p>
          <a:p xmlns:a="http://schemas.openxmlformats.org/drawingml/2006/main">
            <a:r>
              <a:t/>
            </a:r>
          </a:p>
          <a:p xmlns:a="http://schemas.openxmlformats.org/drawingml/2006/main">
            <a:r>
              <a:t>## 1. On the phone: make the passkey</a:t>
            </a:r>
          </a:p>
          <a:p xmlns:a="http://schemas.openxmlformats.org/drawingml/2006/main">
            <a:r>
              <a:t/>
            </a:r>
          </a:p>
          <a:p xmlns:a="http://schemas.openxmlformats.org/drawingml/2006/main">
            <a:r>
              <a:t>Press **Make a passkey**. Expect your browser or credential provider to ask where to create it and</a:t>
            </a:r>
          </a:p>
          <a:p xmlns:a="http://schemas.openxmlformats.org/drawingml/2006/main">
            <a:r>
              <a:t>to require user verification, such as a face, fingerprint or PIN.</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make a passkey](screenshots/onboarding/01-phone-passkey.png) | [![Diagram: Phone: make a passkey](infographics/onboarding/01-phone-passkey.svg)](infographics/onboarding/01-phone-passkey.svg) |</a:t>
            </a:r>
          </a:p>
          <a:p xmlns:a="http://schemas.openxmlformats.org/drawingml/2006/main">
            <a:r>
              <a:t/>
            </a:r>
          </a:p>
          <a:p xmlns:a="http://schemas.openxmlformats.org/drawingml/2006/main">
            <a:r>
              <a:t>The page calls `navigator.credentials.create({ publicKey: ... })`. It asks for P-256 (`alg: -7`),</a:t>
            </a:r>
          </a:p>
          <a:p xmlns:a="http://schemas.openxmlformats.org/drawingml/2006/main">
            <a:r>
              <a:t>a discoverable credential, required user verification and the `prf` extension. It records the</a:t>
            </a:r>
          </a:p>
          <a:p xmlns:a="http://schemas.openxmlformats.org/drawingml/2006/main">
            <a:r>
              <a:t>credential ID, public coordinates and site domain; it does not record the passkey private key.</a:t>
            </a:r>
          </a:p>
          <a:p xmlns:a="http://schemas.openxmlformats.org/drawingml/2006/main">
            <a:r>
              <a:t>The passkey belongs to the site's domain. A passkey made on localhost is not one for signandburn.app.</a:t>
            </a:r>
          </a:p>
          <a:p xmlns:a="http://schemas.openxmlformats.org/drawingml/2006/main">
            <a:r>
              <a:t/>
            </a:r>
          </a:p>
          <a:p xmlns:a="http://schemas.openxmlformats.org/drawingml/2006/main">
            <a:r>
              <a:t>**Gas:** none. **On-chain change:** none. **Exposure:** the page receives the passkey public key and</a:t>
            </a:r>
          </a:p>
          <a:p xmlns:a="http://schemas.openxmlformats.org/drawingml/2006/main">
            <a:r>
              <a:t>credential metadata. No one-time approval has been made.</a:t>
            </a:r>
          </a:p>
          <a:p xmlns:a="http://schemas.openxmlformats.org/drawingml/2006/main">
            <a:r>
              <a:t/>
            </a:r>
          </a:p>
          <a:p xmlns:a="http://schemas.openxmlformats.org/drawingml/2006/main">
            <a:r>
              <a:t>“I already have one” is a different path. The page asks for two ordinary WebAuthn assertions to</a:t>
            </a:r>
          </a:p>
          <a:p xmlns:a="http://schemas.openxmlformats.org/drawingml/2006/main">
            <a:r>
              <a:t>recover the existing passkey's P-256 public key. Those are not two signatures with a one-time key.</a:t>
            </a:r>
          </a:p>
          <a:p xmlns:a="http://schemas.openxmlformats.org/drawingml/2006/main">
            <a:r>
              <a:t>A synced passkey does not sync this application's ledger: do not alternate signing browsers for</a:t>
            </a:r>
          </a:p>
          <a:p xmlns:a="http://schemas.openxmlformats.org/drawingml/2006/main">
            <a:r>
              <a:t>one seat while an approval might be waiting.</a:t>
            </a:r>
          </a:p>
          <a:p xmlns:a="http://schemas.openxmlformats.org/drawingml/2006/main">
            <a:r>
              <a:t/>
            </a:r>
          </a:p>
          <a:p xmlns:a="http://schemas.openxmlformats.org/drawingml/2006/main">
            <a:r>
              <a:t>## 2. On the phone: prepare the first one-time key</a:t>
            </a:r>
          </a:p>
          <a:p xmlns:a="http://schemas.openxmlformats.org/drawingml/2006/main">
            <a:r>
              <a:t/>
            </a:r>
          </a:p>
          <a:p xmlns:a="http://schemas.openxmlformats.org/drawingml/2006/main">
            <a:r>
              <a:t>Press **Tap to make key 0**. This is another user-verification prompt, not a wallet transaction.</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prepare key 0](screenshots/onboarding/02-phone-first-key.png) | [![Diagram: Phone: prepare key 0](infographics/onboarding/02-phone-first-key.svg)](infographics/onboarding/02-phone-first-key.svg) |</a:t>
            </a:r>
          </a:p>
          <a:p xmlns:a="http://schemas.openxmlformats.org/drawingml/2006/main">
            <a:r>
              <a:t/>
            </a:r>
          </a:p>
          <a:p xmlns:a="http://schemas.openxmlformats.org/drawingml/2006/main">
            <a:r>
              <a:t>The page calls `navigator.credentials.get({ publicKey: ... })` with a fresh challenge and one PRF</a:t>
            </a:r>
          </a:p>
          <a:p xmlns:a="http://schemas.openxmlformats.org/drawingml/2006/main">
            <a:r>
              <a:t>salt for key 0. The PRF returns `seed(0)`. The console derives 67 chain starts, hashes each to its</a:t>
            </a:r>
          </a:p>
          <a:p xmlns:a="http://schemas.openxmlformats.org/drawingml/2006/main">
            <a:r>
              <a:t>endpoint, then hashes the endpoints into key 0's fingerprint. The first-key setup uses the PRF</a:t>
            </a:r>
          </a:p>
          <a:p xmlns:a="http://schemas.openxmlformats.org/drawingml/2006/main">
            <a:r>
              <a:t>output; it does not make a one-time transaction signature.</a:t>
            </a:r>
          </a:p>
          <a:p xmlns:a="http://schemas.openxmlformats.org/drawingml/2006/main">
            <a:r>
              <a:t/>
            </a:r>
          </a:p>
          <a:p xmlns:a="http://schemas.openxmlformats.org/drawingml/2006/main">
            <a:r>
              <a:t>**Gas:** none. **On-chain change:** none. **Exposure:** `seed(0)` is briefly in the signing page and</a:t>
            </a:r>
          </a:p>
          <a:p xmlns:a="http://schemas.openxmlformats.org/drawingml/2006/main">
            <a:r>
              <a:t>console. The browser record keeps the fingerprint and predicted addresses, not the seed.</a:t>
            </a:r>
          </a:p>
          <a:p xmlns:a="http://schemas.openxmlformats.org/drawingml/2006/main">
            <a:r>
              <a:t>A hostile page or extension able to read that memory could capture the seed at this point, before</a:t>
            </a:r>
          </a:p>
          <a:p xmlns:a="http://schemas.openxmlformats.org/drawingml/2006/main">
            <a:r>
              <a:t>any shielded transaction exists. Public-key disclosure is not the only exposure to consider.</a:t>
            </a:r>
          </a:p>
          <a:p xmlns:a="http://schemas.openxmlformats.org/drawingml/2006/main">
            <a:r>
              <a:t/>
            </a:r>
          </a:p>
          <a:p xmlns:a="http://schemas.openxmlformats.org/drawingml/2006/main">
            <a:r>
              <a:t>A missing PRF result stops this path. Device support is something to test, not something a phone</a:t>
            </a:r>
          </a:p>
          <a:p xmlns:a="http://schemas.openxmlformats.org/drawingml/2006/main">
            <a:r>
              <a:t>screenshot establishes.</a:t>
            </a:r>
          </a:p>
          <a:p xmlns:a="http://schemas.openxmlformats.org/drawingml/2006/main">
            <a:r>
              <a:t/>
            </a:r>
          </a:p>
          <a:p xmlns:a="http://schemas.openxmlformats.org/drawingml/2006/main">
            <a:r>
              <a:t>## 3. On the phone: give someone the build request</a:t>
            </a:r>
          </a:p>
          <a:p xmlns:a="http://schemas.openxmlformats.org/drawingml/2006/main">
            <a:r>
              <a:t/>
            </a:r>
          </a:p>
          <a:p xmlns:a="http://schemas.openxmlformats.org/drawingml/2006/main">
            <a:r>
              <a:t>The addresses are worked out before deployment. **Connect a wallet** remains available. If this</a:t>
            </a:r>
          </a:p>
          <a:p xmlns:a="http://schemas.openxmlformats.org/drawingml/2006/main">
            <a:r>
              <a:t>phone has no wallet, press **Copy link** and send the plain URL to the person paying.</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the build request and copy link](screenshots/onboarding/03-phone-build-link.png) | [![Diagram: Phone: the build request and copy link](infographics/onboarding/03-phone-build-link.svg)](infographics/onboarding/03-phone-build-link.svg) |</a:t>
            </a:r>
          </a:p>
          <a:p xmlns:a="http://schemas.openxmlformats.org/drawingml/2006/main">
            <a:r>
              <a:t/>
            </a:r>
          </a:p>
          <a:p xmlns:a="http://schemas.openxmlformats.org/drawingml/2006/main">
            <a:r>
              <a:t>This is an unsigned build request. It holds the passkey's public coordinates, seat number, key 0's</a:t>
            </a:r>
          </a:p>
          <a:p xmlns:a="http://schemas.openxmlformats.org/drawingml/2006/main">
            <a:r>
              <a:t>fingerprint and chain identifier. It does not contain a seed or a one-time approval signature.</a:t>
            </a:r>
          </a:p>
          <a:p xmlns:a="http://schemas.openxmlformats.org/drawingml/2006/main">
            <a:r>
              <a:t>The payer's page rebuilds the calls and addresses from those values rather than accepting arbitrary</a:t>
            </a:r>
          </a:p>
          <a:p xmlns:a="http://schemas.openxmlformats.org/drawingml/2006/main">
            <a:r>
              <a:t>calls from the link.</a:t>
            </a:r>
          </a:p>
          <a:p xmlns:a="http://schemas.openxmlformats.org/drawingml/2006/main">
            <a:r>
              <a:t/>
            </a:r>
          </a:p>
          <a:p xmlns:a="http://schemas.openxmlformats.org/drawingml/2006/main">
            <a:r>
              <a:t>**Gas:** still none. **Exposure:** public setup values go to whoever receives the link, including</a:t>
            </a:r>
          </a:p>
          <a:p xmlns:a="http://schemas.openxmlformats.org/drawingml/2006/main">
            <a:r>
              <a:t>the messaging service used to send it. A build link is different from the signed approval link below.</a:t>
            </a:r>
          </a:p>
          <a:p xmlns:a="http://schemas.openxmlformats.org/drawingml/2006/main">
            <a:r>
              <a:t/>
            </a:r>
          </a:p>
          <a:p xmlns:a="http://schemas.openxmlformats.org/drawingml/2006/main">
            <a:r>
              <a:t>## 4. On the payer's device: review, connect, deploy</a:t>
            </a:r>
          </a:p>
          <a:p xmlns:a="http://schemas.openxmlformats.org/drawingml/2006/main">
            <a:r>
              <a:t/>
            </a:r>
          </a:p>
          <a:p xmlns:a="http://schemas.openxmlformats.org/drawingml/2006/main">
            <a:r>
              <a:t>The payer opens the link, or opens **Pay for a request** on this site and pastes it.</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![Payer: paste the payment link](screenshots/onboarding/04-payer-paste.png) | [![Diagram: Payer: paste the payment link](infographics/onboarding/04-payer-paste.svg)](infographics/onboarding/04-payer-paste.svg) |</a:t>
            </a:r>
          </a:p>
          <a:p xmlns:a="http://schemas.openxmlformats.org/drawingml/2006/main">
            <a:r>
              <a:t/>
            </a:r>
          </a:p>
          <a:p xmlns:a="http://schemas.openxmlformats.org/drawingml/2006/main">
            <a:r>
              <a:t>Pasting reviews the request here. It does not visit the pasted host or send a wallet transaction.</a:t>
            </a:r>
          </a:p>
          <a:p xmlns:a="http://schemas.openxmlformats.org/drawingml/2006/main">
            <a:r>
              <a:t>The payer connects a browser wallet. With multiple wallets, the page asks which to use.</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![Payer: choose the gas wallet](screenshots/onboarding/05-payer-choose-wallet.png) | [![Diagram: Payer: choose the gas wallet](infographics/onboarding/05-payer-choose-wallet.svg)](infographics/onboarding/05-payer-choose-wallet.svg) |</a:t>
            </a:r>
          </a:p>
          <a:p xmlns:a="http://schemas.openxmlformats.org/drawingml/2006/main">
            <a:r>
              <a:t/>
            </a:r>
          </a:p>
          <a:p xmlns:a="http://schemas.openxmlformats.org/drawingml/2006/main">
            <a:r>
              <a:t>The payer checks the predicted Safe and seat, then presses **Pay: one transaction**.</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![Payer: review the deployment](screenshots/onboarding/06-payer-build.png) | [![Diagram: Payer: review the deployment](infographics/onboarding/06-payer-build.svg)](infographics/onboarding/06-payer-build.svg) |</a:t>
            </a:r>
          </a:p>
          <a:p xmlns:a="http://schemas.openxmlformats.org/drawingml/2006/main">
            <a:r>
              <a:t/>
            </a:r>
          </a:p>
          <a:p xmlns:a="http://schemas.openxmlformats.org/drawingml/2006/main">
            <a:r>
              <a:t>Expect a separate wallet confirmation after pressing Pay. The payer needs Base Sepolia ETH for gas</a:t>
            </a:r>
          </a:p>
          <a:p xmlns:a="http://schemas.openxmlformats.org/drawingml/2006/main">
            <a:r>
              <a:t>on the published site. A Trezor or Ledger can be used through a browser wallet that drives it.</a:t>
            </a:r>
          </a:p>
          <a:p xmlns:a="http://schemas.openxmlformats.org/drawingml/2006/main">
            <a:r>
              <a:t>The stand-in wallet in these pictures is not a screenshot of MetaMask's confirmation.</a:t>
            </a:r>
          </a:p>
          <a:p xmlns:a="http://schemas.openxmlformats.org/drawingml/2006/main">
            <a:r>
              <a:t/>
            </a:r>
          </a:p>
          <a:p xmlns:a="http://schemas.openxmlformats.org/drawingml/2006/main">
            <a:r>
              <a:t>The transaction deploys the passkey signer, seat and 1-of-1 Safe, plus the SeatFactory if needed.</a:t>
            </a:r>
          </a:p>
          <a:p xmlns:a="http://schemas.openxmlformats.org/drawingml/2006/main">
            <a:r>
              <a:t>Already deployed parts are skipped. The seat becomes the Safe's one owner. The payer owns none of it.</a:t>
            </a:r>
          </a:p>
          <a:p xmlns:a="http://schemas.openxmlformats.org/drawingml/2006/main">
            <a:r>
              <a:t/>
            </a:r>
          </a:p>
          <a:p xmlns:a="http://schemas.openxmlformats.org/drawingml/2006/main">
            <a:r>
              <a:t>**Exposure:** the passkey P-256 public key is now public through its signer. The seat holds key 0's</a:t>
            </a:r>
          </a:p>
          <a:p xmlns:a="http://schemas.openxmlformats.org/drawingml/2006/main">
            <a:r>
              <a:t>fingerprint, not its full one-time public key. The gas account is a separate signer; a normal EOA</a:t>
            </a:r>
          </a:p>
          <a:p xmlns:a="http://schemas.openxmlformats.org/drawingml/2006/main">
            <a:r>
              <a:t>transaction signature also allows its public key to be recovered by those who receive it.</a:t>
            </a:r>
          </a:p>
          <a:p xmlns:a="http://schemas.openxmlformats.org/drawingml/2006/main">
            <a:r>
              <a:t/>
            </a:r>
          </a:p>
          <a:p xmlns:a="http://schemas.openxmlformats.org/drawingml/2006/main">
            <a:r>
              <a:t>If the wallet says a request is already waiting, open it and finish or cancel the pending request,</a:t>
            </a:r>
          </a:p>
          <a:p xmlns:a="http://schemas.openxmlformats.org/drawingml/2006/main">
            <a:r>
              <a:t>then reconnect. A connection attempt does not send the deployment or approval transaction.</a:t>
            </a:r>
          </a:p>
          <a:p xmlns:a="http://schemas.openxmlformats.org/drawingml/2006/main">
            <a:r>
              <a:t/>
            </a:r>
          </a:p>
          <a:p xmlns:a="http://schemas.openxmlformats.org/drawingml/2006/main">
            <a:r>
              <a:t>## 5. Put spending ETH in the Safe</a:t>
            </a:r>
          </a:p>
          <a:p xmlns:a="http://schemas.openxmlformats.org/drawingml/2006/main">
            <a:r>
              <a:t/>
            </a:r>
          </a:p>
          <a:p xmlns:a="http://schemas.openxmlformats.org/drawingml/2006/main">
            <a:r>
              <a:t>Gas money and Safe money are separate. The payer's wallet pays transaction fees. The Safe needs</a:t>
            </a:r>
          </a:p>
          <a:p xmlns:a="http://schemas.openxmlformats.org/drawingml/2006/main">
            <a:r>
              <a:t>its own balance for the transfers it will make.</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the deployed Safe still needs funds](screenshots/onboarding/07-phone-fund.png) | [![Diagram: Phone: the deployed Safe still needs funds](infographics/onboarding/07-phone-fund.svg)](infographics/onboarding/07-phone-fund.svg) |</a:t>
            </a:r>
          </a:p>
          <a:p xmlns:a="http://schemas.openxmlformats.org/drawingml/2006/main">
            <a:r>
              <a:t/>
            </a:r>
          </a:p>
          <a:p xmlns:a="http://schemas.openxmlformats.org/drawingml/2006/main">
            <a:r>
              <a:t>The stray `nullnull` text in this captured funding screen is a display bug, not transaction data.</a:t>
            </a:r>
          </a:p>
          <a:p xmlns:a="http://schemas.openxmlformats.org/drawingml/2006/main">
            <a:r>
              <a:t>The capture keeps it as shown by the page.</a:t>
            </a:r>
          </a:p>
          <a:p xmlns:a="http://schemas.openxmlformats.org/drawingml/2006/main">
            <a:r>
              <a:t/>
            </a:r>
          </a:p>
          <a:p xmlns:a="http://schemas.openxmlformats.org/drawingml/2006/main">
            <a:r>
              <a:t>The payer can send **0.001 test ETH** to the Safe, or someone can send test ETH to its address by</a:t>
            </a:r>
          </a:p>
          <a:p xmlns:a="http://schemas.openxmlformats.org/drawingml/2006/main">
            <a:r>
              <a:t>another route. This is a separate wallet transaction, with its own gas. It does not consume a</a:t>
            </a:r>
          </a:p>
          <a:p xmlns:a="http://schemas.openxmlformats.org/drawingml/2006/main">
            <a:r>
              <a:t>one-time signing key. The phone watches the chain and moves on when the funds arrive.</a:t>
            </a:r>
          </a:p>
          <a:p xmlns:a="http://schemas.openxmlformats.org/drawingml/2006/main">
            <a:r>
              <a:t/>
            </a:r>
          </a:p>
          <a:p xmlns:a="http://schemas.openxmlformats.org/drawingml/2006/main">
            <a:r>
              <a:t>## 6. First shielded transaction: key 0 sends 0.0001 test ETH</a:t>
            </a:r>
          </a:p>
          <a:p xmlns:a="http://schemas.openxmlformats.org/drawingml/2006/main">
            <a:r>
              <a:t/>
            </a:r>
          </a:p>
          <a:p xmlns:a="http://schemas.openxmlformats.org/drawingml/2006/main">
            <a:r>
              <a:t>On the phone, enter the recipient and amount. Read the console's explanation and transaction hash.</a:t>
            </a:r>
          </a:p>
          <a:p xmlns:a="http://schemas.openxmlformats.org/drawingml/2006/main">
            <a:r>
              <a:t>Hold the button for two seconds. Reject remains a separate press.</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review before the passkey tap](screenshots/onboarding/09-phone-review.png) | [![Diagram: Phone: review before the passkey tap](infographics/onboarding/09-phone-review.svg)](infographics/onboarding/09-phone-review.svg) |</a:t>
            </a:r>
          </a:p>
          <a:p xmlns:a="http://schemas.openxmlformats.org/drawingml/2006/main">
            <a:r>
              <a:t/>
            </a:r>
          </a:p>
          <a:p xmlns:a="http://schemas.openxmlformats.org/drawingml/2006/main">
            <a:r>
              <a:t>The captured phone layout clips the long hash and some label text. The short check code is visible;</a:t>
            </a:r>
          </a:p>
          <a:p xmlns:a="http://schemas.openxmlformats.org/drawingml/2006/main">
            <a:r>
              <a:t>the desktop payer screenshot below shows the full hash. That clipping is a layout limitation of</a:t>
            </a:r>
          </a:p>
          <a:p xmlns:a="http://schemas.openxmlformats.org/drawingml/2006/main">
            <a:r>
              <a:t>the current page, not redaction applied to these screenshots.</a:t>
            </a:r>
          </a:p>
          <a:p xmlns:a="http://schemas.openxmlformats.org/drawingml/2006/main">
            <a:r>
              <a:t/>
            </a:r>
          </a:p>
          <a:p xmlns:a="http://schemas.openxmlformats.org/drawingml/2006/main">
            <a:r>
              <a:t>At this point, no one-time signature for the transaction has been made. The console has built the</a:t>
            </a:r>
          </a:p>
          <a:p xmlns:a="http://schemas.openxmlformats.org/drawingml/2006/main">
            <a:r>
              <a:t>Safe transaction hash and challenge `c` from the displayed fields, chain, seat, Safe and key number.</a:t>
            </a:r>
          </a:p>
          <a:p xmlns:a="http://schemas.openxmlformats.org/drawingml/2006/main">
            <a:r>
              <a:t>It does not accept a precomputed hash supplied by the payer or wallet.</a:t>
            </a:r>
          </a:p>
          <a:p xmlns:a="http://schemas.openxmlformats.org/drawingml/2006/main">
            <a:r>
              <a:t/>
            </a:r>
          </a:p>
          <a:p xmlns:a="http://schemas.openxmlformats.org/drawingml/2006/main">
            <a:r>
              <a:t>### What the passkey method returns</a:t>
            </a:r>
          </a:p>
          <a:p xmlns:a="http://schemas.openxmlformats.org/drawingml/2006/main">
            <a:r>
              <a:t/>
            </a:r>
          </a:p>
          <a:p xmlns:a="http://schemas.openxmlformats.org/drawingml/2006/main">
            <a:r>
              <a:t>The application requests an assertion with two PRF outputs. This is the shape of the request;</a:t>
            </a:r>
          </a:p>
          <a:p xmlns:a="http://schemas.openxmlformats.org/drawingml/2006/main">
            <a:r>
              <a:t>it omits credential selection and byte conversion:</a:t>
            </a:r>
          </a:p>
          <a:p xmlns:a="http://schemas.openxmlformats.org/drawingml/2006/main">
            <a:r>
              <a:t/>
            </a:r>
          </a:p>
          <a:p xmlns:a="http://schemas.openxmlformats.org/drawingml/2006/main">
            <a:r>
              <a:t>```js</a:t>
            </a:r>
          </a:p>
          <a:p xmlns:a="http://schemas.openxmlformats.org/drawingml/2006/main">
            <a:r>
              <a:t>navigator.credentials.get({</a:t>
            </a:r>
          </a:p>
          <a:p xmlns:a="http://schemas.openxmlformats.org/drawingml/2006/main">
            <a:r>
              <a:t>  publicKey: {</a:t>
            </a:r>
          </a:p>
          <a:p xmlns:a="http://schemas.openxmlformats.org/drawingml/2006/main">
            <a:r>
              <a:t>    rpId: siteDomain,</a:t>
            </a:r>
          </a:p>
          <a:p xmlns:a="http://schemas.openxmlformats.org/drawingml/2006/main">
            <a:r>
              <a:t>    challenge: c,</a:t>
            </a:r>
          </a:p>
          <a:p xmlns:a="http://schemas.openxmlformats.org/drawingml/2006/main">
            <a:r>
              <a:t>    userVerification: "required",</a:t>
            </a:r>
          </a:p>
          <a:p xmlns:a="http://schemas.openxmlformats.org/drawingml/2006/main">
            <a:r>
              <a:t>    extensions: {</a:t>
            </a:r>
          </a:p>
          <a:p xmlns:a="http://schemas.openxmlformats.org/drawingml/2006/main">
            <a:r>
              <a:t>      prf: { eval: { first: salt(0), second: salt(1) } }</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The response has two different jobs:</a:t>
            </a:r>
          </a:p>
          <a:p xmlns:a="http://schemas.openxmlformats.org/drawingml/2006/main">
            <a:r>
              <a:t/>
            </a:r>
          </a:p>
          <a:p xmlns:a="http://schemas.openxmlformats.org/drawingml/2006/main">
            <a:r>
              <a:t>1. A WebAuthn P-256 assertion. More precisely, the passkey signs authenticator data plus the</a:t>
            </a:r>
          </a:p>
          <a:p xmlns:a="http://schemas.openxmlformats.org/drawingml/2006/main">
            <a:r>
              <a:t>   SHA-256 hash of the client-data JSON, which contains challenge `c` and the origin. It does not</a:t>
            </a:r>
          </a:p>
          <a:p xmlns:a="http://schemas.openxmlformats.org/drawingml/2006/main">
            <a:r>
              <a:t>   simply sign the raw bytes of `c`.</a:t>
            </a:r>
          </a:p>
          <a:p xmlns:a="http://schemas.openxmlformats.org/drawingml/2006/main">
            <a:r>
              <a:t>2. PRF outputs `seed(0)` and `seed(1)`. These are private one-time signing material returned to the</a:t>
            </a:r>
          </a:p>
          <a:p xmlns:a="http://schemas.openxmlformats.org/drawingml/2006/main">
            <a:r>
              <a:t>   page. They are not the passkey private key, and they are not derived by recovering a secret</a:t>
            </a:r>
          </a:p>
          <a:p xmlns:a="http://schemas.openxmlformats.org/drawingml/2006/main">
            <a:r>
              <a:t>   from its P-256 signature.</a:t>
            </a:r>
          </a:p>
          <a:p xmlns:a="http://schemas.openxmlformats.org/drawingml/2006/main">
            <a:r>
              <a:t/>
            </a:r>
          </a:p>
          <a:p xmlns:a="http://schemas.openxmlformats.org/drawingml/2006/main">
            <a:r>
              <a:t>The console checks the assertion's challenge and user-verification fields. It checks that</a:t>
            </a:r>
          </a:p>
          <a:p xmlns:a="http://schemas.openxmlformats.org/drawingml/2006/main">
            <a:r>
              <a:t>`seed(0)` produces the fingerprint the seat expects. It derives key 1's fingerprint from</a:t>
            </a:r>
          </a:p>
          <a:p xmlns:a="http://schemas.openxmlformats.org/drawingml/2006/main">
            <a:r>
              <a:t>`seed(1)`, builds `m` from `c` and that next fingerprint, and signs `m` with one-time key 0.</a:t>
            </a:r>
          </a:p>
          <a:p xmlns:a="http://schemas.openxmlformats.org/drawingml/2006/main">
            <a:r>
              <a:t>Only the one-time signature binds the next fingerprint in this v1 format; the P-256 challenge</a:t>
            </a:r>
          </a:p>
          <a:p xmlns:a="http://schemas.openxmlformats.org/drawingml/2006/main">
            <a:r>
              <a:t>does not include it. See [the open authorization question](research.md#1-complete-authorization).</a:t>
            </a:r>
          </a:p>
          <a:p xmlns:a="http://schemas.openxmlformats.org/drawingml/2006/main">
            <a:r>
              <a:t/>
            </a:r>
          </a:p>
          <a:p xmlns:a="http://schemas.openxmlformats.org/drawingml/2006/main">
            <a:r>
              <a:t>The console records the signed approval in its ledger before returning it. Key 0 must never sign</a:t>
            </a:r>
          </a:p>
          <a:p xmlns:a="http://schemas.openxmlformats.org/drawingml/2006/main">
            <a:r>
              <a:t>another message, even though the chain still expects key 0 until the approval lands.</a:t>
            </a:r>
          </a:p>
          <a:p xmlns:a="http://schemas.openxmlformats.org/drawingml/2006/main">
            <a:r>
              <a:t>The application does not intentionally save or log seeds. Clearing references is not a proof that</a:t>
            </a:r>
          </a:p>
          <a:p xmlns:a="http://schemas.openxmlformats.org/drawingml/2006/main">
            <a:r>
              <a:t>all copies have been erased from JavaScript or WebAssembly memory.</a:t>
            </a:r>
          </a:p>
          <a:p xmlns:a="http://schemas.openxmlformats.org/drawingml/2006/main">
            <a:r>
              <a:t/>
            </a:r>
          </a:p>
          <a:p xmlns:a="http://schemas.openxmlformats.org/drawingml/2006/main">
            <a:r>
              <a:t>### The signature leaves before the on-chain burn</a:t>
            </a:r>
          </a:p>
          <a:p xmlns:a="http://schemas.openxmlformats.org/drawingml/2006/main">
            <a:r>
              <a:t/>
            </a:r>
          </a:p>
          <a:p xmlns:a="http://schemas.openxmlformats.org/drawingml/2006/main">
            <a:r>
              <a:t>The page sends the completed approval to the RPC for simulation. That call costs no gas and changes</a:t>
            </a:r>
          </a:p>
          <a:p xmlns:a="http://schemas.openxmlformats.org/drawingml/2006/main">
            <a:r>
              <a:t>no chain state, but it is a disclosure to the RPC operator. It includes the one-time signature and</a:t>
            </a:r>
          </a:p>
          <a:p xmlns:a="http://schemas.openxmlformats.org/drawingml/2006/main">
            <a:r>
              <a:t>the P-256 assertion. Anyone with the approval and its public context can compute the 67 one-time</a:t>
            </a:r>
          </a:p>
          <a:p xmlns:a="http://schemas.openxmlformats.org/drawingml/2006/main">
            <a:r>
              <a:t>public-key endpoints.</a:t>
            </a:r>
          </a:p>
          <a:p xmlns:a="http://schemas.openxmlformats.org/drawingml/2006/main">
            <a:r>
              <a:t/>
            </a:r>
          </a:p>
          <a:p xmlns:a="http://schemas.openxmlformats.org/drawingml/2006/main">
            <a:r>
              <a:t>The phone then offers a signed payment link. It contains the signatures, next fingerprint and</a:t>
            </a:r>
          </a:p>
          <a:p xmlns:a="http://schemas.openxmlformats.org/drawingml/2006/main">
            <a:r>
              <a:t>transaction fields, not the seeds. The URL fragment is not sent in the ordinary request for the</a:t>
            </a:r>
          </a:p>
          <a:p xmlns:a="http://schemas.openxmlformats.org/drawingml/2006/main">
            <a:r>
              <a:t>page, but copying it into a message discloses it to the recipient and potentially the messaging</a:t>
            </a:r>
          </a:p>
          <a:p xmlns:a="http://schemas.openxmlformats.org/drawingml/2006/main">
            <a:r>
              <a:t>service. A fragment is not encrypted storage.</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key 0 has signed and is waiting for a payer](screenshots/onboarding/10-phone-signed-link.png) | [![Diagram: Phone: key 0 has signed and is waiting for a payer](infographics/onboarding/10-phone-signed-link.svg)](infographics/onboarding/10-phone-signed-link.svg) |</a:t>
            </a:r>
          </a:p>
          <a:p xmlns:a="http://schemas.openxmlformats.org/drawingml/2006/main">
            <a:r>
              <a:t/>
            </a:r>
          </a:p>
          <a:p xmlns:a="http://schemas.openxmlformats.org/drawingml/2006/main">
            <a:r>
              <a:t>The payer opens that link. Their console computes the hash again from the fields; compare its</a:t>
            </a:r>
          </a:p>
          <a:p xmlns:a="http://schemas.openxmlformats.org/drawingml/2006/main">
            <a:r>
              <a:t>check code with the phone's. The payer's RPC receives the approval for simulation too.</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![Payer: send the approval already signed on the phone](screenshots/onboarding/11-payer-approval.png) | [![Diagram: Payer: send the approval already signed on the phone](infographics/onboarding/11-payer-approval.svg)](infographics/onboarding/11-payer-approval.svg) |</a:t>
            </a:r>
          </a:p>
          <a:p xmlns:a="http://schemas.openxmlformats.org/drawingml/2006/main">
            <a:r>
              <a:t/>
            </a:r>
          </a:p>
          <a:p xmlns:a="http://schemas.openxmlformats.org/drawingml/2006/main">
            <a:r>
              <a:t>Pressing **Send it: one transaction** asks the payer's wallet to send a Multicall3 transaction.</a:t>
            </a:r>
          </a:p>
          <a:p xmlns:a="http://schemas.openxmlformats.org/drawingml/2006/main">
            <a:r>
              <a:t>The wallet pays gas; it does not make the seat's approval. The call approves with the seat and</a:t>
            </a:r>
          </a:p>
          <a:p xmlns:a="http://schemas.openxmlformats.org/drawingml/2006/main">
            <a:r>
              <a:t>tries to execute the Safe transaction.</a:t>
            </a:r>
          </a:p>
          <a:p xmlns:a="http://schemas.openxmlformats.org/drawingml/2006/main">
            <a:r>
              <a:t/>
            </a:r>
          </a:p>
          <a:p xmlns:a="http://schemas.openxmlformats.org/drawingml/2006/main">
            <a:r>
              <a:t>Once the transaction is broadcast, its recipients can read the signatures. Do not assume every</a:t>
            </a:r>
          </a:p>
          <a:p xmlns:a="http://schemas.openxmlformats.org/drawingml/2006/main">
            <a:r>
              <a:t>network has a public mempool or that a private relay keeps transaction data private forever.</a:t>
            </a:r>
          </a:p>
          <a:p xmlns:a="http://schemas.openxmlformats.org/drawingml/2006/main">
            <a:r>
              <a:t>After inclusion, the signatures remain in on-chain transaction data.</a:t>
            </a:r>
          </a:p>
          <a:p xmlns:a="http://schemas.openxmlformats.org/drawingml/2006/main">
            <a:r>
              <a:t/>
            </a:r>
          </a:p>
          <a:p xmlns:a="http://schemas.openxmlformats.org/drawingml/2006/main">
            <a:r>
              <a:t>When `Seat.approve` succeeds, it replaces key 0's fingerprint with key 1's and advances `n` to 1.</a:t>
            </a:r>
          </a:p>
          <a:p xmlns:a="http://schemas.openxmlformats.org/drawingml/2006/main">
            <a:r>
              <a:t>The example's Safe also runs the transfer. The phone sees this and displays the result.</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first approval landed; key 0 is burned on-chain](screenshots/onboarding/12-phone-first-done.png) | [![Diagram: Phone: first approval landed; key 0 is burned on-chain](infographics/onboarding/12-phone-first-done.svg)](infographics/onboarding/12-phone-first-done.svg) |</a:t>
            </a:r>
          </a:p>
          <a:p xmlns:a="http://schemas.openxmlformats.org/drawingml/2006/main">
            <a:r>
              <a:t/>
            </a:r>
          </a:p>
          <a:p xmlns:a="http://schemas.openxmlformats.org/drawingml/2006/main">
            <a:r>
              <a:t>## 7. Two more shielded transactions</a:t>
            </a:r>
          </a:p>
          <a:p xmlns:a="http://schemas.openxmlformats.org/drawingml/2006/main">
            <a:r>
              <a:t/>
            </a:r>
          </a:p>
          <a:p xmlns:a="http://schemas.openxmlformats.org/drawingml/2006/main">
            <a:r>
              <a:t>The same phone remains the signer. The same other browser remains the payer. There is no deployment</a:t>
            </a:r>
          </a:p>
          <a:p xmlns:a="http://schemas.openxmlformats.org/drawingml/2006/main">
            <a:r>
              <a:t>step again. Each new approval gets one passkey assertion and one new pair of PRF outputs.</a:t>
            </a:r>
          </a:p>
          <a:p xmlns:a="http://schemas.openxmlformats.org/drawingml/2006/main">
            <a:r>
              <a:t/>
            </a:r>
          </a:p>
          <a:p xmlns:a="http://schemas.openxmlformats.org/drawingml/2006/main">
            <a:r>
              <a:t>| Example | Safe sends | Key signs | PRF outputs returned to the phone | State after the approval lands |</a:t>
            </a:r>
          </a:p>
          <a:p xmlns:a="http://schemas.openxmlformats.org/drawingml/2006/main">
            <a:r>
              <a:t>|---|---|---|---|---|</a:t>
            </a:r>
          </a:p>
          <a:p xmlns:a="http://schemas.openxmlformats.org/drawingml/2006/main">
            <a:r>
              <a:t>| First | 0.0001 test ETH | 0 | `seed(0)`, `seed(1)` | Seat expects key 1; Safe nonce 1 |</a:t>
            </a:r>
          </a:p>
          <a:p xmlns:a="http://schemas.openxmlformats.org/drawingml/2006/main">
            <a:r>
              <a:t>| Second | 0.0002 test ETH | 1 | `seed(1)`, `seed(2)` | Seat expects key 2; Safe nonce 2 |</a:t>
            </a:r>
          </a:p>
          <a:p xmlns:a="http://schemas.openxmlformats.org/drawingml/2006/main">
            <a:r>
              <a:t>| Third | 0.0001 test ETH | 2 | `seed(2)`, `seed(3)` | Seat expects key 3; Safe nonce 3 |</a:t>
            </a:r>
          </a:p>
          <a:p xmlns:a="http://schemas.openxmlformats.org/drawingml/2006/main">
            <a:r>
              <a:t/>
            </a:r>
          </a:p>
          <a:p xmlns:a="http://schemas.openxmlformats.org/drawingml/2006/main">
            <a:r>
              <a:t>The same method applies at key 27: the console reads `n = 27` from the seat, asks for PRF</a:t>
            </a:r>
          </a:p>
          <a:p xmlns:a="http://schemas.openxmlformats.org/drawingml/2006/main">
            <a:r>
              <a:t>outputs `seed(27)` and `seed(28)`, signs once with key 27, and commits key 28's fingerprint.</a:t>
            </a:r>
          </a:p>
          <a:p xmlns:a="http://schemas.openxmlformats.org/drawingml/2006/main">
            <a:r>
              <a:t>The seat advances to `n = 28` only when that approval lands. `n` is an approval index, not a</a:t>
            </a:r>
          </a:p>
          <a:p xmlns:a="http://schemas.openxmlformats.org/drawingml/2006/main">
            <a:r>
              <a:t>random nonce, and it is separate from the Safe transaction nonce.</a:t>
            </a:r>
          </a:p>
          <a:p xmlns:a="http://schemas.openxmlformats.org/drawingml/2006/main">
            <a:r>
              <a:t/>
            </a:r>
          </a:p>
          <a:p xmlns:a="http://schemas.openxmlformats.org/drawingml/2006/main">
            <a:r>
              <a:t>![Conceptual example: the same passkey method at key 27](infographics/onboarding/key-27.svg)</a:t>
            </a:r>
          </a:p>
          <a:p xmlns:a="http://schemas.openxmlformats.org/drawingml/2006/main">
            <a:r>
              <a:t/>
            </a:r>
          </a:p>
          <a:p xmlns:a="http://schemas.openxmlformats.org/drawingml/2006/main">
            <a:r>
              <a:t>This diagram is a conceptual example, not an additional captured transaction.</a:t>
            </a:r>
          </a:p>
          <a:p xmlns:a="http://schemas.openxmlformats.org/drawingml/2006/main">
            <a:r>
              <a:t/>
            </a:r>
          </a:p>
          <a:p xmlns:a="http://schemas.openxmlformats.org/drawingml/2006/main">
            <a:r>
              <a:t>This illustrates why the seeds are a separate risk: `seed(1)` is returned while approving with</a:t>
            </a:r>
          </a:p>
          <a:p xmlns:a="http://schemas.openxmlformats.org/drawingml/2006/main">
            <a:r>
              <a:t>key 0, then returned again when key 1 signs. The fingerprint of the next key hides its public key</a:t>
            </a:r>
          </a:p>
          <a:p xmlns:a="http://schemas.openxmlformats.org/drawingml/2006/main">
            <a:r>
              <a:t>from the chain; it does not hide that seed from a compromised signing page during the tap.</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second approval landed; key 1 is burned](screenshots/onboarding/14-phone-second-done.png) | [![Diagram: Phone: second approval landed; key 1 is burned](infographics/onboarding/14-phone-second-done.svg)](infographics/onboarding/14-phone-second-done.svg) |</a:t>
            </a:r>
          </a:p>
          <a:p xmlns:a="http://schemas.openxmlformats.org/drawingml/2006/main">
            <a:r>
              <a:t/>
            </a:r>
          </a:p>
          <a:p xmlns:a="http://schemas.openxmlformats.org/drawingml/2006/main">
            <a:r>
              <a:t>For the third example, the payer rejects the wallet's send confirmation. The phone is reloaded.</a:t>
            </a:r>
          </a:p>
          <a:p xmlns:a="http://schemas.openxmlformats.org/drawingml/2006/main">
            <a:r>
              <a:t>It still offers approval 2, already signed. Reloading does not justify another signature or let</a:t>
            </a:r>
          </a:p>
          <a:p xmlns:a="http://schemas.openxmlformats.org/drawingml/2006/main">
            <a:r>
              <a:t>the user change this waiting approval. The payer retries the same approval without another tap</a:t>
            </a:r>
          </a:p>
          <a:p xmlns:a="http://schemas.openxmlformats.org/drawingml/2006/main">
            <a:r>
              <a:t>on the phone.</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the same key 2 approval waits after refusal and reload](screenshots/onboarding/13-phone-waiting-after-refusal.png) | [![Diagram: Phone: the same key 2 approval waits after refusal and reload](infographics/onboarding/13-phone-waiting-after-refusal.svg)](infographics/onboarding/13-phone-waiting-after-refusal.svg) |</a:t>
            </a:r>
          </a:p>
          <a:p xmlns:a="http://schemas.openxmlformats.org/drawingml/2006/main">
            <a:r>
              <a:t/>
            </a:r>
          </a:p>
          <a:p xmlns:a="http://schemas.openxmlformats.org/drawingml/2006/main">
            <a:r>
              <a:t>After the payer accepts the retry, key 2 burns on-chain and the Safe makes the third transfer.</a:t>
            </a:r>
          </a:p>
          <a:p xmlns:a="http://schemas.openxmlformats.org/drawingml/2006/main">
            <a:r>
              <a:t>The three transfers total 0.0004 test ETH. With a starting Safe balance of 0.001, the Safe has</a:t>
            </a:r>
          </a:p>
          <a:p xmlns:a="http://schemas.openxmlformats.org/drawingml/2006/main">
            <a:r>
              <a:t>0.0006 test ETH left in this example. Gas was paid separately by the payer.</a:t>
            </a:r>
          </a:p>
          <a:p xmlns:a="http://schemas.openxmlformats.org/drawingml/2006/main">
            <a:r>
              <a:t/>
            </a:r>
          </a:p>
          <a:p xmlns:a="http://schemas.openxmlformats.org/drawingml/2006/main">
            <a:r>
              <a:t>| What the user sees | What happens behind it |</a:t>
            </a:r>
          </a:p>
          <a:p xmlns:a="http://schemas.openxmlformats.org/drawingml/2006/main">
            <a:r>
              <a:t>|---|---|</a:t>
            </a:r>
          </a:p>
          <a:p xmlns:a="http://schemas.openxmlformats.org/drawingml/2006/main">
            <a:r>
              <a:t>| ![Phone: three approvals in the local ledger](screenshots/onboarding/16-phone-history.png) | [![Diagram: Phone: three approvals in the local ledger](infographics/onboarding/16-phone-history.svg)](infographics/onboarding/16-phone-history.svg) |</a:t>
            </a:r>
          </a:p>
          <a:p xmlns:a="http://schemas.openxmlformats.org/drawingml/2006/main">
            <a:r>
              <a:t/>
            </a:r>
          </a:p>
          <a:p xmlns:a="http://schemas.openxmlformats.org/drawingml/2006/main">
            <a:r>
              <a:t>A landed approval and a successful Safe execution are separate outcomes. The implementation can</a:t>
            </a:r>
          </a:p>
          <a:p xmlns:a="http://schemas.openxmlformats.org/drawingml/2006/main">
            <a:r>
              <a:t>burn the key and keep the seat's vote even if Safe execution fails. A payer's successful receipt</a:t>
            </a:r>
          </a:p>
          <a:p xmlns:a="http://schemas.openxmlformats.org/drawingml/2006/main">
            <a:r>
              <a:t>alone does not establish that the transfer ran. Check the page's execution result and Safe nonce.</a:t>
            </a:r>
          </a:p>
          <a:p xmlns:a="http://schemas.openxmlformats.org/drawingml/2006/main">
            <a:r>
              <a:t>The screenshots above show successful executions; the refusal did not land until retried.</a:t>
            </a:r>
          </a:p>
          <a:p xmlns:a="http://schemas.openxmlformats.org/drawingml/2006/main">
            <a:r>
              <a:t/>
            </a:r>
          </a:p>
          <a:p xmlns:a="http://schemas.openxmlformats.org/drawingml/2006/main">
            <a:r>
              <a:t>## Where the theoretical exposures are</a:t>
            </a:r>
          </a:p>
          <a:p xmlns:a="http://schemas.openxmlformats.org/drawingml/2006/main">
            <a:r>
              <a:t/>
            </a:r>
          </a:p>
          <a:p xmlns:a="http://schemas.openxmlformats.org/drawingml/2006/main">
            <a:r>
              <a:t>| Place or moment | What is exposed | What that means |</a:t>
            </a:r>
          </a:p>
          <a:p xmlns:a="http://schemas.openxmlformats.org/drawingml/2006/main">
            <a:r>
              <a:t>|---|---|---|</a:t>
            </a:r>
          </a:p>
          <a:p xmlns:a="http://schemas.openxmlformats.org/drawingml/2006/main">
            <a:r>
              <a:t>| Signing page after a PRF call | Current and, for an approval, next seeds; assertion; then the completed approval | Malware with access to this memory can steal private one-time material. This exceeds the intended public-signature exposure. |</a:t>
            </a:r>
          </a:p>
          <a:p xmlns:a="http://schemas.openxmlformats.org/drawingml/2006/main">
            <a:r>
              <a:t>| First-key setup | `seed(0)` briefly reaches the page | Seed exposure can precede any transaction approval. |</a:t>
            </a:r>
          </a:p>
          <a:p xmlns:a="http://schemas.openxmlformats.org/drawingml/2006/main">
            <a:r>
              <a:t>| Simulation RPC | Completed approval and transaction details | Gas-free does not mean private. The one-time public key can be computed before the burn lands. |</a:t>
            </a:r>
          </a:p>
          <a:p xmlns:a="http://schemas.openxmlformats.org/drawingml/2006/main">
            <a:r>
              <a:t>| Copied approval link, messaging service, payer or hypothetical relayer | Completed approval, transaction fields and next fingerprint | They can submit the existing approval. They do not receive seeds through the intended link format. No relayer service is built here. |</a:t>
            </a:r>
          </a:p>
          <a:p xmlns:a="http://schemas.openxmlformats.org/drawingml/2006/main">
            <a:r>
              <a:t>| Payer wallet and its transaction infrastructure | Calls and signatures submitted for broadcast | The approval is visible before inclusion. A compromised payer cannot be assumed to keep it private. |</a:t>
            </a:r>
          </a:p>
          <a:p xmlns:a="http://schemas.openxmlformats.org/drawingml/2006/main">
            <a:r>
              <a:t>| Included transaction | Signatures and transaction fields, permanently | The old key is retired on-chain if the approval succeeds. Only the next key's fingerprint is committed. |</a:t>
            </a:r>
          </a:p>
          <a:p xmlns:a="http://schemas.openxmlformats.org/drawingml/2006/main">
            <a:r>
              <a:t>| Cleared ledger or a second signing browser | The console can lose knowledge of an already disclosed signature | A second signature with the same one-time key can reveal more chain positions and enable forgery attempts. Reuse breaks the design's assumption. |</a:t>
            </a:r>
          </a:p>
          <a:p xmlns:a="http://schemas.openxmlformats.org/drawingml/2006/main">
            <a:r>
              <a:t>| Compromised OS, authenticator or synced credential account | Depends on what the attacker controls | An attacker may invoke the passkey or capture outputs. The application does not protect a compromised signing environment. |</a:t>
            </a:r>
          </a:p>
          <a:p xmlns:a="http://schemas.openxmlformats.org/drawingml/2006/main">
            <a:r>
              <a:t/>
            </a:r>
          </a:p>
          <a:p xmlns:a="http://schemas.openxmlformats.org/drawingml/2006/main">
            <a:r>
              <a:t>There is no built-in expiry on the signed approval. Time between disclosure and inclusion can be</a:t>
            </a:r>
          </a:p>
          <a:p xmlns:a="http://schemas.openxmlformats.org/drawingml/2006/main">
            <a:r>
              <a:t>long, especially when a link is sent to another person. The console treats the key as used for</a:t>
            </a:r>
          </a:p>
          <a:p xmlns:a="http://schemas.openxmlformats.org/drawingml/2006/main">
            <a:r>
              <a:t>signing immediately; the seat retires it only when the approval lands. Keep the signing browser's</a:t>
            </a:r>
          </a:p>
          <a:p xmlns:a="http://schemas.openxmlformats.org/drawingml/2006/main">
            <a:r>
              <a:t>ledger, use one signing browser per seat, and resend the same waiting approval.</a:t>
            </a:r>
          </a:p>
          <a:p xmlns:a="http://schemas.openxmlformats.org/drawingml/2006/main">
            <a:r>
              <a:t/>
            </a:r>
          </a:p>
          <a:p xmlns:a="http://schemas.openxmlformats.org/drawingml/2006/main">
            <a:r>
              <a:t>Revealing a public key is not ordinary private-key extraction. The theoretical curve-breaking</a:t>
            </a:r>
          </a:p>
          <a:p xmlns:a="http://schemas.openxmlformats.org/drawingml/2006/main">
            <a:r>
              <a:t>scenario concerns public curve keys; the passkey's P-256 public key is already public after its</a:t>
            </a:r>
          </a:p>
          <a:p xmlns:a="http://schemas.openxmlformats.org/drawingml/2006/main">
            <a:r>
              <a:t>signer is deployed. The one-time half is intended to require an additional hash-based signature.</a:t>
            </a:r>
          </a:p>
          <a:p xmlns:a="http://schemas.openxmlformats.org/drawingml/2006/main">
            <a:r>
              <a:t>It does not make the signing page trustworthy, and it does not protect the gas wallet's funds.</a:t>
            </a:r>
          </a:p>
          <a:p xmlns:a="http://schemas.openxmlformats.org/drawingml/2006/main">
            <a:r>
              <a:t/>
            </a:r>
          </a:p>
          <a:p xmlns:a="http://schemas.openxmlformats.org/drawingml/2006/main">
            <a:r>
              <a:t>## Sources and limits</a:t>
            </a:r>
          </a:p>
          <a:p xmlns:a="http://schemas.openxmlformats.org/drawingml/2006/main">
            <a:r>
              <a:t/>
            </a:r>
          </a:p>
          <a:p xmlns:a="http://schemas.openxmlformats.org/drawingml/2006/main">
            <a:r>
              <a:t>This walkthrough was checked against [passkey methods](../site/src/passkey.mjs),</a:t>
            </a:r>
          </a:p>
          <a:p xmlns:a="http://schemas.openxmlformats.org/drawingml/2006/main">
            <a:r>
              <a:t>[console signing and the ledger](../console/core.py), [the page's signing and simulation order](../site/src/main.mjs),</a:t>
            </a:r>
          </a:p>
          <a:p xmlns:a="http://schemas.openxmlformats.org/drawingml/2006/main">
            <a:r>
              <a:t>[payment links](../site/src/pay.mjs), [one-time key derivation](../reference/python/sign_and_burn.py),</a:t>
            </a:r>
          </a:p>
          <a:p xmlns:a="http://schemas.openxmlformats.org/drawingml/2006/main">
            <a:r>
              <a:t>and [the seat's checks and rotation](../contracts/src/Seat.sol).</a:t>
            </a:r>
          </a:p>
          <a:p xmlns:a="http://schemas.openxmlformats.org/drawingml/2006/main">
            <a:r>
              <a:t>The capture run checked one passkey assertion per fresh approval, three Safe executions,</a:t>
            </a:r>
          </a:p>
          <a:p xmlns:a="http://schemas.openxmlformats.org/drawingml/2006/main">
            <a:r>
              <a:t>key-number advances, and the same approval surviving refusal and reload. The native prompts,</a:t>
            </a:r>
          </a:p>
          <a:p xmlns:a="http://schemas.openxmlformats.org/drawingml/2006/main">
            <a:r>
              <a:t>real phone PRF support, a live MetaMask session and a real second-device flow were not tested here.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14b840505f4f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6818d672b54c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a406d269c244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4ed456662a46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bb239199d54c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a9d77c468f41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382B18-CB2C-4A9F-868B-1D93DC4760A4}"/>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2707F8-D90F-445A-BE8D-CFF63EF0EC3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133326-25F9-4AAB-A680-50A316A94EE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0E2353-B915-47B5-9C73-96B223CAA63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15ABD9-B37E-4919-A9B1-C68EFA131B3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D54FF8-340C-4EF2-B831-BB8978EA464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FFF17E-B95F-40E9-B1CF-78B817D7DCD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DB2B31-05CB-4540-834B-86C6D9A10DE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E6F0CA-A111-4839-97C5-54227C9B59D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E6301B-2944-48EA-85DC-803B0B988B1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1e56f8146e4527" /><Relationship Type="http://schemas.openxmlformats.org/officeDocument/2006/relationships/slideLayout" Target="/ppt/slideLayouts/slideLayout1.xml" Id="R69a4401938224733" /><Relationship Type="http://schemas.openxmlformats.org/officeDocument/2006/relationships/slideLayout" Target="/ppt/slideLayouts/slideLayout2.xml" Id="Rafe3444e9b364606" /><Relationship Type="http://schemas.openxmlformats.org/officeDocument/2006/relationships/slideLayout" Target="/ppt/slideLayouts/slideLayout3.xml" Id="R5a2da6fa83454471" /><Relationship Type="http://schemas.openxmlformats.org/officeDocument/2006/relationships/slideLayout" Target="/ppt/slideLayouts/slideLayout4.xml" Id="R61701756025a4005" /><Relationship Type="http://schemas.openxmlformats.org/officeDocument/2006/relationships/slideLayout" Target="/ppt/slideLayouts/slideLayout5.xml" Id="Rab8719be99b74d5a" /><Relationship Type="http://schemas.openxmlformats.org/officeDocument/2006/relationships/slideLayout" Target="/ppt/slideLayouts/slideLayout6.xml" Id="R37638dd4220a41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a4401938224733"/>
    <p:sldLayoutId xmlns:r="http://schemas.openxmlformats.org/officeDocument/2006/relationships" id="2147483650" r:id="Rafe3444e9b364606"/>
    <p:sldLayoutId xmlns:r="http://schemas.openxmlformats.org/officeDocument/2006/relationships" id="2147483651" r:id="R5a2da6fa83454471"/>
    <p:sldLayoutId xmlns:r="http://schemas.openxmlformats.org/officeDocument/2006/relationships" id="2147483652" r:id="R61701756025a4005"/>
    <p:sldLayoutId xmlns:r="http://schemas.openxmlformats.org/officeDocument/2006/relationships" id="2147483653" r:id="Rab8719be99b74d5a"/>
    <p:sldLayoutId xmlns:r="http://schemas.openxmlformats.org/officeDocument/2006/relationships" id="2147483654" r:id="R37638dd4220a41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ee3a3cde714612" /><Relationship Type="http://schemas.openxmlformats.org/officeDocument/2006/relationships/notesSlide" Target="/ppt/notesSlides/notesSlide1.xml" Id="Rc63698325c8f48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a2caba0c274c4d" /><Relationship Type="http://schemas.openxmlformats.org/officeDocument/2006/relationships/notesSlide" Target="/ppt/notesSlides/notesSlide2.xml" Id="Rdf53a5e49fe648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ddface93364158" /><Relationship Type="http://schemas.openxmlformats.org/officeDocument/2006/relationships/notesSlide" Target="/ppt/notesSlides/notesSlide3.xml" Id="R0a76ae966aa340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3952e156654b07" /><Relationship Type="http://schemas.openxmlformats.org/officeDocument/2006/relationships/notesSlide" Target="/ppt/notesSlides/notesSlide4.xml" Id="R7b93ad7fd7e349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28a9cfaeff4733" /><Relationship Type="http://schemas.openxmlformats.org/officeDocument/2006/relationships/notesSlide" Target="/ppt/notesSlides/notesSlide5.xml" Id="R8246b95ffd9041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81033fec934a59" /><Relationship Type="http://schemas.openxmlformats.org/officeDocument/2006/relationships/notesSlide" Target="/ppt/notesSlides/notesSlide6.xml" Id="R6e4417031b0e4b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abad6122e84b30" /><Relationship Type="http://schemas.openxmlformats.org/officeDocument/2006/relationships/notesSlide" Target="/ppt/notesSlides/notesSlide7.xml" Id="R5f836ff921ed4f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b4b0a3fb55e4d6f" /><Relationship Type="http://schemas.openxmlformats.org/officeDocument/2006/relationships/notesSlide" Target="/ppt/notesSlides/notesSlide8.xml" Id="Rd1a730c87bd249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89fe8feb4fb4ab2" /><Relationship Type="http://schemas.openxmlformats.org/officeDocument/2006/relationships/notesSlide" Target="/ppt/notesSlides/notesSlide9.xml" Id="R57cc938b860d4f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9c75392aff4a5a" /><Relationship Type="http://schemas.openxmlformats.org/officeDocument/2006/relationships/notesSlide" Target="/ppt/notesSlides/notesSlide10.xml" Id="R07865bd651be4aa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b8c2140d0d4b4a" /><Relationship Type="http://schemas.openxmlformats.org/officeDocument/2006/relationships/image" Target="/ppt/media/image.png" Id="R6be3d15d3bfc429f" /><Relationship Type="http://schemas.openxmlformats.org/officeDocument/2006/relationships/image" Target="/ppt/media/image2.png" Id="Re059603c894a455e" /><Relationship Type="http://schemas.openxmlformats.org/officeDocument/2006/relationships/notesSlide" Target="/ppt/notesSlides/notesSlide11.xml" Id="R9736aab890e140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c154c9613542d9" /><Relationship Type="http://schemas.openxmlformats.org/officeDocument/2006/relationships/notesSlide" Target="/ppt/notesSlides/notesSlide12.xml" Id="R092187836f8945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201191c4c3b4ef2" /><Relationship Type="http://schemas.openxmlformats.org/officeDocument/2006/relationships/notesSlide" Target="/ppt/notesSlides/notesSlide13.xml" Id="R6e509c62167840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063a92fcfd44e7" /><Relationship Type="http://schemas.openxmlformats.org/officeDocument/2006/relationships/image" Target="/ppt/media/image3.png" Id="R3a1f29ec466446c9" /><Relationship Type="http://schemas.openxmlformats.org/officeDocument/2006/relationships/image" Target="/ppt/media/image4.png" Id="Rb60a2b62b1134cf2" /><Relationship Type="http://schemas.openxmlformats.org/officeDocument/2006/relationships/notesSlide" Target="/ppt/notesSlides/notesSlide14.xml" Id="R25cbeeec002d40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a48ca83a51d4ccf" /><Relationship Type="http://schemas.openxmlformats.org/officeDocument/2006/relationships/notesSlide" Target="/ppt/notesSlides/notesSlide15.xml" Id="R4cceac96aea84b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ab575e7f6b4ccf" /><Relationship Type="http://schemas.openxmlformats.org/officeDocument/2006/relationships/notesSlide" Target="/ppt/notesSlides/notesSlide16.xml" Id="R12b2b0b375444a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514daa300774700" /><Relationship Type="http://schemas.openxmlformats.org/officeDocument/2006/relationships/image" Target="/ppt/media/image5.png" Id="R2b45c6acd39a4b4c" /><Relationship Type="http://schemas.openxmlformats.org/officeDocument/2006/relationships/image" Target="/ppt/media/image6.png" Id="Rf46496318af840a6" /><Relationship Type="http://schemas.openxmlformats.org/officeDocument/2006/relationships/notesSlide" Target="/ppt/notesSlides/notesSlide17.xml" Id="Rf5a7963dc5fa4a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bf7d7256d144087" /><Relationship Type="http://schemas.openxmlformats.org/officeDocument/2006/relationships/notesSlide" Target="/ppt/notesSlides/notesSlide18.xml" Id="Rff3232b5c5c545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8d0e5a802c5492c" /><Relationship Type="http://schemas.openxmlformats.org/officeDocument/2006/relationships/notesSlide" Target="/ppt/notesSlides/notesSlide19.xml" Id="Ra3ba798c0ea7437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842558dd5504df2" /><Relationship Type="http://schemas.openxmlformats.org/officeDocument/2006/relationships/image" Target="/ppt/media/image7.png" Id="R74ee103e44ce4813" /><Relationship Type="http://schemas.openxmlformats.org/officeDocument/2006/relationships/image" Target="/ppt/media/image8.png" Id="Rdd3b7ced71fa4552" /><Relationship Type="http://schemas.openxmlformats.org/officeDocument/2006/relationships/notesSlide" Target="/ppt/notesSlides/notesSlide20.xml" Id="R833c8ba8398943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28d78633f674381" /><Relationship Type="http://schemas.openxmlformats.org/officeDocument/2006/relationships/notesSlide" Target="/ppt/notesSlides/notesSlide21.xml" Id="R5005d0f7b79846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7825ad5eabb4020" /><Relationship Type="http://schemas.openxmlformats.org/officeDocument/2006/relationships/image" Target="/ppt/media/image9.png" Id="R3c214d7c26114f5a" /><Relationship Type="http://schemas.openxmlformats.org/officeDocument/2006/relationships/image" Target="/ppt/media/image10.png" Id="R14d50cc416424efb" /><Relationship Type="http://schemas.openxmlformats.org/officeDocument/2006/relationships/notesSlide" Target="/ppt/notesSlides/notesSlide22.xml" Id="R4f3fbadd6a6447c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4b7d107d4014089" /><Relationship Type="http://schemas.openxmlformats.org/officeDocument/2006/relationships/notesSlide" Target="/ppt/notesSlides/notesSlide23.xml" Id="R2dc869fb71b14b9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55b17787adb41ce" /><Relationship Type="http://schemas.openxmlformats.org/officeDocument/2006/relationships/image" Target="/ppt/media/image11.png" Id="R76a08c3f0eb5406b" /><Relationship Type="http://schemas.openxmlformats.org/officeDocument/2006/relationships/image" Target="/ppt/media/image12.png" Id="Rcc6a54920ead41c7" /><Relationship Type="http://schemas.openxmlformats.org/officeDocument/2006/relationships/notesSlide" Target="/ppt/notesSlides/notesSlide24.xml" Id="Re05caeafa7eb49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dbd8462673e4f4b" /><Relationship Type="http://schemas.openxmlformats.org/officeDocument/2006/relationships/notesSlide" Target="/ppt/notesSlides/notesSlide25.xml" Id="R7bf911d2d4c64f2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2e7b512aaf94b7a" /><Relationship Type="http://schemas.openxmlformats.org/officeDocument/2006/relationships/notesSlide" Target="/ppt/notesSlides/notesSlide26.xml" Id="R7e4e90c9cdfc407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15daa2ef9064210" /><Relationship Type="http://schemas.openxmlformats.org/officeDocument/2006/relationships/image" Target="/ppt/media/image13.png" Id="R99f3e5e6495e4847" /><Relationship Type="http://schemas.openxmlformats.org/officeDocument/2006/relationships/image" Target="/ppt/media/image14.png" Id="Ra1850e5f38fb4382" /><Relationship Type="http://schemas.openxmlformats.org/officeDocument/2006/relationships/notesSlide" Target="/ppt/notesSlides/notesSlide27.xml" Id="Rcbe4c35e4c1e477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aa059e6d7464416" /><Relationship Type="http://schemas.openxmlformats.org/officeDocument/2006/relationships/notesSlide" Target="/ppt/notesSlides/notesSlide28.xml" Id="Re0499ba5fd24442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715ab49fd6a4a97" /><Relationship Type="http://schemas.openxmlformats.org/officeDocument/2006/relationships/notesSlide" Target="/ppt/notesSlides/notesSlide29.xml" Id="Rd23f0fbffd17427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96406eefb634951" /><Relationship Type="http://schemas.openxmlformats.org/officeDocument/2006/relationships/image" Target="/ppt/media/image15.png" Id="R6c3d98a7424e4cd5" /><Relationship Type="http://schemas.openxmlformats.org/officeDocument/2006/relationships/image" Target="/ppt/media/image16.png" Id="R216f019dd2b54316" /><Relationship Type="http://schemas.openxmlformats.org/officeDocument/2006/relationships/notesSlide" Target="/ppt/notesSlides/notesSlide30.xml" Id="R9e89fc1fd7674f3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935db94ecdc4d57" /><Relationship Type="http://schemas.openxmlformats.org/officeDocument/2006/relationships/notesSlide" Target="/ppt/notesSlides/notesSlide31.xml" Id="R6dd5cf84d8dc46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535fe9e2fd74921" /><Relationship Type="http://schemas.openxmlformats.org/officeDocument/2006/relationships/notesSlide" Target="/ppt/notesSlides/notesSlide32.xml" Id="Rbe39f51d0c1b49e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b793848e4a741e3" /><Relationship Type="http://schemas.openxmlformats.org/officeDocument/2006/relationships/notesSlide" Target="/ppt/notesSlides/notesSlide33.xml" Id="Re9f4ff65288543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b8359b99de44635" /><Relationship Type="http://schemas.openxmlformats.org/officeDocument/2006/relationships/notesSlide" Target="/ppt/notesSlides/notesSlide34.xml" Id="Rdaa5ec453c2446c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ee10cbde9334c2f" /><Relationship Type="http://schemas.openxmlformats.org/officeDocument/2006/relationships/notesSlide" Target="/ppt/notesSlides/notesSlide35.xml" Id="Rb73eff6ca99c438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d82b1fc8a4a4638" /><Relationship Type="http://schemas.openxmlformats.org/officeDocument/2006/relationships/image" Target="/ppt/media/image17.png" Id="R0a8fd5f8c1a04161" /><Relationship Type="http://schemas.openxmlformats.org/officeDocument/2006/relationships/image" Target="/ppt/media/image18.png" Id="Raf867ebc9bc84335" /><Relationship Type="http://schemas.openxmlformats.org/officeDocument/2006/relationships/notesSlide" Target="/ppt/notesSlides/notesSlide36.xml" Id="R1d83a5f243dd412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486494f42b84c36" /><Relationship Type="http://schemas.openxmlformats.org/officeDocument/2006/relationships/notesSlide" Target="/ppt/notesSlides/notesSlide37.xml" Id="R23e29e6e233c44f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6f316b9d56644f4" /><Relationship Type="http://schemas.openxmlformats.org/officeDocument/2006/relationships/image" Target="/ppt/media/image19.png" Id="R000c12939d8749f7" /><Relationship Type="http://schemas.openxmlformats.org/officeDocument/2006/relationships/image" Target="/ppt/media/image20.png" Id="R106025a0817a4a5b" /><Relationship Type="http://schemas.openxmlformats.org/officeDocument/2006/relationships/notesSlide" Target="/ppt/notesSlides/notesSlide38.xml" Id="R927841f0d28845a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f0417b165f14ecd" /><Relationship Type="http://schemas.openxmlformats.org/officeDocument/2006/relationships/notesSlide" Target="/ppt/notesSlides/notesSlide39.xml" Id="R69466b2ed0fa48c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0b030472cac42e2" /><Relationship Type="http://schemas.openxmlformats.org/officeDocument/2006/relationships/image" Target="/ppt/media/image21.png" Id="R69e86a225af24eff" /><Relationship Type="http://schemas.openxmlformats.org/officeDocument/2006/relationships/image" Target="/ppt/media/image22.png" Id="Rbc5f233a9d7e4859" /><Relationship Type="http://schemas.openxmlformats.org/officeDocument/2006/relationships/notesSlide" Target="/ppt/notesSlides/notesSlide40.xml" Id="R581116e6b8a746f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50366b014ec4857" /><Relationship Type="http://schemas.openxmlformats.org/officeDocument/2006/relationships/notesSlide" Target="/ppt/notesSlides/notesSlide41.xml" Id="R3c8caeee1a9340b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c7fd0df7b624f83" /><Relationship Type="http://schemas.openxmlformats.org/officeDocument/2006/relationships/notesSlide" Target="/ppt/notesSlides/notesSlide42.xml" Id="R574e1b6034c9430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5c783470c204f0a" /><Relationship Type="http://schemas.openxmlformats.org/officeDocument/2006/relationships/notesSlide" Target="/ppt/notesSlides/notesSlide43.xml" Id="Rf5c2b0f101f74b4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ee384667bc24da5" /><Relationship Type="http://schemas.openxmlformats.org/officeDocument/2006/relationships/image" Target="/ppt/media/image23.png" Id="R160f0fed898d405c" /><Relationship Type="http://schemas.openxmlformats.org/officeDocument/2006/relationships/notesSlide" Target="/ppt/notesSlides/notesSlide44.xml" Id="R74ed9a8a25f24b9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fdc1c89b1494ba4" /><Relationship Type="http://schemas.openxmlformats.org/officeDocument/2006/relationships/notesSlide" Target="/ppt/notesSlides/notesSlide45.xml" Id="R65775bfb55e74a2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6dc9ddedb7248c9" /><Relationship Type="http://schemas.openxmlformats.org/officeDocument/2006/relationships/image" Target="/ppt/media/image24.png" Id="R3c60c28baf9645e5" /><Relationship Type="http://schemas.openxmlformats.org/officeDocument/2006/relationships/image" Target="/ppt/media/image25.png" Id="Rb07472b9558a4c85" /><Relationship Type="http://schemas.openxmlformats.org/officeDocument/2006/relationships/notesSlide" Target="/ppt/notesSlides/notesSlide46.xml" Id="Rb4a6addfd34c481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47d1f9d265b466b" /><Relationship Type="http://schemas.openxmlformats.org/officeDocument/2006/relationships/notesSlide" Target="/ppt/notesSlides/notesSlide47.xml" Id="Re0540954072c4fe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edcb80884524d78" /><Relationship Type="http://schemas.openxmlformats.org/officeDocument/2006/relationships/image" Target="/ppt/media/image26.png" Id="Rdcfebd5ad4f74c3f" /><Relationship Type="http://schemas.openxmlformats.org/officeDocument/2006/relationships/image" Target="/ppt/media/image27.png" Id="Rbf71359d42424cd3" /><Relationship Type="http://schemas.openxmlformats.org/officeDocument/2006/relationships/notesSlide" Target="/ppt/notesSlides/notesSlide48.xml" Id="R91e0e6dfa0b044f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7d42951cbf9d44bd" /><Relationship Type="http://schemas.openxmlformats.org/officeDocument/2006/relationships/notesSlide" Target="/ppt/notesSlides/notesSlide49.xml" Id="Rf475a0a998c5419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be07895cfed54063" /><Relationship Type="http://schemas.openxmlformats.org/officeDocument/2006/relationships/image" Target="/ppt/media/image28.png" Id="R371ce6038ff148d5" /><Relationship Type="http://schemas.openxmlformats.org/officeDocument/2006/relationships/image" Target="/ppt/media/image29.png" Id="R9121b269cc4b4f7b" /><Relationship Type="http://schemas.openxmlformats.org/officeDocument/2006/relationships/notesSlide" Target="/ppt/notesSlides/notesSlide50.xml" Id="R349c2d6467904cb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b666bbdc33f4500" /><Relationship Type="http://schemas.openxmlformats.org/officeDocument/2006/relationships/notesSlide" Target="/ppt/notesSlides/notesSlide51.xml" Id="R102df328fb704ae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4cb7e5a767db47cb" /><Relationship Type="http://schemas.openxmlformats.org/officeDocument/2006/relationships/notesSlide" Target="/ppt/notesSlides/notesSlide52.xml" Id="R58d986190c144cd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83af029afd5344d7" /><Relationship Type="http://schemas.openxmlformats.org/officeDocument/2006/relationships/notesSlide" Target="/ppt/notesSlides/notesSlide53.xml" Id="R387f7b6a5a55481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a684704715334f65" /><Relationship Type="http://schemas.openxmlformats.org/officeDocument/2006/relationships/notesSlide" Target="/ppt/notesSlides/notesSlide54.xml" Id="R83aa91e246ca4a1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0d3cafb5adb046cf" /><Relationship Type="http://schemas.openxmlformats.org/officeDocument/2006/relationships/notesSlide" Target="/ppt/notesSlides/notesSlide55.xml" Id="Rc36377bfc9314b28" /></Relationships>
</file>

<file path=ppt/slides/slide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EDBFBD-A15E-4C8B-AF39-E25783E21421}"/>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A phone signs; another wallet pays</a:t>
            </a:r>
          </a:p>
        </p:txBody>
      </p:sp>
      <p:sp>
        <p:nvSpPr>
          <p:cNvPr id="2" name="">
            <a:extLst xmlns:a="http://schemas.openxmlformats.org/drawingml/2006/main">
              <a:ext uri="{FF2B5EF4-FFF2-40B4-BE49-F238E27FC236}">
                <a16:creationId xmlns:a16="http://schemas.microsoft.com/office/drawing/2014/main" id="{F2FEE4DB-6AA0-4175-81A7-0AE631930A1A}"/>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B2B6768-8BF2-4AA6-96CA-7C9E82B86E0C}"/>
              </a:ext>
            </a:extLst>
          </p:cNvPr>
          <p:cNvSpPr>
            <a:spLocks xmlns:a="http://schemas.openxmlformats.org/drawingml/2006/main" noGrp="1"/>
          </p:cNvSpPr>
          <p:nvPr/>
        </p:nvSpPr>
        <p:spPr>
          <a:xfrm xmlns:a="http://schemas.openxmlformats.org/drawingml/2006/main">
            <a:off x="666750" y="2190750"/>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D65C44"/>
                </a:solidFill>
                <a:latin typeface="Arial"/>
                <a:ea typeface="Arial"/>
                <a:cs typeface="Arial"/>
              </a:defRPr>
            </a:defPPr>
          </a:lstStyle>
          <a:p xmlns:a="http://schemas.openxmlformats.org/drawingml/2006/main">
            <a:pPr>
              <a:defRPr sz="5700" b="1">
                <a:solidFill>
                  <a:srgbClr val="D65C44"/>
                </a:solidFill>
                <a:latin typeface="Arial"/>
                <a:ea typeface="Arial"/>
                <a:cs typeface="Arial"/>
              </a:defRPr>
            </a:pPr>
            <a:r>
              <a:rPr sz="5700" b="1">
                <a:solidFill>
                  <a:srgbClr val="D65C44"/>
                </a:solidFill>
                <a:latin typeface="Arial"/>
                <a:ea typeface="Arial"/>
                <a:cs typeface="Arial"/>
              </a:rPr>
              <a:t>Sign and Burn</a:t>
            </a:r>
          </a:p>
        </p:txBody>
      </p:sp>
      <p:sp>
        <p:nvSpPr>
          <p:cNvPr id="4" name="">
            <a:extLst xmlns:a="http://schemas.openxmlformats.org/drawingml/2006/main">
              <a:ext uri="{FF2B5EF4-FFF2-40B4-BE49-F238E27FC236}">
                <a16:creationId xmlns:a16="http://schemas.microsoft.com/office/drawing/2014/main" id="{6D611052-452C-466A-A6AA-2775DF2BE46E}"/>
              </a:ext>
            </a:extLst>
          </p:cNvPr>
          <p:cNvSpPr>
            <a:spLocks xmlns:a="http://schemas.openxmlformats.org/drawingml/2006/main" noGrp="1"/>
          </p:cNvSpPr>
          <p:nvPr/>
        </p:nvSpPr>
        <p:spPr>
          <a:xfrm xmlns:a="http://schemas.openxmlformats.org/drawingml/2006/main">
            <a:off x="666750" y="3476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20314B"/>
                </a:solidFill>
                <a:latin typeface="Arial"/>
                <a:ea typeface="Arial"/>
                <a:cs typeface="Arial"/>
              </a:defRPr>
            </a:defPPr>
          </a:lstStyle>
          <a:p xmlns:a="http://schemas.openxmlformats.org/drawingml/2006/main">
            <a:pPr>
              <a:defRPr sz="3900" b="1">
                <a:solidFill>
                  <a:srgbClr val="20314B"/>
                </a:solidFill>
                <a:latin typeface="Arial"/>
                <a:ea typeface="Arial"/>
                <a:cs typeface="Arial"/>
              </a:defRPr>
            </a:pPr>
            <a:r>
              <a:rPr sz="3900" b="1">
                <a:solidFill>
                  <a:srgbClr val="20314B"/>
                </a:solidFill>
                <a:latin typeface="Arial"/>
                <a:ea typeface="Arial"/>
                <a:cs typeface="Arial"/>
              </a:rPr>
              <a:t>Onboarding and three shielded transactions</a:t>
            </a:r>
          </a:p>
        </p:txBody>
      </p:sp>
      <p:sp>
        <p:nvSpPr>
          <p:cNvPr id="5" name="">
            <a:extLst xmlns:a="http://schemas.openxmlformats.org/drawingml/2006/main">
              <a:ext uri="{FF2B5EF4-FFF2-40B4-BE49-F238E27FC236}">
                <a16:creationId xmlns:a16="http://schemas.microsoft.com/office/drawing/2014/main" id="{3553B6CA-E589-401A-9459-DD11212BAE20}"/>
              </a:ext>
            </a:extLst>
          </p:cNvPr>
          <p:cNvSpPr>
            <a:spLocks xmlns:a="http://schemas.openxmlformats.org/drawingml/2006/main" noGrp="1"/>
          </p:cNvSpPr>
          <p:nvPr/>
        </p:nvSpPr>
        <p:spPr>
          <a:xfrm xmlns:a="http://schemas.openxmlformats.org/drawingml/2006/main">
            <a:off x="666750" y="5048250"/>
            <a:ext cx="1619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20314B"/>
                </a:solidFill>
                <a:latin typeface="Arial"/>
                <a:ea typeface="Arial"/>
                <a:cs typeface="Arial"/>
              </a:defRPr>
            </a:defPPr>
          </a:lstStyle>
          <a:p xmlns:a="http://schemas.openxmlformats.org/drawingml/2006/main">
            <a:pPr>
              <a:defRPr sz="2850" b="0">
                <a:solidFill>
                  <a:srgbClr val="20314B"/>
                </a:solidFill>
                <a:latin typeface="Arial"/>
                <a:ea typeface="Arial"/>
                <a:cs typeface="Arial"/>
              </a:defRPr>
            </a:pPr>
            <a:r>
              <a:rPr sz="2850" b="0">
                <a:solidFill>
                  <a:srgbClr val="20314B"/>
                </a:solidFill>
                <a:latin typeface="Arial"/>
                <a:ea typeface="Arial"/>
                <a:cs typeface="Arial"/>
              </a:rPr>
              <a:t>A signing browser holds passkey access and the console ledger.</a:t>
            </a:r>
          </a:p>
          <a:p xmlns:a="http://schemas.openxmlformats.org/drawingml/2006/main">
            <a:pPr>
              <a:defRPr sz="2850" b="0">
                <a:solidFill>
                  <a:srgbClr val="20314B"/>
                </a:solidFill>
                <a:latin typeface="Arial"/>
                <a:ea typeface="Arial"/>
                <a:cs typeface="Arial"/>
              </a:defRPr>
            </a:pPr>
            <a:r>
              <a:rPr sz="2850" b="0">
                <a:solidFill>
                  <a:srgbClr val="20314B"/>
                </a:solidFill>
                <a:latin typeface="Arial"/>
                <a:ea typeface="Arial"/>
                <a:cs typeface="Arial"/>
              </a:rPr>
              <a:t>A separate wallet pays for deployment and transaction gas.</a:t>
            </a:r>
          </a:p>
        </p:txBody>
      </p:sp>
      <p:sp>
        <p:nvSpPr>
          <p:cNvPr id="6" name="">
            <a:extLst xmlns:a="http://schemas.openxmlformats.org/drawingml/2006/main">
              <a:ext uri="{FF2B5EF4-FFF2-40B4-BE49-F238E27FC236}">
                <a16:creationId xmlns:a16="http://schemas.microsoft.com/office/drawing/2014/main" id="{9700015A-C337-472D-9029-B22F7E057DA8}"/>
              </a:ext>
            </a:extLst>
          </p:cNvPr>
          <p:cNvSpPr>
            <a:spLocks xmlns:a="http://schemas.openxmlformats.org/drawingml/2006/main" noGrp="1"/>
          </p:cNvSpPr>
          <p:nvPr/>
        </p:nvSpPr>
        <p:spPr>
          <a:xfrm xmlns:a="http://schemas.openxmlformats.org/drawingml/2006/main">
            <a:off x="666750" y="7810500"/>
            <a:ext cx="1638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96C82"/>
                </a:solidFill>
                <a:latin typeface="Arial"/>
                <a:ea typeface="Arial"/>
                <a:cs typeface="Arial"/>
              </a:defRPr>
            </a:defPPr>
          </a:lstStyle>
          <a:p xmlns:a="http://schemas.openxmlformats.org/drawingml/2006/main">
            <a:pPr>
              <a:defRPr sz="2250" b="0">
                <a:solidFill>
                  <a:srgbClr val="596C82"/>
                </a:solidFill>
                <a:latin typeface="Arial"/>
                <a:ea typeface="Arial"/>
                <a:cs typeface="Arial"/>
              </a:defRPr>
            </a:pPr>
            <a:r>
              <a:rPr sz="2250" b="0">
                <a:solidFill>
                  <a:srgbClr val="596C82"/>
                </a:solidFill>
                <a:latin typeface="Arial"/>
                <a:ea typeface="Arial"/>
                <a:cs typeface="Arial"/>
              </a:rPr>
              <a:t>Test network only. This walkthrough describes the implementation and its limits.</a:t>
            </a:r>
          </a:p>
          <a:p xmlns:a="http://schemas.openxmlformats.org/drawingml/2006/main">
            <a:pPr>
              <a:defRPr sz="2250" b="0">
                <a:solidFill>
                  <a:srgbClr val="596C82"/>
                </a:solidFill>
                <a:latin typeface="Arial"/>
                <a:ea typeface="Arial"/>
                <a:cs typeface="Arial"/>
              </a:defRPr>
            </a:pPr>
            <a:r>
              <a:rPr sz="2250" b="0">
                <a:solidFill>
                  <a:srgbClr val="596C82"/>
                </a:solidFill>
                <a:latin typeface="Arial"/>
                <a:ea typeface="Arial"/>
                <a:cs typeface="Arial"/>
              </a:rPr>
              <a:t>It is not an audit or a claim of protection against a compromised device.</a:t>
            </a:r>
          </a:p>
        </p:txBody>
      </p:sp>
    </p:spTree>
    <p:extLst>
      <p:ext uri="{BB962C8B-B14F-4D97-AF65-F5344CB8AC3E}">
        <p14:creationId xmlns:p14="http://schemas.microsoft.com/office/powerpoint/2010/main" val="770101983"/>
      </p:ext>
    </p:extLst>
  </p:cSld>
</p:sld>
</file>

<file path=ppt/slides/slide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8959B26-7345-419A-9115-ADC3507D7133}"/>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A phone signs; another wallet pays</a:t>
            </a:r>
          </a:p>
        </p:txBody>
      </p:sp>
      <p:sp>
        <p:nvSpPr>
          <p:cNvPr id="2" name="">
            <a:extLst xmlns:a="http://schemas.openxmlformats.org/drawingml/2006/main">
              <a:ext uri="{FF2B5EF4-FFF2-40B4-BE49-F238E27FC236}">
                <a16:creationId xmlns:a16="http://schemas.microsoft.com/office/drawing/2014/main" id="{DEDC0A3B-F5A5-4995-A04B-BB4787C69A2C}"/>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935484B-8833-4418-BC78-560E861DC3CE}"/>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A sample Sign and Burn onboarding, followed by three shielded transactions. The signing browser keeps the passkey access and the console's ledger. A second browser holds the wallet that pays gas. The wallet can belong to you or to someone helping you. It does not become an owner of the Safe.</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Test network only. This walkthrough describes the current implementation and its limits. It is not an audit or a claim of protection against a compromised device.</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Each screenshot is paired with a diagram of the signing phone, its passkey and page memory, the data disclosed outside the page, and the seat's state. Gold marks the passkey; violet marks private seeds; blue marks public values; coral marks signed approvals; green marks the chain. The phone prompts and physical objects are explanatory illustrations, not native dialogs. A public value is not a private seed. Zoom in to read the screenshots and diagrams at full size.</a:t>
            </a:r>
          </a:p>
        </p:txBody>
      </p:sp>
    </p:spTree>
    <p:extLst>
      <p:ext uri="{BB962C8B-B14F-4D97-AF65-F5344CB8AC3E}">
        <p14:creationId xmlns:p14="http://schemas.microsoft.com/office/powerpoint/2010/main" val="88521596"/>
      </p:ext>
    </p:extLst>
  </p:cSld>
</p:sld>
</file>

<file path=ppt/slides/slide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FD128E5-5EE2-412F-AC97-2F7CB14BC17D}"/>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About these screenshots</a:t>
            </a:r>
          </a:p>
        </p:txBody>
      </p:sp>
      <p:sp>
        <p:nvSpPr>
          <p:cNvPr id="2" name="">
            <a:extLst xmlns:a="http://schemas.openxmlformats.org/drawingml/2006/main">
              <a:ext uri="{FF2B5EF4-FFF2-40B4-BE49-F238E27FC236}">
                <a16:creationId xmlns:a16="http://schemas.microsoft.com/office/drawing/2014/main" id="{DEBE5730-25A4-43B6-B797-F1DA5ACA4AE3}"/>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0EBA2DF-5A55-4A2F-8E0D-6171B691120A}"/>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These are screenshots of the running page at application commit f13bf89, captured on 2026-10-09. The signing browser is Chromium at a phone width of 390 pixels, with no wallet and a virtual passkey. A separate browser context plays the payer. Both use local Anvil, chain 31337, with the project's pinned Base Sepolia contract bytecode. The published page uses Base Sepolia, chain 84532; the pictures therefore say Local Anvil. All accounts and approvals shown are disposable test data. The local build changes the console configuration, so its displayed fingerprint also differs from the published Base Sepolia image.</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This is a phone-shaped browser rehearsal, not a test on an iPhone or Android device. The virtual passkey handles the native dialogs automatically. The screenshots do not show Face ID, Touch ID, a password manager dialog, or a real MetaMask confirmation. The buttons and screen states are real; the appearance and PRF support of those native prompts depend on your browser and authenticator. Recorded real-device checks are in the live test table.</a:t>
            </a:r>
          </a:p>
        </p:txBody>
      </p:sp>
    </p:spTree>
    <p:extLst>
      <p:ext uri="{BB962C8B-B14F-4D97-AF65-F5344CB8AC3E}">
        <p14:creationId xmlns:p14="http://schemas.microsoft.com/office/powerpoint/2010/main" val="445846372"/>
      </p:ext>
    </p:extLst>
  </p:cSld>
</p:sld>
</file>

<file path=ppt/slides/slide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247DDCF-6295-447B-9BB9-F960B9CFDB1A}"/>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What you do, and when gas is needed</a:t>
            </a:r>
          </a:p>
        </p:txBody>
      </p:sp>
      <p:sp>
        <p:nvSpPr>
          <p:cNvPr id="2" name="">
            <a:extLst xmlns:a="http://schemas.openxmlformats.org/drawingml/2006/main">
              <a:ext uri="{FF2B5EF4-FFF2-40B4-BE49-F238E27FC236}">
                <a16:creationId xmlns:a16="http://schemas.microsoft.com/office/drawing/2014/main" id="{6A29F05F-52AB-4A80-B319-CF3A324C7D67}"/>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D7DDC038-47DC-45C0-8952-99CEE1B80270}"/>
              </a:ext>
            </a:extLst>
          </p:cNvPr>
          <p:cNvGraphicFramePr/>
          <p:nvPr/>
        </p:nvGraphicFramePr>
        <p:xfrm>
          <a:off xmlns:a="http://schemas.openxmlformats.org/drawingml/2006/main" x="666750" y="1666875"/>
          <a:ext xmlns:a="http://schemas.openxmlformats.org/drawingml/2006/main" cx="16954500" cy="7467600"/>
        </p:xfrm>
        <a:graphic xmlns:a="http://schemas.openxmlformats.org/drawingml/2006/main">
          <a:graphicData uri="http://schemas.openxmlformats.org/drawingml/2006/table">
            <a:tbl>
              <a:tblPr/>
              <a:tblGrid>
                <a:gridCol w="2952750"/>
                <a:gridCol w="5381625"/>
                <a:gridCol w="5381625"/>
                <a:gridCol w="3238500"/>
              </a:tblGrid>
              <a:tr h="809625">
                <a:tc>
                  <a:txBody>
                    <a:bodyPr/>
                    <a:lstStyle/>
                    <a:p>
                      <a:r>
                        <a:rPr sz="2100" b="1">
                          <a:solidFill>
                            <a:srgbClr val="FFFFFF"/>
                          </a:solidFill>
                          <a:latin typeface="Arial"/>
                          <a:ea typeface="Arial"/>
                          <a:cs typeface="Arial"/>
                        </a:rPr>
                        <a:t>Step</a:t>
                      </a:r>
                    </a:p>
                  </a:txBody>
                  <a:tcPr marL="91440" marR="91440" marT="45720" marB="45720">
                    <a:solidFill>
                      <a:srgbClr val="20314B"/>
                    </a:solidFill>
                  </a:tcPr>
                </a:tc>
                <a:tc>
                  <a:txBody>
                    <a:bodyPr/>
                    <a:lstStyle/>
                    <a:p>
                      <a:r>
                        <a:rPr sz="2100" b="1">
                          <a:solidFill>
                            <a:srgbClr val="FFFFFF"/>
                          </a:solidFill>
                          <a:latin typeface="Arial"/>
                          <a:ea typeface="Arial"/>
                          <a:cs typeface="Arial"/>
                        </a:rPr>
                        <a:t>On the signing phone</a:t>
                      </a:r>
                    </a:p>
                  </a:txBody>
                  <a:tcPr marL="91440" marR="91440" marT="45720" marB="45720">
                    <a:solidFill>
                      <a:srgbClr val="20314B"/>
                    </a:solidFill>
                  </a:tcPr>
                </a:tc>
                <a:tc>
                  <a:txBody>
                    <a:bodyPr/>
                    <a:lstStyle/>
                    <a:p>
                      <a:r>
                        <a:rPr sz="2100" b="1">
                          <a:solidFill>
                            <a:srgbClr val="FFFFFF"/>
                          </a:solidFill>
                          <a:latin typeface="Arial"/>
                          <a:ea typeface="Arial"/>
                          <a:cs typeface="Arial"/>
                        </a:rPr>
                        <a:t>On the payer's device</a:t>
                      </a:r>
                    </a:p>
                  </a:txBody>
                  <a:tcPr marL="91440" marR="91440" marT="45720" marB="45720">
                    <a:solidFill>
                      <a:srgbClr val="20314B"/>
                    </a:solidFill>
                  </a:tcPr>
                </a:tc>
                <a:tc>
                  <a:txBody>
                    <a:bodyPr/>
                    <a:lstStyle/>
                    <a:p>
                      <a:r>
                        <a:rPr sz="2100" b="1">
                          <a:solidFill>
                            <a:srgbClr val="FFFFFF"/>
                          </a:solidFill>
                          <a:latin typeface="Arial"/>
                          <a:ea typeface="Arial"/>
                          <a:cs typeface="Arial"/>
                        </a:rPr>
                        <a:t>Gas paid?</a:t>
                      </a:r>
                    </a:p>
                  </a:txBody>
                  <a:tcPr marL="91440" marR="91440" marT="45720" marB="45720">
                    <a:solidFill>
                      <a:srgbClr val="20314B"/>
                    </a:solidFill>
                  </a:tcPr>
                </a:tc>
              </a:tr>
              <a:tr h="952500">
                <a:tc>
                  <a:txBody>
                    <a:bodyPr/>
                    <a:lstStyle/>
                    <a:p>
                      <a:r>
                        <a:rPr sz="2175" b="0">
                          <a:solidFill>
                            <a:srgbClr val="20314B"/>
                          </a:solidFill>
                          <a:latin typeface="Arial"/>
                          <a:ea typeface="Arial"/>
                          <a:cs typeface="Arial"/>
                        </a:rPr>
                        <a:t>Create passkey</a:t>
                      </a:r>
                    </a:p>
                  </a:txBody>
                  <a:tcPr marL="91440" marR="91440" marT="45720" marB="45720">
                    <a:solidFill>
                      <a:srgbClr val="F0F4F3"/>
                    </a:solidFill>
                  </a:tcPr>
                </a:tc>
                <a:tc>
                  <a:txBody>
                    <a:bodyPr/>
                    <a:lstStyle/>
                    <a:p>
                      <a:r>
                        <a:rPr sz="2175" b="0">
                          <a:solidFill>
                            <a:srgbClr val="20314B"/>
                          </a:solidFill>
                          <a:latin typeface="Arial"/>
                          <a:ea typeface="Arial"/>
                          <a:cs typeface="Arial"/>
                        </a:rPr>
                        <a:t>Approve the native creation prompt</a:t>
                      </a:r>
                    </a:p>
                  </a:txBody>
                  <a:tcPr marL="91440" marR="91440" marT="45720" marB="45720">
                    <a:solidFill>
                      <a:srgbClr val="F0F4F3"/>
                    </a:solidFill>
                  </a:tcPr>
                </a:tc>
                <a:tc>
                  <a:txBody>
                    <a:bodyPr/>
                    <a:lstStyle/>
                    <a:p>
                      <a:r>
                        <a:rPr sz="2175" b="0">
                          <a:solidFill>
                            <a:srgbClr val="20314B"/>
                          </a:solidFill>
                          <a:latin typeface="Arial"/>
                          <a:ea typeface="Arial"/>
                          <a:cs typeface="Arial"/>
                        </a:rPr>
                        <a:t>Nothing</a:t>
                      </a:r>
                    </a:p>
                  </a:txBody>
                  <a:tcPr marL="91440" marR="91440" marT="45720" marB="45720">
                    <a:solidFill>
                      <a:srgbClr val="F0F4F3"/>
                    </a:solidFill>
                  </a:tcPr>
                </a:tc>
                <a:tc>
                  <a:txBody>
                    <a:bodyPr/>
                    <a:lstStyle/>
                    <a:p>
                      <a:r>
                        <a:rPr sz="2175" b="0">
                          <a:solidFill>
                            <a:srgbClr val="20314B"/>
                          </a:solidFill>
                          <a:latin typeface="Arial"/>
                          <a:ea typeface="Arial"/>
                          <a:cs typeface="Arial"/>
                        </a:rPr>
                        <a:t>No</a:t>
                      </a:r>
                    </a:p>
                  </a:txBody>
                  <a:tcPr marL="91440" marR="91440" marT="45720" marB="45720">
                    <a:solidFill>
                      <a:srgbClr val="F0F4F3"/>
                    </a:solidFill>
                  </a:tcPr>
                </a:tc>
              </a:tr>
              <a:tr h="1066800">
                <a:tc>
                  <a:txBody>
                    <a:bodyPr/>
                    <a:lstStyle/>
                    <a:p>
                      <a:r>
                        <a:rPr sz="2175" b="0">
                          <a:solidFill>
                            <a:srgbClr val="20314B"/>
                          </a:solidFill>
                          <a:latin typeface="Arial"/>
                          <a:ea typeface="Arial"/>
                          <a:cs typeface="Arial"/>
                        </a:rPr>
                        <a:t>Prepare key 0</a:t>
                      </a:r>
                    </a:p>
                  </a:txBody>
                  <a:tcPr marL="91440" marR="91440" marT="45720" marB="45720">
                    <a:solidFill>
                      <a:srgbClr val="FFFDF7"/>
                    </a:solidFill>
                  </a:tcPr>
                </a:tc>
                <a:tc>
                  <a:txBody>
                    <a:bodyPr/>
                    <a:lstStyle/>
                    <a:p>
                      <a:r>
                        <a:rPr sz="2175" b="0">
                          <a:solidFill>
                            <a:srgbClr val="20314B"/>
                          </a:solidFill>
                          <a:latin typeface="Arial"/>
                          <a:ea typeface="Arial"/>
                          <a:cs typeface="Arial"/>
                        </a:rPr>
                        <a:t>Approve a passkey assertion with a PRF output</a:t>
                      </a:r>
                    </a:p>
                  </a:txBody>
                  <a:tcPr marL="91440" marR="91440" marT="45720" marB="45720">
                    <a:solidFill>
                      <a:srgbClr val="FFFDF7"/>
                    </a:solidFill>
                  </a:tcPr>
                </a:tc>
                <a:tc>
                  <a:txBody>
                    <a:bodyPr/>
                    <a:lstStyle/>
                    <a:p>
                      <a:r>
                        <a:rPr sz="2175" b="0">
                          <a:solidFill>
                            <a:srgbClr val="20314B"/>
                          </a:solidFill>
                          <a:latin typeface="Arial"/>
                          <a:ea typeface="Arial"/>
                          <a:cs typeface="Arial"/>
                        </a:rPr>
                        <a:t>Nothing</a:t>
                      </a:r>
                    </a:p>
                  </a:txBody>
                  <a:tcPr marL="91440" marR="91440" marT="45720" marB="45720">
                    <a:solidFill>
                      <a:srgbClr val="FFFDF7"/>
                    </a:solidFill>
                  </a:tcPr>
                </a:tc>
                <a:tc>
                  <a:txBody>
                    <a:bodyPr/>
                    <a:lstStyle/>
                    <a:p>
                      <a:r>
                        <a:rPr sz="2175" b="0">
                          <a:solidFill>
                            <a:srgbClr val="20314B"/>
                          </a:solidFill>
                          <a:latin typeface="Arial"/>
                          <a:ea typeface="Arial"/>
                          <a:cs typeface="Arial"/>
                        </a:rPr>
                        <a:t>No</a:t>
                      </a:r>
                    </a:p>
                  </a:txBody>
                  <a:tcPr marL="91440" marR="91440" marT="45720" marB="45720">
                    <a:solidFill>
                      <a:srgbClr val="FFFDF7"/>
                    </a:solidFill>
                  </a:tcPr>
                </a:tc>
              </a:tr>
              <a:tr h="1066800">
                <a:tc>
                  <a:txBody>
                    <a:bodyPr/>
                    <a:lstStyle/>
                    <a:p>
                      <a:r>
                        <a:rPr sz="2175" b="0">
                          <a:solidFill>
                            <a:srgbClr val="20314B"/>
                          </a:solidFill>
                          <a:latin typeface="Arial"/>
                          <a:ea typeface="Arial"/>
                          <a:cs typeface="Arial"/>
                        </a:rPr>
                        <a:t>Deploy</a:t>
                      </a:r>
                    </a:p>
                  </a:txBody>
                  <a:tcPr marL="91440" marR="91440" marT="45720" marB="45720">
                    <a:solidFill>
                      <a:srgbClr val="F0F4F3"/>
                    </a:solidFill>
                  </a:tcPr>
                </a:tc>
                <a:tc>
                  <a:txBody>
                    <a:bodyPr/>
                    <a:lstStyle/>
                    <a:p>
                      <a:r>
                        <a:rPr sz="2175" b="0">
                          <a:solidFill>
                            <a:srgbClr val="20314B"/>
                          </a:solidFill>
                          <a:latin typeface="Arial"/>
                          <a:ea typeface="Arial"/>
                          <a:cs typeface="Arial"/>
                        </a:rPr>
                        <a:t>Copy the build request; wait</a:t>
                      </a:r>
                    </a:p>
                  </a:txBody>
                  <a:tcPr marL="91440" marR="91440" marT="45720" marB="45720">
                    <a:solidFill>
                      <a:srgbClr val="F0F4F3"/>
                    </a:solidFill>
                  </a:tcPr>
                </a:tc>
                <a:tc>
                  <a:txBody>
                    <a:bodyPr/>
                    <a:lstStyle/>
                    <a:p>
                      <a:r>
                        <a:rPr sz="2175" b="0">
                          <a:solidFill>
                            <a:srgbClr val="20314B"/>
                          </a:solidFill>
                          <a:latin typeface="Arial"/>
                          <a:ea typeface="Arial"/>
                          <a:cs typeface="Arial"/>
                        </a:rPr>
                        <a:t>Review, connect wallet, confirm deployment</a:t>
                      </a:r>
                    </a:p>
                  </a:txBody>
                  <a:tcPr marL="91440" marR="91440" marT="45720" marB="45720">
                    <a:solidFill>
                      <a:srgbClr val="F0F4F3"/>
                    </a:solidFill>
                  </a:tcPr>
                </a:tc>
                <a:tc>
                  <a:txBody>
                    <a:bodyPr/>
                    <a:lstStyle/>
                    <a:p>
                      <a:r>
                        <a:rPr sz="2175" b="0">
                          <a:solidFill>
                            <a:srgbClr val="20314B"/>
                          </a:solidFill>
                          <a:latin typeface="Arial"/>
                          <a:ea typeface="Arial"/>
                          <a:cs typeface="Arial"/>
                        </a:rPr>
                        <a:t>Yes, from the wallet</a:t>
                      </a:r>
                    </a:p>
                  </a:txBody>
                  <a:tcPr marL="91440" marR="91440" marT="45720" marB="45720">
                    <a:solidFill>
                      <a:srgbClr val="F0F4F3"/>
                    </a:solidFill>
                  </a:tcPr>
                </a:tc>
              </a:tr>
              <a:tr h="1066800">
                <a:tc>
                  <a:txBody>
                    <a:bodyPr/>
                    <a:lstStyle/>
                    <a:p>
                      <a:r>
                        <a:rPr sz="2175" b="0">
                          <a:solidFill>
                            <a:srgbClr val="20314B"/>
                          </a:solidFill>
                          <a:latin typeface="Arial"/>
                          <a:ea typeface="Arial"/>
                          <a:cs typeface="Arial"/>
                        </a:rPr>
                        <a:t>Fund</a:t>
                      </a:r>
                    </a:p>
                  </a:txBody>
                  <a:tcPr marL="91440" marR="91440" marT="45720" marB="45720">
                    <a:solidFill>
                      <a:srgbClr val="FFFDF7"/>
                    </a:solidFill>
                  </a:tcPr>
                </a:tc>
                <a:tc>
                  <a:txBody>
                    <a:bodyPr/>
                    <a:lstStyle/>
                    <a:p>
                      <a:r>
                        <a:rPr sz="2175" b="0">
                          <a:solidFill>
                            <a:srgbClr val="20314B"/>
                          </a:solidFill>
                          <a:latin typeface="Arial"/>
                          <a:ea typeface="Arial"/>
                          <a:cs typeface="Arial"/>
                        </a:rPr>
                        <a:t>Copy the Safe address or reuse the build link</a:t>
                      </a:r>
                    </a:p>
                  </a:txBody>
                  <a:tcPr marL="91440" marR="91440" marT="45720" marB="45720">
                    <a:solidFill>
                      <a:srgbClr val="FFFDF7"/>
                    </a:solidFill>
                  </a:tcPr>
                </a:tc>
                <a:tc>
                  <a:txBody>
                    <a:bodyPr/>
                    <a:lstStyle/>
                    <a:p>
                      <a:r>
                        <a:rPr sz="2175" b="0">
                          <a:solidFill>
                            <a:srgbClr val="20314B"/>
                          </a:solidFill>
                          <a:latin typeface="Arial"/>
                          <a:ea typeface="Arial"/>
                          <a:cs typeface="Arial"/>
                        </a:rPr>
                        <a:t>Confirm a transfer into the Safe</a:t>
                      </a:r>
                    </a:p>
                  </a:txBody>
                  <a:tcPr marL="91440" marR="91440" marT="45720" marB="45720">
                    <a:solidFill>
                      <a:srgbClr val="FFFDF7"/>
                    </a:solidFill>
                  </a:tcPr>
                </a:tc>
                <a:tc>
                  <a:txBody>
                    <a:bodyPr/>
                    <a:lstStyle/>
                    <a:p>
                      <a:r>
                        <a:rPr sz="2175" b="0">
                          <a:solidFill>
                            <a:srgbClr val="20314B"/>
                          </a:solidFill>
                          <a:latin typeface="Arial"/>
                          <a:ea typeface="Arial"/>
                          <a:cs typeface="Arial"/>
                        </a:rPr>
                        <a:t>Yes, plus the test ETH sent</a:t>
                      </a:r>
                    </a:p>
                  </a:txBody>
                  <a:tcPr marL="91440" marR="91440" marT="45720" marB="45720">
                    <a:solidFill>
                      <a:srgbClr val="FFFDF7"/>
                    </a:solidFill>
                  </a:tcPr>
                </a:tc>
              </a:tr>
              <a:tr h="1066800">
                <a:tc>
                  <a:txBody>
                    <a:bodyPr/>
                    <a:lstStyle/>
                    <a:p>
                      <a:r>
                        <a:rPr sz="2175" b="0">
                          <a:solidFill>
                            <a:srgbClr val="20314B"/>
                          </a:solidFill>
                          <a:latin typeface="Arial"/>
                          <a:ea typeface="Arial"/>
                          <a:cs typeface="Arial"/>
                        </a:rPr>
                        <a:t>Each shielded transfer</a:t>
                      </a:r>
                    </a:p>
                  </a:txBody>
                  <a:tcPr marL="91440" marR="91440" marT="45720" marB="45720">
                    <a:solidFill>
                      <a:srgbClr val="F0F4F3"/>
                    </a:solidFill>
                  </a:tcPr>
                </a:tc>
                <a:tc>
                  <a:txBody>
                    <a:bodyPr/>
                    <a:lstStyle/>
                    <a:p>
                      <a:r>
                        <a:rPr sz="2175" b="0">
                          <a:solidFill>
                            <a:srgbClr val="20314B"/>
                          </a:solidFill>
                          <a:latin typeface="Arial"/>
                          <a:ea typeface="Arial"/>
                          <a:cs typeface="Arial"/>
                        </a:rPr>
                        <a:t>Review, hold, approve one passkey assertion; copy approval link</a:t>
                      </a:r>
                    </a:p>
                  </a:txBody>
                  <a:tcPr marL="91440" marR="91440" marT="45720" marB="45720">
                    <a:solidFill>
                      <a:srgbClr val="F0F4F3"/>
                    </a:solidFill>
                  </a:tcPr>
                </a:tc>
                <a:tc>
                  <a:txBody>
                    <a:bodyPr/>
                    <a:lstStyle/>
                    <a:p>
                      <a:r>
                        <a:rPr sz="2175" b="0">
                          <a:solidFill>
                            <a:srgbClr val="20314B"/>
                          </a:solidFill>
                          <a:latin typeface="Arial"/>
                          <a:ea typeface="Arial"/>
                          <a:cs typeface="Arial"/>
                        </a:rPr>
                        <a:t>Review the same approval; confirm its send</a:t>
                      </a:r>
                    </a:p>
                  </a:txBody>
                  <a:tcPr marL="91440" marR="91440" marT="45720" marB="45720">
                    <a:solidFill>
                      <a:srgbClr val="F0F4F3"/>
                    </a:solidFill>
                  </a:tcPr>
                </a:tc>
                <a:tc>
                  <a:txBody>
                    <a:bodyPr/>
                    <a:lstStyle/>
                    <a:p>
                      <a:r>
                        <a:rPr sz="2175" b="0">
                          <a:solidFill>
                            <a:srgbClr val="20314B"/>
                          </a:solidFill>
                          <a:latin typeface="Arial"/>
                          <a:ea typeface="Arial"/>
                          <a:cs typeface="Arial"/>
                        </a:rPr>
                        <a:t>Yes, from the wallet</a:t>
                      </a:r>
                    </a:p>
                  </a:txBody>
                  <a:tcPr marL="91440" marR="91440" marT="45720" marB="45720">
                    <a:solidFill>
                      <a:srgbClr val="F0F4F3"/>
                    </a:solidFill>
                  </a:tcPr>
                </a:tc>
              </a:tr>
              <a:tr h="1438275">
                <a:tc>
                  <a:txBody>
                    <a:bodyPr/>
                    <a:lstStyle/>
                    <a:p>
                      <a:r>
                        <a:rPr sz="2175" b="0">
                          <a:solidFill>
                            <a:srgbClr val="20314B"/>
                          </a:solidFill>
                          <a:latin typeface="Arial"/>
                          <a:ea typeface="Arial"/>
                          <a:cs typeface="Arial"/>
                        </a:rPr>
                        <a:t>Retry a refused send</a:t>
                      </a:r>
                    </a:p>
                  </a:txBody>
                  <a:tcPr marL="91440" marR="91440" marT="45720" marB="45720">
                    <a:solidFill>
                      <a:srgbClr val="FFFDF7"/>
                    </a:solidFill>
                  </a:tcPr>
                </a:tc>
                <a:tc>
                  <a:txBody>
                    <a:bodyPr/>
                    <a:lstStyle/>
                    <a:p>
                      <a:r>
                        <a:rPr sz="2175" b="0">
                          <a:solidFill>
                            <a:srgbClr val="20314B"/>
                          </a:solidFill>
                          <a:latin typeface="Arial"/>
                          <a:ea typeface="Arial"/>
                          <a:cs typeface="Arial"/>
                        </a:rPr>
                        <a:t>Keep the same approval and ledger; no new passkey tap</a:t>
                      </a:r>
                    </a:p>
                  </a:txBody>
                  <a:tcPr marL="91440" marR="91440" marT="45720" marB="45720">
                    <a:solidFill>
                      <a:srgbClr val="FFFDF7"/>
                    </a:solidFill>
                  </a:tcPr>
                </a:tc>
                <a:tc>
                  <a:txBody>
                    <a:bodyPr/>
                    <a:lstStyle/>
                    <a:p>
                      <a:r>
                        <a:rPr sz="2175" b="0">
                          <a:solidFill>
                            <a:srgbClr val="20314B"/>
                          </a:solidFill>
                          <a:latin typeface="Arial"/>
                          <a:ea typeface="Arial"/>
                          <a:cs typeface="Arial"/>
                        </a:rPr>
                        <a:t>Send that existing approval again</a:t>
                      </a:r>
                    </a:p>
                  </a:txBody>
                  <a:tcPr marL="91440" marR="91440" marT="45720" marB="45720">
                    <a:solidFill>
                      <a:srgbClr val="FFFDF7"/>
                    </a:solidFill>
                  </a:tcPr>
                </a:tc>
                <a:tc>
                  <a:txBody>
                    <a:bodyPr/>
                    <a:lstStyle/>
                    <a:p>
                      <a:r>
                        <a:rPr sz="2175" b="0">
                          <a:solidFill>
                            <a:srgbClr val="20314B"/>
                          </a:solidFill>
                          <a:latin typeface="Arial"/>
                          <a:ea typeface="Arial"/>
                          <a:cs typeface="Arial"/>
                        </a:rPr>
                        <a:t>Only when a transaction is actually sent and included</a:t>
                      </a:r>
                    </a:p>
                  </a:txBody>
                  <a:tcPr marL="91440" marR="91440" marT="45720" marB="45720">
                    <a:solidFill>
                      <a:srgbClr val="FFFDF7"/>
                    </a:solidFill>
                  </a:tcPr>
                </a:tc>
              </a:tr>
            </a:tbl>
          </a:graphicData>
        </a:graphic>
      </p:graphicFrame>
    </p:spTree>
    <p:extLst>
      <p:ext uri="{BB962C8B-B14F-4D97-AF65-F5344CB8AC3E}">
        <p14:creationId xmlns:p14="http://schemas.microsoft.com/office/powerpoint/2010/main" val="2060146121"/>
      </p:ext>
    </p:extLst>
  </p:cSld>
</p:sld>
</file>

<file path=ppt/slides/slide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085E2CC-70AF-45CF-A3F0-1EC3EE3546C0}"/>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What you do, and when gas is needed</a:t>
            </a:r>
          </a:p>
        </p:txBody>
      </p:sp>
      <p:sp>
        <p:nvSpPr>
          <p:cNvPr id="2" name="">
            <a:extLst xmlns:a="http://schemas.openxmlformats.org/drawingml/2006/main">
              <a:ext uri="{FF2B5EF4-FFF2-40B4-BE49-F238E27FC236}">
                <a16:creationId xmlns:a16="http://schemas.microsoft.com/office/drawing/2014/main" id="{FA66F55E-9E4E-48ED-A410-33B10FA1E193}"/>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411EB25-4344-4B3B-A52B-CDE5E4DCBCD6}"/>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Safe supplies the transfer amount. The payer supplies gas. If a usable wallet is on the phone, connect it there and use the local Build or Send path instead of copying a link. The passkey, PRF, console and disclosure order are the same; the extra payer browser is optional.</a:t>
            </a:r>
          </a:p>
        </p:txBody>
      </p:sp>
    </p:spTree>
    <p:extLst>
      <p:ext uri="{BB962C8B-B14F-4D97-AF65-F5344CB8AC3E}">
        <p14:creationId xmlns:p14="http://schemas.microsoft.com/office/powerpoint/2010/main" val="1018619833"/>
      </p:ext>
    </p:extLst>
  </p:cSld>
</p:sld>
</file>

<file path=ppt/slides/slide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D629687-2739-4669-B781-8BDCA071E093}"/>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First, which key is which?</a:t>
            </a:r>
          </a:p>
        </p:txBody>
      </p:sp>
      <p:sp>
        <p:nvSpPr>
          <p:cNvPr id="2" name="">
            <a:extLst xmlns:a="http://schemas.openxmlformats.org/drawingml/2006/main">
              <a:ext uri="{FF2B5EF4-FFF2-40B4-BE49-F238E27FC236}">
                <a16:creationId xmlns:a16="http://schemas.microsoft.com/office/drawing/2014/main" id="{7FDFA1FA-D9F5-4826-A562-8D50CD22D077}"/>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8B35F78-7ED0-49A8-9490-C7602B482A91}"/>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“Signing exposes the private key” needs a distinction. Normal passkey use does not export the passkey's private key. This application does receive other secret material through the PRF extension.</a:t>
            </a:r>
          </a:p>
        </p:txBody>
      </p:sp>
    </p:spTree>
    <p:extLst>
      <p:ext uri="{BB962C8B-B14F-4D97-AF65-F5344CB8AC3E}">
        <p14:creationId xmlns:p14="http://schemas.microsoft.com/office/powerpoint/2010/main" val="1369685551"/>
      </p:ext>
    </p:extLst>
  </p:cSld>
</p:sld>
</file>

<file path=ppt/slides/slide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D513225-D862-4872-A412-87649E3622CD}"/>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First, which key is which? (1)</a:t>
            </a:r>
          </a:p>
        </p:txBody>
      </p:sp>
      <p:sp>
        <p:nvSpPr>
          <p:cNvPr id="2" name="">
            <a:extLst xmlns:a="http://schemas.openxmlformats.org/drawingml/2006/main">
              <a:ext uri="{FF2B5EF4-FFF2-40B4-BE49-F238E27FC236}">
                <a16:creationId xmlns:a16="http://schemas.microsoft.com/office/drawing/2014/main" id="{BCAD2BB0-FF30-4D60-A69A-EA8A7484BF90}"/>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3A4EB7FA-AD12-4E9C-876D-65509BA1E8FE}"/>
              </a:ext>
            </a:extLst>
          </p:cNvPr>
          <p:cNvGraphicFramePr/>
          <p:nvPr/>
        </p:nvGraphicFramePr>
        <p:xfrm>
          <a:off xmlns:a="http://schemas.openxmlformats.org/drawingml/2006/main" x="666750" y="1666875"/>
          <a:ext xmlns:a="http://schemas.openxmlformats.org/drawingml/2006/main" cx="16954500" cy="5819775"/>
        </p:xfrm>
        <a:graphic xmlns:a="http://schemas.openxmlformats.org/drawingml/2006/main">
          <a:graphicData uri="http://schemas.openxmlformats.org/drawingml/2006/table">
            <a:tbl>
              <a:tblPr/>
              <a:tblGrid>
                <a:gridCol w="3429000"/>
                <a:gridCol w="6096000"/>
                <a:gridCol w="7429500"/>
              </a:tblGrid>
              <a:tr h="809625">
                <a:tc>
                  <a:txBody>
                    <a:bodyPr/>
                    <a:lstStyle/>
                    <a:p>
                      <a:r>
                        <a:rPr sz="2100" b="1">
                          <a:solidFill>
                            <a:srgbClr val="FFFFFF"/>
                          </a:solidFill>
                          <a:latin typeface="Arial"/>
                          <a:ea typeface="Arial"/>
                          <a:cs typeface="Arial"/>
                        </a:rPr>
                        <a:t>Part</a:t>
                      </a:r>
                    </a:p>
                  </a:txBody>
                  <a:tcPr marL="91440" marR="91440" marT="45720" marB="45720">
                    <a:solidFill>
                      <a:srgbClr val="20314B"/>
                    </a:solidFill>
                  </a:tcPr>
                </a:tc>
                <a:tc>
                  <a:txBody>
                    <a:bodyPr/>
                    <a:lstStyle/>
                    <a:p>
                      <a:r>
                        <a:rPr sz="2100" b="1">
                          <a:solidFill>
                            <a:srgbClr val="FFFFFF"/>
                          </a:solidFill>
                          <a:latin typeface="Arial"/>
                          <a:ea typeface="Arial"/>
                          <a:cs typeface="Arial"/>
                        </a:rPr>
                        <a:t>What it does</a:t>
                      </a:r>
                    </a:p>
                  </a:txBody>
                  <a:tcPr marL="91440" marR="91440" marT="45720" marB="45720">
                    <a:solidFill>
                      <a:srgbClr val="20314B"/>
                    </a:solidFill>
                  </a:tcPr>
                </a:tc>
                <a:tc>
                  <a:txBody>
                    <a:bodyPr/>
                    <a:lstStyle/>
                    <a:p>
                      <a:r>
                        <a:rPr sz="2100" b="1">
                          <a:solidFill>
                            <a:srgbClr val="FFFFFF"/>
                          </a:solidFill>
                          <a:latin typeface="Arial"/>
                          <a:ea typeface="Arial"/>
                          <a:cs typeface="Arial"/>
                        </a:rPr>
                        <a:t>What the page or others can see</a:t>
                      </a:r>
                    </a:p>
                  </a:txBody>
                  <a:tcPr marL="91440" marR="91440" marT="45720" marB="45720">
                    <a:solidFill>
                      <a:srgbClr val="20314B"/>
                    </a:solidFill>
                  </a:tcPr>
                </a:tc>
              </a:tr>
              <a:tr h="1066800">
                <a:tc>
                  <a:txBody>
                    <a:bodyPr/>
                    <a:lstStyle/>
                    <a:p>
                      <a:r>
                        <a:rPr sz="2175" b="0">
                          <a:solidFill>
                            <a:srgbClr val="20314B"/>
                          </a:solidFill>
                          <a:latin typeface="Arial"/>
                          <a:ea typeface="Arial"/>
                          <a:cs typeface="Arial"/>
                        </a:rPr>
                        <a:t>Passkey P-256 private key</a:t>
                      </a:r>
                    </a:p>
                  </a:txBody>
                  <a:tcPr marL="91440" marR="91440" marT="45720" marB="45720">
                    <a:solidFill>
                      <a:srgbClr val="F0F4F3"/>
                    </a:solidFill>
                  </a:tcPr>
                </a:tc>
                <a:tc>
                  <a:txBody>
                    <a:bodyPr/>
                    <a:lstStyle/>
                    <a:p>
                      <a:r>
                        <a:rPr sz="2175" b="0">
                          <a:solidFill>
                            <a:srgbClr val="20314B"/>
                          </a:solidFill>
                          <a:latin typeface="Arial"/>
                          <a:ea typeface="Arial"/>
                          <a:cs typeface="Arial"/>
                        </a:rPr>
                        <a:t>Makes the WebAuthn curve signature</a:t>
                      </a:r>
                    </a:p>
                  </a:txBody>
                  <a:tcPr marL="91440" marR="91440" marT="45720" marB="45720">
                    <a:solidFill>
                      <a:srgbClr val="F0F4F3"/>
                    </a:solidFill>
                  </a:tcPr>
                </a:tc>
                <a:tc>
                  <a:txBody>
                    <a:bodyPr/>
                    <a:lstStyle/>
                    <a:p>
                      <a:r>
                        <a:rPr sz="2175" b="0">
                          <a:solidFill>
                            <a:srgbClr val="20314B"/>
                          </a:solidFill>
                          <a:latin typeface="Arial"/>
                          <a:ea typeface="Arial"/>
                          <a:cs typeface="Arial"/>
                        </a:rPr>
                        <a:t>WebAuthn does not return it to the page. The authenticator or credential provider holds it.</a:t>
                      </a:r>
                    </a:p>
                  </a:txBody>
                  <a:tcPr marL="91440" marR="91440" marT="45720" marB="45720">
                    <a:solidFill>
                      <a:srgbClr val="F0F4F3"/>
                    </a:solidFill>
                  </a:tcPr>
                </a:tc>
              </a:tr>
              <a:tr h="1438275">
                <a:tc>
                  <a:txBody>
                    <a:bodyPr/>
                    <a:lstStyle/>
                    <a:p>
                      <a:r>
                        <a:rPr sz="2175" b="0">
                          <a:solidFill>
                            <a:srgbClr val="20314B"/>
                          </a:solidFill>
                          <a:latin typeface="Arial"/>
                          <a:ea typeface="Arial"/>
                          <a:cs typeface="Arial"/>
                        </a:rPr>
                        <a:t>Passkey P-256 public key</a:t>
                      </a:r>
                    </a:p>
                  </a:txBody>
                  <a:tcPr marL="91440" marR="91440" marT="45720" marB="45720">
                    <a:solidFill>
                      <a:srgbClr val="FFFDF7"/>
                    </a:solidFill>
                  </a:tcPr>
                </a:tc>
                <a:tc>
                  <a:txBody>
                    <a:bodyPr/>
                    <a:lstStyle/>
                    <a:p>
                      <a:r>
                        <a:rPr sz="2175" b="0">
                          <a:solidFill>
                            <a:srgbClr val="20314B"/>
                          </a:solidFill>
                          <a:latin typeface="Arial"/>
                          <a:ea typeface="Arial"/>
                          <a:cs typeface="Arial"/>
                        </a:rPr>
                        <a:t>Lets Safe's passkey signer check that signature</a:t>
                      </a:r>
                    </a:p>
                  </a:txBody>
                  <a:tcPr marL="91440" marR="91440" marT="45720" marB="45720">
                    <a:solidFill>
                      <a:srgbClr val="FFFDF7"/>
                    </a:solidFill>
                  </a:tcPr>
                </a:tc>
                <a:tc>
                  <a:txBody>
                    <a:bodyPr/>
                    <a:lstStyle/>
                    <a:p>
                      <a:r>
                        <a:rPr sz="2175" b="0">
                          <a:solidFill>
                            <a:srgbClr val="20314B"/>
                          </a:solidFill>
                          <a:latin typeface="Arial"/>
                          <a:ea typeface="Arial"/>
                          <a:cs typeface="Arial"/>
                        </a:rPr>
                        <a:t>Returned at passkey creation; public on-chain when its signer is deployed. It is not the rotating key.</a:t>
                      </a:r>
                    </a:p>
                  </a:txBody>
                  <a:tcPr marL="91440" marR="91440" marT="45720" marB="45720">
                    <a:solidFill>
                      <a:srgbClr val="FFFDF7"/>
                    </a:solidFill>
                  </a:tcPr>
                </a:tc>
              </a:tr>
              <a:tr h="1066800">
                <a:tc>
                  <a:txBody>
                    <a:bodyPr/>
                    <a:lstStyle/>
                    <a:p>
                      <a:r>
                        <a:rPr sz="2175" b="0">
                          <a:solidFill>
                            <a:srgbClr val="20314B"/>
                          </a:solidFill>
                          <a:latin typeface="Arial"/>
                          <a:ea typeface="Arial"/>
                          <a:cs typeface="Arial"/>
                        </a:rPr>
                        <a:t>Passkey PRF secret</a:t>
                      </a:r>
                    </a:p>
                  </a:txBody>
                  <a:tcPr marL="91440" marR="91440" marT="45720" marB="45720">
                    <a:solidFill>
                      <a:srgbClr val="F0F4F3"/>
                    </a:solidFill>
                  </a:tcPr>
                </a:tc>
                <a:tc>
                  <a:txBody>
                    <a:bodyPr/>
                    <a:lstStyle/>
                    <a:p>
                      <a:r>
                        <a:rPr sz="2175" b="0">
                          <a:solidFill>
                            <a:srgbClr val="20314B"/>
                          </a:solidFill>
                          <a:latin typeface="Arial"/>
                          <a:ea typeface="Arial"/>
                          <a:cs typeface="Arial"/>
                        </a:rPr>
                        <a:t>Produces repeatable outputs for the requested salts</a:t>
                      </a:r>
                    </a:p>
                  </a:txBody>
                  <a:tcPr marL="91440" marR="91440" marT="45720" marB="45720">
                    <a:solidFill>
                      <a:srgbClr val="F0F4F3"/>
                    </a:solidFill>
                  </a:tcPr>
                </a:tc>
                <a:tc>
                  <a:txBody>
                    <a:bodyPr/>
                    <a:lstStyle/>
                    <a:p>
                      <a:r>
                        <a:rPr sz="2175" b="0">
                          <a:solidFill>
                            <a:srgbClr val="20314B"/>
                          </a:solidFill>
                          <a:latin typeface="Arial"/>
                          <a:ea typeface="Arial"/>
                          <a:cs typeface="Arial"/>
                        </a:rPr>
                        <a:t>The page gets outputs, not this underlying secret.</a:t>
                      </a:r>
                    </a:p>
                  </a:txBody>
                  <a:tcPr marL="91440" marR="91440" marT="45720" marB="45720">
                    <a:solidFill>
                      <a:srgbClr val="F0F4F3"/>
                    </a:solidFill>
                  </a:tcPr>
                </a:tc>
              </a:tr>
              <a:tr h="1438275">
                <a:tc>
                  <a:txBody>
                    <a:bodyPr/>
                    <a:lstStyle/>
                    <a:p>
                      <a:r>
                        <a:rPr sz="2175" b="0">
                          <a:solidFill>
                            <a:srgbClr val="20314B"/>
                          </a:solidFill>
                          <a:latin typeface="Arial"/>
                          <a:ea typeface="Arial"/>
                          <a:cs typeface="Arial"/>
                        </a:rPr>
                        <a:t>seed(n)</a:t>
                      </a:r>
                    </a:p>
                  </a:txBody>
                  <a:tcPr marL="91440" marR="91440" marT="45720" marB="45720">
                    <a:solidFill>
                      <a:srgbClr val="FFFDF7"/>
                    </a:solidFill>
                  </a:tcPr>
                </a:tc>
                <a:tc>
                  <a:txBody>
                    <a:bodyPr/>
                    <a:lstStyle/>
                    <a:p>
                      <a:r>
                        <a:rPr sz="2175" b="0">
                          <a:solidFill>
                            <a:srgbClr val="20314B"/>
                          </a:solidFill>
                          <a:latin typeface="Arial"/>
                          <a:ea typeface="Arial"/>
                          <a:cs typeface="Arial"/>
                        </a:rPr>
                        <a:t>Produces all 67 private hash-chain starting values for one-time key n</a:t>
                      </a:r>
                    </a:p>
                  </a:txBody>
                  <a:tcPr marL="91440" marR="91440" marT="45720" marB="45720">
                    <a:solidFill>
                      <a:srgbClr val="FFFDF7"/>
                    </a:solidFill>
                  </a:tcPr>
                </a:tc>
                <a:tc>
                  <a:txBody>
                    <a:bodyPr/>
                    <a:lstStyle/>
                    <a:p>
                      <a:r>
                        <a:rPr sz="2175" b="0">
                          <a:solidFill>
                            <a:srgbClr val="20314B"/>
                          </a:solidFill>
                          <a:latin typeface="Arial"/>
                          <a:ea typeface="Arial"/>
                          <a:cs typeface="Arial"/>
                        </a:rPr>
                        <a:t>Returned to the signing page by the PRF. It passes through page and console memory. This is private signing material.</a:t>
                      </a:r>
                    </a:p>
                  </a:txBody>
                  <a:tcPr marL="91440" marR="91440" marT="45720" marB="45720">
                    <a:solidFill>
                      <a:srgbClr val="FFFDF7"/>
                    </a:solidFill>
                  </a:tcPr>
                </a:tc>
              </a:tr>
            </a:tbl>
          </a:graphicData>
        </a:graphic>
      </p:graphicFrame>
    </p:spTree>
    <p:extLst>
      <p:ext uri="{BB962C8B-B14F-4D97-AF65-F5344CB8AC3E}">
        <p14:creationId xmlns:p14="http://schemas.microsoft.com/office/powerpoint/2010/main" val="942163114"/>
      </p:ext>
    </p:extLst>
  </p:cSld>
</p:sld>
</file>

<file path=ppt/slides/slide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7BACA5C-4713-4A2F-9F0D-1F693A73E7D2}"/>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First, which key is which? (2)</a:t>
            </a:r>
          </a:p>
        </p:txBody>
      </p:sp>
      <p:sp>
        <p:nvSpPr>
          <p:cNvPr id="2" name="">
            <a:extLst xmlns:a="http://schemas.openxmlformats.org/drawingml/2006/main">
              <a:ext uri="{FF2B5EF4-FFF2-40B4-BE49-F238E27FC236}">
                <a16:creationId xmlns:a16="http://schemas.microsoft.com/office/drawing/2014/main" id="{267B135A-52ED-47D5-86F4-F5EF040B9FC5}"/>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E85BDF97-96AD-4438-A37C-4D7FC52CFCAC}"/>
              </a:ext>
            </a:extLst>
          </p:cNvPr>
          <p:cNvGraphicFramePr/>
          <p:nvPr/>
        </p:nvGraphicFramePr>
        <p:xfrm>
          <a:off xmlns:a="http://schemas.openxmlformats.org/drawingml/2006/main" x="666750" y="1666875"/>
          <a:ext xmlns:a="http://schemas.openxmlformats.org/drawingml/2006/main" cx="16954500" cy="5448300"/>
        </p:xfrm>
        <a:graphic xmlns:a="http://schemas.openxmlformats.org/drawingml/2006/main">
          <a:graphicData uri="http://schemas.openxmlformats.org/drawingml/2006/table">
            <a:tbl>
              <a:tblPr/>
              <a:tblGrid>
                <a:gridCol w="3429000"/>
                <a:gridCol w="6096000"/>
                <a:gridCol w="7429500"/>
              </a:tblGrid>
              <a:tr h="809625">
                <a:tc>
                  <a:txBody>
                    <a:bodyPr/>
                    <a:lstStyle/>
                    <a:p>
                      <a:r>
                        <a:rPr sz="2100" b="1">
                          <a:solidFill>
                            <a:srgbClr val="FFFFFF"/>
                          </a:solidFill>
                          <a:latin typeface="Arial"/>
                          <a:ea typeface="Arial"/>
                          <a:cs typeface="Arial"/>
                        </a:rPr>
                        <a:t>Part</a:t>
                      </a:r>
                    </a:p>
                  </a:txBody>
                  <a:tcPr marL="91440" marR="91440" marT="45720" marB="45720">
                    <a:solidFill>
                      <a:srgbClr val="20314B"/>
                    </a:solidFill>
                  </a:tcPr>
                </a:tc>
                <a:tc>
                  <a:txBody>
                    <a:bodyPr/>
                    <a:lstStyle/>
                    <a:p>
                      <a:r>
                        <a:rPr sz="2100" b="1">
                          <a:solidFill>
                            <a:srgbClr val="FFFFFF"/>
                          </a:solidFill>
                          <a:latin typeface="Arial"/>
                          <a:ea typeface="Arial"/>
                          <a:cs typeface="Arial"/>
                        </a:rPr>
                        <a:t>What it does</a:t>
                      </a:r>
                    </a:p>
                  </a:txBody>
                  <a:tcPr marL="91440" marR="91440" marT="45720" marB="45720">
                    <a:solidFill>
                      <a:srgbClr val="20314B"/>
                    </a:solidFill>
                  </a:tcPr>
                </a:tc>
                <a:tc>
                  <a:txBody>
                    <a:bodyPr/>
                    <a:lstStyle/>
                    <a:p>
                      <a:r>
                        <a:rPr sz="2100" b="1">
                          <a:solidFill>
                            <a:srgbClr val="FFFFFF"/>
                          </a:solidFill>
                          <a:latin typeface="Arial"/>
                          <a:ea typeface="Arial"/>
                          <a:cs typeface="Arial"/>
                        </a:rPr>
                        <a:t>What the page or others can see</a:t>
                      </a:r>
                    </a:p>
                  </a:txBody>
                  <a:tcPr marL="91440" marR="91440" marT="45720" marB="45720">
                    <a:solidFill>
                      <a:srgbClr val="20314B"/>
                    </a:solidFill>
                  </a:tcPr>
                </a:tc>
              </a:tr>
              <a:tr h="1438275">
                <a:tc>
                  <a:txBody>
                    <a:bodyPr/>
                    <a:lstStyle/>
                    <a:p>
                      <a:r>
                        <a:rPr sz="2175" b="0">
                          <a:solidFill>
                            <a:srgbClr val="20314B"/>
                          </a:solidFill>
                          <a:latin typeface="Arial"/>
                          <a:ea typeface="Arial"/>
                          <a:cs typeface="Arial"/>
                        </a:rPr>
                        <a:t>One-time signature</a:t>
                      </a:r>
                    </a:p>
                  </a:txBody>
                  <a:tcPr marL="91440" marR="91440" marT="45720" marB="45720">
                    <a:solidFill>
                      <a:srgbClr val="F0F4F3"/>
                    </a:solidFill>
                  </a:tcPr>
                </a:tc>
                <a:tc>
                  <a:txBody>
                    <a:bodyPr/>
                    <a:lstStyle/>
                    <a:p>
                      <a:r>
                        <a:rPr sz="2175" b="0">
                          <a:solidFill>
                            <a:srgbClr val="20314B"/>
                          </a:solidFill>
                          <a:latin typeface="Arial"/>
                          <a:ea typeface="Arial"/>
                          <a:cs typeface="Arial"/>
                        </a:rPr>
                        <a:t>Authorizes this approval and its next fingerprint</a:t>
                      </a:r>
                    </a:p>
                  </a:txBody>
                  <a:tcPr marL="91440" marR="91440" marT="45720" marB="45720">
                    <a:solidFill>
                      <a:srgbClr val="F0F4F3"/>
                    </a:solidFill>
                  </a:tcPr>
                </a:tc>
                <a:tc>
                  <a:txBody>
                    <a:bodyPr/>
                    <a:lstStyle/>
                    <a:p>
                      <a:r>
                        <a:rPr sz="2175" b="0">
                          <a:solidFill>
                            <a:srgbClr val="20314B"/>
                          </a:solidFill>
                          <a:latin typeface="Arial"/>
                          <a:ea typeface="Arial"/>
                          <a:cs typeface="Arial"/>
                        </a:rPr>
                        <a:t>Reveals 67 selected positions along the private hash chains. A position can be a chain's starting value. It does not disclose the whole seed.</a:t>
                      </a:r>
                    </a:p>
                  </a:txBody>
                  <a:tcPr marL="91440" marR="91440" marT="45720" marB="45720">
                    <a:solidFill>
                      <a:srgbClr val="F0F4F3"/>
                    </a:solidFill>
                  </a:tcPr>
                </a:tc>
              </a:tr>
              <a:tr h="1066800">
                <a:tc>
                  <a:txBody>
                    <a:bodyPr/>
                    <a:lstStyle/>
                    <a:p>
                      <a:r>
                        <a:rPr sz="2175" b="0">
                          <a:solidFill>
                            <a:srgbClr val="20314B"/>
                          </a:solidFill>
                          <a:latin typeface="Arial"/>
                          <a:ea typeface="Arial"/>
                          <a:cs typeface="Arial"/>
                        </a:rPr>
                        <a:t>Full one-time public key</a:t>
                      </a:r>
                    </a:p>
                  </a:txBody>
                  <a:tcPr marL="91440" marR="91440" marT="45720" marB="45720">
                    <a:solidFill>
                      <a:srgbClr val="FFFDF7"/>
                    </a:solidFill>
                  </a:tcPr>
                </a:tc>
                <a:tc>
                  <a:txBody>
                    <a:bodyPr/>
                    <a:lstStyle/>
                    <a:p>
                      <a:r>
                        <a:rPr sz="2175" b="0">
                          <a:solidFill>
                            <a:srgbClr val="20314B"/>
                          </a:solidFill>
                          <a:latin typeface="Arial"/>
                          <a:ea typeface="Arial"/>
                          <a:cs typeface="Arial"/>
                        </a:rPr>
                        <a:t>The 67 hash-chain endpoints</a:t>
                      </a:r>
                    </a:p>
                  </a:txBody>
                  <a:tcPr marL="91440" marR="91440" marT="45720" marB="45720">
                    <a:solidFill>
                      <a:srgbClr val="FFFDF7"/>
                    </a:solidFill>
                  </a:tcPr>
                </a:tc>
                <a:tc>
                  <a:txBody>
                    <a:bodyPr/>
                    <a:lstStyle/>
                    <a:p>
                      <a:r>
                        <a:rPr sz="2175" b="0">
                          <a:solidFill>
                            <a:srgbClr val="20314B"/>
                          </a:solidFill>
                          <a:latin typeface="Arial"/>
                          <a:ea typeface="Arial"/>
                          <a:cs typeface="Arial"/>
                        </a:rPr>
                        <a:t>Anyone with the message and one-time signature can compute these endpoints.</a:t>
                      </a:r>
                    </a:p>
                  </a:txBody>
                  <a:tcPr marL="91440" marR="91440" marT="45720" marB="45720">
                    <a:solidFill>
                      <a:srgbClr val="FFFDF7"/>
                    </a:solidFill>
                  </a:tcPr>
                </a:tc>
              </a:tr>
              <a:tr h="1066800">
                <a:tc>
                  <a:txBody>
                    <a:bodyPr/>
                    <a:lstStyle/>
                    <a:p>
                      <a:r>
                        <a:rPr sz="2175" b="0">
                          <a:solidFill>
                            <a:srgbClr val="20314B"/>
                          </a:solidFill>
                          <a:latin typeface="Arial"/>
                          <a:ea typeface="Arial"/>
                          <a:cs typeface="Arial"/>
                        </a:rPr>
                        <a:t>One-time fingerprint</a:t>
                      </a:r>
                    </a:p>
                  </a:txBody>
                  <a:tcPr marL="91440" marR="91440" marT="45720" marB="45720">
                    <a:solidFill>
                      <a:srgbClr val="F0F4F3"/>
                    </a:solidFill>
                  </a:tcPr>
                </a:tc>
                <a:tc>
                  <a:txBody>
                    <a:bodyPr/>
                    <a:lstStyle/>
                    <a:p>
                      <a:r>
                        <a:rPr sz="2175" b="0">
                          <a:solidFill>
                            <a:srgbClr val="20314B"/>
                          </a:solidFill>
                          <a:latin typeface="Arial"/>
                          <a:ea typeface="Arial"/>
                          <a:cs typeface="Arial"/>
                        </a:rPr>
                        <a:t>Hash commitment to those endpoints, with their context</a:t>
                      </a:r>
                    </a:p>
                  </a:txBody>
                  <a:tcPr marL="91440" marR="91440" marT="45720" marB="45720">
                    <a:solidFill>
                      <a:srgbClr val="F0F4F3"/>
                    </a:solidFill>
                  </a:tcPr>
                </a:tc>
                <a:tc>
                  <a:txBody>
                    <a:bodyPr/>
                    <a:lstStyle/>
                    <a:p>
                      <a:r>
                        <a:rPr sz="2175" b="0">
                          <a:solidFill>
                            <a:srgbClr val="20314B"/>
                          </a:solidFill>
                          <a:latin typeface="Arial"/>
                          <a:ea typeface="Arial"/>
                          <a:cs typeface="Arial"/>
                        </a:rPr>
                        <a:t>Stored on-chain before that key signs. It is not the full public key.</a:t>
                      </a:r>
                    </a:p>
                  </a:txBody>
                  <a:tcPr marL="91440" marR="91440" marT="45720" marB="45720">
                    <a:solidFill>
                      <a:srgbClr val="F0F4F3"/>
                    </a:solidFill>
                  </a:tcPr>
                </a:tc>
              </a:tr>
              <a:tr h="1066800">
                <a:tc>
                  <a:txBody>
                    <a:bodyPr/>
                    <a:lstStyle/>
                    <a:p>
                      <a:r>
                        <a:rPr sz="2175" b="0">
                          <a:solidFill>
                            <a:srgbClr val="20314B"/>
                          </a:solidFill>
                          <a:latin typeface="Arial"/>
                          <a:ea typeface="Arial"/>
                          <a:cs typeface="Arial"/>
                        </a:rPr>
                        <a:t>Gas wallet</a:t>
                      </a:r>
                    </a:p>
                  </a:txBody>
                  <a:tcPr marL="91440" marR="91440" marT="45720" marB="45720">
                    <a:solidFill>
                      <a:srgbClr val="FFFDF7"/>
                    </a:solidFill>
                  </a:tcPr>
                </a:tc>
                <a:tc>
                  <a:txBody>
                    <a:bodyPr/>
                    <a:lstStyle/>
                    <a:p>
                      <a:r>
                        <a:rPr sz="2175" b="0">
                          <a:solidFill>
                            <a:srgbClr val="20314B"/>
                          </a:solidFill>
                          <a:latin typeface="Arial"/>
                          <a:ea typeface="Arial"/>
                          <a:cs typeface="Arial"/>
                        </a:rPr>
                        <a:t>Sends the prepared calls and pays their gas</a:t>
                      </a:r>
                    </a:p>
                  </a:txBody>
                  <a:tcPr marL="91440" marR="91440" marT="45720" marB="45720">
                    <a:solidFill>
                      <a:srgbClr val="FFFDF7"/>
                    </a:solidFill>
                  </a:tcPr>
                </a:tc>
                <a:tc>
                  <a:txBody>
                    <a:bodyPr/>
                    <a:lstStyle/>
                    <a:p>
                      <a:r>
                        <a:rPr sz="2175" b="0">
                          <a:solidFill>
                            <a:srgbClr val="20314B"/>
                          </a:solidFill>
                          <a:latin typeface="Arial"/>
                          <a:ea typeface="Arial"/>
                          <a:cs typeface="Arial"/>
                        </a:rPr>
                        <a:t>Has its own account and keys. It is separate from the passkey and the seat's one-time keys.</a:t>
                      </a:r>
                    </a:p>
                  </a:txBody>
                  <a:tcPr marL="91440" marR="91440" marT="45720" marB="45720">
                    <a:solidFill>
                      <a:srgbClr val="FFFDF7"/>
                    </a:solidFill>
                  </a:tcPr>
                </a:tc>
              </a:tr>
            </a:tbl>
          </a:graphicData>
        </a:graphic>
      </p:graphicFrame>
    </p:spTree>
    <p:extLst>
      <p:ext uri="{BB962C8B-B14F-4D97-AF65-F5344CB8AC3E}">
        <p14:creationId xmlns:p14="http://schemas.microsoft.com/office/powerpoint/2010/main" val="652276126"/>
      </p:ext>
    </p:extLst>
  </p:cSld>
</p:sld>
</file>

<file path=ppt/slides/slide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9BE52D-EE12-4B8F-A454-C9B5F017E785}"/>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First, which key is which?</a:t>
            </a:r>
          </a:p>
        </p:txBody>
      </p:sp>
      <p:sp>
        <p:nvSpPr>
          <p:cNvPr id="2" name="">
            <a:extLst xmlns:a="http://schemas.openxmlformats.org/drawingml/2006/main">
              <a:ext uri="{FF2B5EF4-FFF2-40B4-BE49-F238E27FC236}">
                <a16:creationId xmlns:a16="http://schemas.microsoft.com/office/drawing/2014/main" id="{71F41BCB-1A6F-42D5-B49E-C248E7DAEB02}"/>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CD18CE4E-F2F8-4904-9DA3-E589115215BA}"/>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passkey is used repeatedly. The one-time key is used for one approval only. The next sections follow key 0, then key 1, then key 2.</a:t>
            </a:r>
          </a:p>
        </p:txBody>
      </p:sp>
    </p:spTree>
    <p:extLst>
      <p:ext uri="{BB962C8B-B14F-4D97-AF65-F5344CB8AC3E}">
        <p14:creationId xmlns:p14="http://schemas.microsoft.com/office/powerpoint/2010/main" val="1002096202"/>
      </p:ext>
    </p:extLst>
  </p:cSld>
</p:sld>
</file>

<file path=ppt/slides/slide10.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245ABBA-F8AE-4074-87D8-D97A621050F8}"/>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1. On the phone: make the passkey</a:t>
            </a:r>
          </a:p>
        </p:txBody>
      </p:sp>
      <p:sp>
        <p:nvSpPr>
          <p:cNvPr id="2" name="">
            <a:extLst xmlns:a="http://schemas.openxmlformats.org/drawingml/2006/main">
              <a:ext uri="{FF2B5EF4-FFF2-40B4-BE49-F238E27FC236}">
                <a16:creationId xmlns:a16="http://schemas.microsoft.com/office/drawing/2014/main" id="{AA3F285B-68B2-48F4-A6C1-3EDF57E5570D}"/>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191BC5B-FAAD-4616-928A-E25CEF9E86AA}"/>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Press Make a passkey. Expect your browser or credential provider to ask where to create it and to require user verification, such as a face, fingerprint or PIN.</a:t>
            </a:r>
          </a:p>
        </p:txBody>
      </p:sp>
    </p:spTree>
    <p:extLst>
      <p:ext uri="{BB962C8B-B14F-4D97-AF65-F5344CB8AC3E}">
        <p14:creationId xmlns:p14="http://schemas.microsoft.com/office/powerpoint/2010/main" val="1538121613"/>
      </p:ext>
    </p:extLst>
  </p:cSld>
</p:sld>
</file>

<file path=ppt/slides/slide1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8638B0-FE8E-4182-90B7-EF251E9C71DC}"/>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make a passkey</a:t>
            </a:r>
          </a:p>
        </p:txBody>
      </p:sp>
      <p:sp>
        <p:nvSpPr>
          <p:cNvPr id="2" name="">
            <a:extLst xmlns:a="http://schemas.openxmlformats.org/drawingml/2006/main">
              <a:ext uri="{FF2B5EF4-FFF2-40B4-BE49-F238E27FC236}">
                <a16:creationId xmlns:a16="http://schemas.microsoft.com/office/drawing/2014/main" id="{BA0F5087-CD86-4616-BAA3-F4467DC8CAF6}"/>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9A992A5D-794D-43B4-865B-CAF28998C441}"/>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9D706A37-8F97-4F92-9C50-681586EE3205}"/>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A7B632E3-E717-4C5A-8F31-1F201E94DF0E}"/>
              </a:ext>
            </a:extLst>
          </p:cNvPr>
          <p:cNvPicPr>
            <a:picLocks xmlns:a="http://schemas.openxmlformats.org/drawingml/2006/main" noChangeAspect="1"/>
          </p:cNvPicPr>
          <p:nvPr/>
        </p:nvPicPr>
        <p:blipFill>
          <a:blip xmlns:r="http://schemas.openxmlformats.org/officeDocument/2006/relationships" xmlns:a="http://schemas.openxmlformats.org/drawingml/2006/main" r:embed="R6be3d15d3bfc429f"/>
          <a:stretch xmlns:a="http://schemas.openxmlformats.org/drawingml/2006/main"/>
        </p:blipFill>
        <p:spPr>
          <a:xfrm xmlns:a="http://schemas.openxmlformats.org/drawingml/2006/main">
            <a:off x="3408289" y="1952625"/>
            <a:ext cx="3089422"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E53C7DC-837B-4439-9020-D689DDDD38F3}"/>
              </a:ext>
            </a:extLst>
          </p:cNvPr>
          <p:cNvPicPr>
            <a:picLocks xmlns:a="http://schemas.openxmlformats.org/drawingml/2006/main" noChangeAspect="1"/>
          </p:cNvPicPr>
          <p:nvPr/>
        </p:nvPicPr>
        <p:blipFill>
          <a:blip xmlns:r="http://schemas.openxmlformats.org/officeDocument/2006/relationships" xmlns:a="http://schemas.openxmlformats.org/drawingml/2006/main" r:embed="Re059603c894a455e"/>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1336360542"/>
      </p:ext>
    </p:extLst>
  </p:cSld>
</p:sld>
</file>

<file path=ppt/slides/slide1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BA4817A-8B53-40D8-91C8-3489D4B3290B}"/>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1. On the phone: make the passkey</a:t>
            </a:r>
          </a:p>
        </p:txBody>
      </p:sp>
      <p:sp>
        <p:nvSpPr>
          <p:cNvPr id="2" name="">
            <a:extLst xmlns:a="http://schemas.openxmlformats.org/drawingml/2006/main">
              <a:ext uri="{FF2B5EF4-FFF2-40B4-BE49-F238E27FC236}">
                <a16:creationId xmlns:a16="http://schemas.microsoft.com/office/drawing/2014/main" id="{02776093-F203-4C49-ADCA-FFA830C6BF24}"/>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6F200626-8334-4211-86DE-40ED814C1FF0}"/>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page calls navigator.credentials.create({ publicKey: ... }). It asks for P-256 (alg: -7), a discoverable credential, required user verification and the prf extension. It records the credential ID, public coordinates and site domain; it does not record the passkey private key. The passkey belongs to the site's domain. A passkey made on localhost is not one for signandburn.app.</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Gas: none. On-chain change: none. Exposure: the page receives the passkey public key and credential metadata. No one-time approval has been made.</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“I already have one” is a different path. The page asks for two ordinary WebAuthn assertions to recover the existing passkey's P-256 public key. Those are not two signatures with a one-time key. A synced passkey does not sync this application's ledger: do not alternate signing browsers for one seat while an approval might be waiting.</a:t>
            </a:r>
          </a:p>
        </p:txBody>
      </p:sp>
    </p:spTree>
    <p:extLst>
      <p:ext uri="{BB962C8B-B14F-4D97-AF65-F5344CB8AC3E}">
        <p14:creationId xmlns:p14="http://schemas.microsoft.com/office/powerpoint/2010/main" val="772869235"/>
      </p:ext>
    </p:extLst>
  </p:cSld>
</p:sld>
</file>

<file path=ppt/slides/slide1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2351C97-B22C-4956-9F40-95DDE4C9CC95}"/>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2. On the phone: prepare the first one-time key</a:t>
            </a:r>
          </a:p>
        </p:txBody>
      </p:sp>
      <p:sp>
        <p:nvSpPr>
          <p:cNvPr id="2" name="">
            <a:extLst xmlns:a="http://schemas.openxmlformats.org/drawingml/2006/main">
              <a:ext uri="{FF2B5EF4-FFF2-40B4-BE49-F238E27FC236}">
                <a16:creationId xmlns:a16="http://schemas.microsoft.com/office/drawing/2014/main" id="{EF46EBEB-1F8B-47D6-A95C-E3455927EE66}"/>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30487D4D-67E7-4248-A8F8-59B7671BB419}"/>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Press Tap to make key 0. This is another user-verification prompt, not a wallet transaction.</a:t>
            </a:r>
          </a:p>
        </p:txBody>
      </p:sp>
    </p:spTree>
    <p:extLst>
      <p:ext uri="{BB962C8B-B14F-4D97-AF65-F5344CB8AC3E}">
        <p14:creationId xmlns:p14="http://schemas.microsoft.com/office/powerpoint/2010/main" val="1004506548"/>
      </p:ext>
    </p:extLst>
  </p:cSld>
</p:sld>
</file>

<file path=ppt/slides/slide1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C899F7-EC99-46EF-A40C-58E3F990F1C5}"/>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prepare key 0</a:t>
            </a:r>
          </a:p>
        </p:txBody>
      </p:sp>
      <p:sp>
        <p:nvSpPr>
          <p:cNvPr id="2" name="">
            <a:extLst xmlns:a="http://schemas.openxmlformats.org/drawingml/2006/main">
              <a:ext uri="{FF2B5EF4-FFF2-40B4-BE49-F238E27FC236}">
                <a16:creationId xmlns:a16="http://schemas.microsoft.com/office/drawing/2014/main" id="{E5B6AEEC-DFC9-42A6-8053-CC11F3CBDA9A}"/>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ED47ABB5-7326-4BDB-8B28-0DCE4DCD019F}"/>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69D9036A-CF53-4054-A714-E981D4DFAE2D}"/>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4E80849A-358A-4E80-A776-100A160600A1}"/>
              </a:ext>
            </a:extLst>
          </p:cNvPr>
          <p:cNvPicPr>
            <a:picLocks xmlns:a="http://schemas.openxmlformats.org/drawingml/2006/main" noChangeAspect="1"/>
          </p:cNvPicPr>
          <p:nvPr/>
        </p:nvPicPr>
        <p:blipFill>
          <a:blip xmlns:r="http://schemas.openxmlformats.org/officeDocument/2006/relationships" xmlns:a="http://schemas.openxmlformats.org/drawingml/2006/main" r:embed="R3a1f29ec466446c9"/>
          <a:stretch xmlns:a="http://schemas.openxmlformats.org/drawingml/2006/main"/>
        </p:blipFill>
        <p:spPr>
          <a:xfrm xmlns:a="http://schemas.openxmlformats.org/drawingml/2006/main">
            <a:off x="3235141" y="1952625"/>
            <a:ext cx="3435718"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94826A5-488A-46A1-8305-3657AF87D8E0}"/>
              </a:ext>
            </a:extLst>
          </p:cNvPr>
          <p:cNvPicPr>
            <a:picLocks xmlns:a="http://schemas.openxmlformats.org/drawingml/2006/main" noChangeAspect="1"/>
          </p:cNvPicPr>
          <p:nvPr/>
        </p:nvPicPr>
        <p:blipFill>
          <a:blip xmlns:r="http://schemas.openxmlformats.org/officeDocument/2006/relationships" xmlns:a="http://schemas.openxmlformats.org/drawingml/2006/main" r:embed="Rb60a2b62b1134cf2"/>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258922549"/>
      </p:ext>
    </p:extLst>
  </p:cSld>
</p:sld>
</file>

<file path=ppt/slides/slide1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E51194-E704-4EFD-B552-164CC611DFA2}"/>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2. On the phone: prepare the first one-time key</a:t>
            </a:r>
          </a:p>
        </p:txBody>
      </p:sp>
      <p:sp>
        <p:nvSpPr>
          <p:cNvPr id="2" name="">
            <a:extLst xmlns:a="http://schemas.openxmlformats.org/drawingml/2006/main">
              <a:ext uri="{FF2B5EF4-FFF2-40B4-BE49-F238E27FC236}">
                <a16:creationId xmlns:a16="http://schemas.microsoft.com/office/drawing/2014/main" id="{8E1BC147-976C-4CF5-932A-3CC17C89834D}"/>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07C8394B-C841-46E2-A71C-596786988698}"/>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page calls navigator.credentials.get({ publicKey: ... }) with a fresh challenge and one PRF salt for key 0. The PRF returns seed(0). The console derives 67 chain starts, hashes each to its endpoint, then hashes the endpoints into key 0's fingerprint. The first-key setup uses the PRF output; it does not make a one-time transaction signature.</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Gas: none. On-chain change: none. Exposure: seed(0) is briefly in the signing page and console. The browser record keeps the fingerprint and predicted addresses, not the seed. A hostile page or extension able to read that memory could capture the seed at this point, before any shielded transaction exists. Public-key disclosure is not the only exposure to consider.</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A missing PRF result stops this path. Device support is something to test, not something a phone screenshot establishes.</a:t>
            </a:r>
          </a:p>
        </p:txBody>
      </p:sp>
    </p:spTree>
    <p:extLst>
      <p:ext uri="{BB962C8B-B14F-4D97-AF65-F5344CB8AC3E}">
        <p14:creationId xmlns:p14="http://schemas.microsoft.com/office/powerpoint/2010/main" val="786775604"/>
      </p:ext>
    </p:extLst>
  </p:cSld>
</p:sld>
</file>

<file path=ppt/slides/slide1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E2D3587-FC87-44E8-BD17-19A202C7BD87}"/>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3. On the phone: give someone the build request</a:t>
            </a:r>
          </a:p>
        </p:txBody>
      </p:sp>
      <p:sp>
        <p:nvSpPr>
          <p:cNvPr id="2" name="">
            <a:extLst xmlns:a="http://schemas.openxmlformats.org/drawingml/2006/main">
              <a:ext uri="{FF2B5EF4-FFF2-40B4-BE49-F238E27FC236}">
                <a16:creationId xmlns:a16="http://schemas.microsoft.com/office/drawing/2014/main" id="{792C449F-4ABE-4909-BB26-064376D48B10}"/>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A4115150-53DC-43BC-B115-E170B0D79126}"/>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addresses are worked out before deployment. Connect a wallet remains available. If this phone has no wallet, press Copy link and send the plain URL to the person paying.</a:t>
            </a:r>
          </a:p>
        </p:txBody>
      </p:sp>
    </p:spTree>
    <p:extLst>
      <p:ext uri="{BB962C8B-B14F-4D97-AF65-F5344CB8AC3E}">
        <p14:creationId xmlns:p14="http://schemas.microsoft.com/office/powerpoint/2010/main" val="384228821"/>
      </p:ext>
    </p:extLst>
  </p:cSld>
</p:sld>
</file>

<file path=ppt/slides/slide1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B79FDB-F63A-4CD4-AAEB-94E610746964}"/>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the build request and copy link</a:t>
            </a:r>
          </a:p>
        </p:txBody>
      </p:sp>
      <p:sp>
        <p:nvSpPr>
          <p:cNvPr id="2" name="">
            <a:extLst xmlns:a="http://schemas.openxmlformats.org/drawingml/2006/main">
              <a:ext uri="{FF2B5EF4-FFF2-40B4-BE49-F238E27FC236}">
                <a16:creationId xmlns:a16="http://schemas.microsoft.com/office/drawing/2014/main" id="{9D45EF40-32D8-459C-8F93-B90372F45CE6}"/>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3163CEBB-DC12-4BBD-936C-8C1B126B8EC9}"/>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554A0482-1392-4C64-871F-AC877ABF8CD9}"/>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C01BD999-8438-4F69-95A3-BF9685486A4E}"/>
              </a:ext>
            </a:extLst>
          </p:cNvPr>
          <p:cNvPicPr>
            <a:picLocks xmlns:a="http://schemas.openxmlformats.org/drawingml/2006/main" noChangeAspect="1"/>
          </p:cNvPicPr>
          <p:nvPr/>
        </p:nvPicPr>
        <p:blipFill>
          <a:blip xmlns:r="http://schemas.openxmlformats.org/officeDocument/2006/relationships" xmlns:a="http://schemas.openxmlformats.org/drawingml/2006/main" r:embed="R2b45c6acd39a4b4c"/>
          <a:stretch xmlns:a="http://schemas.openxmlformats.org/drawingml/2006/main"/>
        </p:blipFill>
        <p:spPr>
          <a:xfrm xmlns:a="http://schemas.openxmlformats.org/drawingml/2006/main">
            <a:off x="4004474" y="1952625"/>
            <a:ext cx="1897051"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0F5319B-04D4-44AE-A1B6-7D0FEDE84F2A}"/>
              </a:ext>
            </a:extLst>
          </p:cNvPr>
          <p:cNvPicPr>
            <a:picLocks xmlns:a="http://schemas.openxmlformats.org/drawingml/2006/main" noChangeAspect="1"/>
          </p:cNvPicPr>
          <p:nvPr/>
        </p:nvPicPr>
        <p:blipFill>
          <a:blip xmlns:r="http://schemas.openxmlformats.org/officeDocument/2006/relationships" xmlns:a="http://schemas.openxmlformats.org/drawingml/2006/main" r:embed="Rf46496318af840a6"/>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445444054"/>
      </p:ext>
    </p:extLst>
  </p:cSld>
</p:sld>
</file>

<file path=ppt/slides/slide1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FC839CA-A2A4-431F-88E0-00B6FF15917F}"/>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3. On the phone: give someone the build request</a:t>
            </a:r>
          </a:p>
        </p:txBody>
      </p:sp>
      <p:sp>
        <p:nvSpPr>
          <p:cNvPr id="2" name="">
            <a:extLst xmlns:a="http://schemas.openxmlformats.org/drawingml/2006/main">
              <a:ext uri="{FF2B5EF4-FFF2-40B4-BE49-F238E27FC236}">
                <a16:creationId xmlns:a16="http://schemas.microsoft.com/office/drawing/2014/main" id="{BF8CA3FA-6E5A-42AD-832B-61DEF63D6F80}"/>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16CA2A59-74A9-4787-A686-0BF451607076}"/>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This is an unsigned build request. It holds the passkey's public coordinates, seat number, key 0's fingerprint and chain identifier. It does not contain a seed or a one-time approval signature. The payer's page rebuilds the calls and addresses from those values rather than accepting arbitrary calls from the link.</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Gas: still none. Exposure: public setup values go to whoever receives the link, including the messaging service used to send it. A build link is different from the signed approval link below.</a:t>
            </a:r>
          </a:p>
        </p:txBody>
      </p:sp>
    </p:spTree>
    <p:extLst>
      <p:ext uri="{BB962C8B-B14F-4D97-AF65-F5344CB8AC3E}">
        <p14:creationId xmlns:p14="http://schemas.microsoft.com/office/powerpoint/2010/main" val="1303883139"/>
      </p:ext>
    </p:extLst>
  </p:cSld>
</p:sld>
</file>

<file path=ppt/slides/slide1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C797A6E-53D7-4441-93A8-E1DF253ED2F4}"/>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4. On the payer's device: review, connect, deploy</a:t>
            </a:r>
          </a:p>
        </p:txBody>
      </p:sp>
      <p:sp>
        <p:nvSpPr>
          <p:cNvPr id="2" name="">
            <a:extLst xmlns:a="http://schemas.openxmlformats.org/drawingml/2006/main">
              <a:ext uri="{FF2B5EF4-FFF2-40B4-BE49-F238E27FC236}">
                <a16:creationId xmlns:a16="http://schemas.microsoft.com/office/drawing/2014/main" id="{736F9906-9562-4FBA-8C90-E1DB73814173}"/>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1F2D1BDB-9D85-4ADC-88B2-5DAEB780AF45}"/>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payer opens the link, or opens Pay for a request on this site and pastes it.</a:t>
            </a:r>
          </a:p>
        </p:txBody>
      </p:sp>
    </p:spTree>
    <p:extLst>
      <p:ext uri="{BB962C8B-B14F-4D97-AF65-F5344CB8AC3E}">
        <p14:creationId xmlns:p14="http://schemas.microsoft.com/office/powerpoint/2010/main" val="1729561439"/>
      </p:ext>
    </p:extLst>
  </p:cSld>
</p:sld>
</file>

<file path=ppt/slides/slide20.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DFDA19-9F94-436C-BAF2-BC512A744A50}"/>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paste the payment link</a:t>
            </a:r>
          </a:p>
        </p:txBody>
      </p:sp>
      <p:sp>
        <p:nvSpPr>
          <p:cNvPr id="2" name="">
            <a:extLst xmlns:a="http://schemas.openxmlformats.org/drawingml/2006/main">
              <a:ext uri="{FF2B5EF4-FFF2-40B4-BE49-F238E27FC236}">
                <a16:creationId xmlns:a16="http://schemas.microsoft.com/office/drawing/2014/main" id="{52277D8E-7AFB-4383-B1FC-3E8929E4E89F}"/>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31239B61-42C8-4227-BF5E-E968B80AD5A8}"/>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4641B44E-A4EB-4ECC-8205-E0F67FD3BBA3}"/>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A236BE2B-ABC1-44E9-8716-8B6A41D89B00}"/>
              </a:ext>
            </a:extLst>
          </p:cNvPr>
          <p:cNvPicPr>
            <a:picLocks xmlns:a="http://schemas.openxmlformats.org/drawingml/2006/main" noChangeAspect="1"/>
          </p:cNvPicPr>
          <p:nvPr/>
        </p:nvPicPr>
        <p:blipFill>
          <a:blip xmlns:r="http://schemas.openxmlformats.org/officeDocument/2006/relationships" xmlns:a="http://schemas.openxmlformats.org/drawingml/2006/main" r:embed="R74ee103e44ce4813"/>
          <a:stretch xmlns:a="http://schemas.openxmlformats.org/drawingml/2006/main"/>
        </p:blipFill>
        <p:spPr>
          <a:xfrm xmlns:a="http://schemas.openxmlformats.org/drawingml/2006/main">
            <a:off x="666750" y="4745000"/>
            <a:ext cx="8572500" cy="2035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73F5CDD-6E54-4131-B5D5-0AB6A34A4316}"/>
              </a:ext>
            </a:extLst>
          </p:cNvPr>
          <p:cNvPicPr>
            <a:picLocks xmlns:a="http://schemas.openxmlformats.org/drawingml/2006/main" noChangeAspect="1"/>
          </p:cNvPicPr>
          <p:nvPr/>
        </p:nvPicPr>
        <p:blipFill>
          <a:blip xmlns:r="http://schemas.openxmlformats.org/officeDocument/2006/relationships" xmlns:a="http://schemas.openxmlformats.org/drawingml/2006/main" r:embed="Rdd3b7ced71fa4552"/>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44163663"/>
      </p:ext>
    </p:extLst>
  </p:cSld>
</p:sld>
</file>

<file path=ppt/slides/slide2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1D833C7-FCCA-434F-8AFF-5FEE8EEEE6DF}"/>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4. On the payer's device: review, connect, deploy</a:t>
            </a:r>
          </a:p>
        </p:txBody>
      </p:sp>
      <p:sp>
        <p:nvSpPr>
          <p:cNvPr id="2" name="">
            <a:extLst xmlns:a="http://schemas.openxmlformats.org/drawingml/2006/main">
              <a:ext uri="{FF2B5EF4-FFF2-40B4-BE49-F238E27FC236}">
                <a16:creationId xmlns:a16="http://schemas.microsoft.com/office/drawing/2014/main" id="{BBBE7A3C-A63D-47AA-9A88-A328428FEE26}"/>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97446DEA-27AA-492D-BF77-4372B72889A4}"/>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Pasting reviews the request here. It does not visit the pasted host or send a wallet transaction. The payer connects a browser wallet. With multiple wallets, the page asks which to use.</a:t>
            </a:r>
          </a:p>
        </p:txBody>
      </p:sp>
    </p:spTree>
    <p:extLst>
      <p:ext uri="{BB962C8B-B14F-4D97-AF65-F5344CB8AC3E}">
        <p14:creationId xmlns:p14="http://schemas.microsoft.com/office/powerpoint/2010/main" val="1727415813"/>
      </p:ext>
    </p:extLst>
  </p:cSld>
</p:sld>
</file>

<file path=ppt/slides/slide2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303F5F-3290-459B-A2D6-DF19967AB501}"/>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choose the gas wallet</a:t>
            </a:r>
          </a:p>
        </p:txBody>
      </p:sp>
      <p:sp>
        <p:nvSpPr>
          <p:cNvPr id="2" name="">
            <a:extLst xmlns:a="http://schemas.openxmlformats.org/drawingml/2006/main">
              <a:ext uri="{FF2B5EF4-FFF2-40B4-BE49-F238E27FC236}">
                <a16:creationId xmlns:a16="http://schemas.microsoft.com/office/drawing/2014/main" id="{57504588-3072-41A6-B627-DF3942EED992}"/>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F8D41DA8-8659-449E-B061-A5729D041819}"/>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C92E3C6D-233C-4B3A-BCF6-78345B94DA9E}"/>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48129113-8495-40CA-9C5C-90C5063C9A68}"/>
              </a:ext>
            </a:extLst>
          </p:cNvPr>
          <p:cNvPicPr>
            <a:picLocks xmlns:a="http://schemas.openxmlformats.org/drawingml/2006/main" noChangeAspect="1"/>
          </p:cNvPicPr>
          <p:nvPr/>
        </p:nvPicPr>
        <p:blipFill>
          <a:blip xmlns:r="http://schemas.openxmlformats.org/officeDocument/2006/relationships" xmlns:a="http://schemas.openxmlformats.org/drawingml/2006/main" r:embed="R3c214d7c26114f5a"/>
          <a:stretch xmlns:a="http://schemas.openxmlformats.org/drawingml/2006/main"/>
        </p:blipFill>
        <p:spPr>
          <a:xfrm xmlns:a="http://schemas.openxmlformats.org/drawingml/2006/main">
            <a:off x="1941326" y="1952625"/>
            <a:ext cx="6023348"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270043B-4036-4A2E-A7D7-FDAEB8964B8D}"/>
              </a:ext>
            </a:extLst>
          </p:cNvPr>
          <p:cNvPicPr>
            <a:picLocks xmlns:a="http://schemas.openxmlformats.org/drawingml/2006/main" noChangeAspect="1"/>
          </p:cNvPicPr>
          <p:nvPr/>
        </p:nvPicPr>
        <p:blipFill>
          <a:blip xmlns:r="http://schemas.openxmlformats.org/officeDocument/2006/relationships" xmlns:a="http://schemas.openxmlformats.org/drawingml/2006/main" r:embed="R14d50cc416424efb"/>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592685965"/>
      </p:ext>
    </p:extLst>
  </p:cSld>
</p:sld>
</file>

<file path=ppt/slides/slide2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951A6A4-5411-4E31-964B-EBD7759A8FAF}"/>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4. On the payer's device: review, connect, deploy</a:t>
            </a:r>
          </a:p>
        </p:txBody>
      </p:sp>
      <p:sp>
        <p:nvSpPr>
          <p:cNvPr id="2" name="">
            <a:extLst xmlns:a="http://schemas.openxmlformats.org/drawingml/2006/main">
              <a:ext uri="{FF2B5EF4-FFF2-40B4-BE49-F238E27FC236}">
                <a16:creationId xmlns:a16="http://schemas.microsoft.com/office/drawing/2014/main" id="{FF5D562A-EE38-45EB-892A-F041C0F12CE1}"/>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D1FC9303-A67B-44A8-9D53-A1E7F35A8DE7}"/>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payer checks the predicted Safe and seat, then presses Pay: one transaction.</a:t>
            </a:r>
          </a:p>
        </p:txBody>
      </p:sp>
    </p:spTree>
    <p:extLst>
      <p:ext uri="{BB962C8B-B14F-4D97-AF65-F5344CB8AC3E}">
        <p14:creationId xmlns:p14="http://schemas.microsoft.com/office/powerpoint/2010/main" val="11134602"/>
      </p:ext>
    </p:extLst>
  </p:cSld>
</p:sld>
</file>

<file path=ppt/slides/slide2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C01DEE-2EE3-4E8A-9D18-A421005EF1D3}"/>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review the deployment</a:t>
            </a:r>
          </a:p>
        </p:txBody>
      </p:sp>
      <p:sp>
        <p:nvSpPr>
          <p:cNvPr id="2" name="">
            <a:extLst xmlns:a="http://schemas.openxmlformats.org/drawingml/2006/main">
              <a:ext uri="{FF2B5EF4-FFF2-40B4-BE49-F238E27FC236}">
                <a16:creationId xmlns:a16="http://schemas.microsoft.com/office/drawing/2014/main" id="{72E75E2E-FEDC-4770-B1DB-C0D0850DBA9F}"/>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E05217A3-6418-4020-9F87-88CD39ADBF63}"/>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76E4BF0F-8B61-4089-AA3F-9F2175C15310}"/>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C19B0977-5C29-413F-8B39-3834BA1ADB02}"/>
              </a:ext>
            </a:extLst>
          </p:cNvPr>
          <p:cNvPicPr>
            <a:picLocks xmlns:a="http://schemas.openxmlformats.org/drawingml/2006/main" noChangeAspect="1"/>
          </p:cNvPicPr>
          <p:nvPr/>
        </p:nvPicPr>
        <p:blipFill>
          <a:blip xmlns:r="http://schemas.openxmlformats.org/officeDocument/2006/relationships" xmlns:a="http://schemas.openxmlformats.org/drawingml/2006/main" r:embed="R76a08c3f0eb5406b"/>
          <a:stretch xmlns:a="http://schemas.openxmlformats.org/drawingml/2006/main"/>
        </p:blipFill>
        <p:spPr>
          <a:xfrm xmlns:a="http://schemas.openxmlformats.org/drawingml/2006/main">
            <a:off x="666750" y="2179729"/>
            <a:ext cx="8572500" cy="7165792"/>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8C5EA8D-29AA-4FB7-8164-4877EB7B1EBA}"/>
              </a:ext>
            </a:extLst>
          </p:cNvPr>
          <p:cNvPicPr>
            <a:picLocks xmlns:a="http://schemas.openxmlformats.org/drawingml/2006/main" noChangeAspect="1"/>
          </p:cNvPicPr>
          <p:nvPr/>
        </p:nvPicPr>
        <p:blipFill>
          <a:blip xmlns:r="http://schemas.openxmlformats.org/officeDocument/2006/relationships" xmlns:a="http://schemas.openxmlformats.org/drawingml/2006/main" r:embed="Rcc6a54920ead41c7"/>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209447518"/>
      </p:ext>
    </p:extLst>
  </p:cSld>
</p:sld>
</file>

<file path=ppt/slides/slide2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AB9603-5324-4F11-A7CD-EF073D51ABD0}"/>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4. On the payer's device: review, connect, deploy</a:t>
            </a:r>
          </a:p>
        </p:txBody>
      </p:sp>
      <p:sp>
        <p:nvSpPr>
          <p:cNvPr id="2" name="">
            <a:extLst xmlns:a="http://schemas.openxmlformats.org/drawingml/2006/main">
              <a:ext uri="{FF2B5EF4-FFF2-40B4-BE49-F238E27FC236}">
                <a16:creationId xmlns:a16="http://schemas.microsoft.com/office/drawing/2014/main" id="{21F7A44C-2220-4F96-AAC1-FE7647E73AAE}"/>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6E31E4ED-A630-4898-9570-DD0E2C1D2857}"/>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Expect a separate wallet confirmation after pressing Pay. The payer needs Base Sepolia ETH for gas on the published site. A Trezor or Ledger can be used through a browser wallet that drives it. The stand-in wallet in these pictures is not a screenshot of MetaMask's confirmation.</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transaction deploys the passkey signer, seat and 1-of-1 Safe, plus the SeatFactory if needed. Already deployed parts are skipped. The seat becomes the Safe's one owner. The payer owns none of it.</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Exposure: the passkey P-256 public key is now public through its signer. The seat holds key 0's fingerprint, not its full one-time public key. The gas account is a separate signer; a normal EOA transaction signature also allows its public key to be recovered by those who receive it.</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If the wallet says a request is already waiting, open it and finish or cancel the pending request, then reconnect. A connection attempt does not send the deployment or approval transaction.</a:t>
            </a:r>
          </a:p>
        </p:txBody>
      </p:sp>
    </p:spTree>
    <p:extLst>
      <p:ext uri="{BB962C8B-B14F-4D97-AF65-F5344CB8AC3E}">
        <p14:creationId xmlns:p14="http://schemas.microsoft.com/office/powerpoint/2010/main" val="703301450"/>
      </p:ext>
    </p:extLst>
  </p:cSld>
</p:sld>
</file>

<file path=ppt/slides/slide2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ACFFBE4-97CA-4C70-BC40-BF4E480BEEBC}"/>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5. Put spending ETH in the Safe</a:t>
            </a:r>
          </a:p>
        </p:txBody>
      </p:sp>
      <p:sp>
        <p:nvSpPr>
          <p:cNvPr id="2" name="">
            <a:extLst xmlns:a="http://schemas.openxmlformats.org/drawingml/2006/main">
              <a:ext uri="{FF2B5EF4-FFF2-40B4-BE49-F238E27FC236}">
                <a16:creationId xmlns:a16="http://schemas.microsoft.com/office/drawing/2014/main" id="{05B91BF1-8803-4FB0-8C80-F5ED3AEF7C95}"/>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54FAE433-7099-4E16-9E1E-4A7273C10842}"/>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Gas money and Safe money are separate. The payer's wallet pays transaction fees. The Safe needs its own balance for the transfers it will make.</a:t>
            </a:r>
          </a:p>
        </p:txBody>
      </p:sp>
    </p:spTree>
    <p:extLst>
      <p:ext uri="{BB962C8B-B14F-4D97-AF65-F5344CB8AC3E}">
        <p14:creationId xmlns:p14="http://schemas.microsoft.com/office/powerpoint/2010/main" val="1974469023"/>
      </p:ext>
    </p:extLst>
  </p:cSld>
</p:sld>
</file>

<file path=ppt/slides/slide2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FDF1D5-D9F8-4DB3-8196-CBBA9A445E61}"/>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the deployed Safe still needs funds</a:t>
            </a:r>
          </a:p>
        </p:txBody>
      </p:sp>
      <p:sp>
        <p:nvSpPr>
          <p:cNvPr id="2" name="">
            <a:extLst xmlns:a="http://schemas.openxmlformats.org/drawingml/2006/main">
              <a:ext uri="{FF2B5EF4-FFF2-40B4-BE49-F238E27FC236}">
                <a16:creationId xmlns:a16="http://schemas.microsoft.com/office/drawing/2014/main" id="{2D13B9DB-4057-437A-A86F-DC2D17E67132}"/>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88AE181B-F61A-424C-8A13-DB3EDFAC8B8E}"/>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69B9BD5D-84A1-47D4-BC4B-70EB828D6CE7}"/>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10F75CB3-63E0-46A6-AB73-A95F1CC18C9F}"/>
              </a:ext>
            </a:extLst>
          </p:cNvPr>
          <p:cNvPicPr>
            <a:picLocks xmlns:a="http://schemas.openxmlformats.org/drawingml/2006/main" noChangeAspect="1"/>
          </p:cNvPicPr>
          <p:nvPr/>
        </p:nvPicPr>
        <p:blipFill>
          <a:blip xmlns:r="http://schemas.openxmlformats.org/officeDocument/2006/relationships" xmlns:a="http://schemas.openxmlformats.org/drawingml/2006/main" r:embed="R99f3e5e6495e4847"/>
          <a:stretch xmlns:a="http://schemas.openxmlformats.org/drawingml/2006/main"/>
        </p:blipFill>
        <p:spPr>
          <a:xfrm xmlns:a="http://schemas.openxmlformats.org/drawingml/2006/main">
            <a:off x="3756526" y="1952625"/>
            <a:ext cx="2392947"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365DFA0-1B8E-42CC-8259-AB4AA5906176}"/>
              </a:ext>
            </a:extLst>
          </p:cNvPr>
          <p:cNvPicPr>
            <a:picLocks xmlns:a="http://schemas.openxmlformats.org/drawingml/2006/main" noChangeAspect="1"/>
          </p:cNvPicPr>
          <p:nvPr/>
        </p:nvPicPr>
        <p:blipFill>
          <a:blip xmlns:r="http://schemas.openxmlformats.org/officeDocument/2006/relationships" xmlns:a="http://schemas.openxmlformats.org/drawingml/2006/main" r:embed="Ra1850e5f38fb4382"/>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996683213"/>
      </p:ext>
    </p:extLst>
  </p:cSld>
</p:sld>
</file>

<file path=ppt/slides/slide2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1BC1B72-991D-4CD8-9808-AD6F7B96BE2B}"/>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5. Put spending ETH in the Safe</a:t>
            </a:r>
          </a:p>
        </p:txBody>
      </p:sp>
      <p:sp>
        <p:nvSpPr>
          <p:cNvPr id="2" name="">
            <a:extLst xmlns:a="http://schemas.openxmlformats.org/drawingml/2006/main">
              <a:ext uri="{FF2B5EF4-FFF2-40B4-BE49-F238E27FC236}">
                <a16:creationId xmlns:a16="http://schemas.microsoft.com/office/drawing/2014/main" id="{A44566DD-2E02-468A-B751-BC691512E98C}"/>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9D0079CA-E396-424B-89AA-0705C845E131}"/>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stray nullnull text in this captured funding screen is a display bug, not transaction data. The capture keeps it as shown by the page.</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payer can send 0.001 test ETH to the Safe, or someone can send test ETH to its address by another route. This is a separate wallet transaction, with its own gas. It does not consume a one-time signing key. The phone watches the chain and moves on when the funds arrive.</a:t>
            </a:r>
          </a:p>
        </p:txBody>
      </p:sp>
    </p:spTree>
    <p:extLst>
      <p:ext uri="{BB962C8B-B14F-4D97-AF65-F5344CB8AC3E}">
        <p14:creationId xmlns:p14="http://schemas.microsoft.com/office/powerpoint/2010/main" val="981579496"/>
      </p:ext>
    </p:extLst>
  </p:cSld>
</p:sld>
</file>

<file path=ppt/slides/slide2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F0CE41E-5509-4851-8427-BE3E0F109645}"/>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6. First shielded transaction: key 0 sends 0.0001 test ETH</a:t>
            </a:r>
          </a:p>
        </p:txBody>
      </p:sp>
      <p:sp>
        <p:nvSpPr>
          <p:cNvPr id="2" name="">
            <a:extLst xmlns:a="http://schemas.openxmlformats.org/drawingml/2006/main">
              <a:ext uri="{FF2B5EF4-FFF2-40B4-BE49-F238E27FC236}">
                <a16:creationId xmlns:a16="http://schemas.microsoft.com/office/drawing/2014/main" id="{9C79FF10-09A7-4303-B411-2E108A3A07F5}"/>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1ECB0D98-BDDE-4826-9568-CE51D6843DF3}"/>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On the phone, enter the recipient and amount. Read the console's explanation and transaction hash. Hold the button for two seconds. Reject remains a separate press.</a:t>
            </a:r>
          </a:p>
        </p:txBody>
      </p:sp>
    </p:spTree>
    <p:extLst>
      <p:ext uri="{BB962C8B-B14F-4D97-AF65-F5344CB8AC3E}">
        <p14:creationId xmlns:p14="http://schemas.microsoft.com/office/powerpoint/2010/main" val="1850983134"/>
      </p:ext>
    </p:extLst>
  </p:cSld>
</p:sld>
</file>

<file path=ppt/slides/slide30.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AE6DFE-ACA2-45F8-AA8E-0CDB5D1DC8C0}"/>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review before the passkey tap</a:t>
            </a:r>
          </a:p>
        </p:txBody>
      </p:sp>
      <p:sp>
        <p:nvSpPr>
          <p:cNvPr id="2" name="">
            <a:extLst xmlns:a="http://schemas.openxmlformats.org/drawingml/2006/main">
              <a:ext uri="{FF2B5EF4-FFF2-40B4-BE49-F238E27FC236}">
                <a16:creationId xmlns:a16="http://schemas.microsoft.com/office/drawing/2014/main" id="{9C234BAC-D3A3-4DBC-9437-03F0D2854EEE}"/>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347E4F69-F1A9-4937-B6BB-802E6B0F733D}"/>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18F068B0-D505-48C6-A69B-FE8487A94893}"/>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E5BD7577-F9B2-4AA6-B18D-69C4C884F392}"/>
              </a:ext>
            </a:extLst>
          </p:cNvPr>
          <p:cNvPicPr>
            <a:picLocks xmlns:a="http://schemas.openxmlformats.org/drawingml/2006/main" noChangeAspect="1"/>
          </p:cNvPicPr>
          <p:nvPr/>
        </p:nvPicPr>
        <p:blipFill>
          <a:blip xmlns:r="http://schemas.openxmlformats.org/officeDocument/2006/relationships" xmlns:a="http://schemas.openxmlformats.org/drawingml/2006/main" r:embed="R6c3d98a7424e4cd5"/>
          <a:stretch xmlns:a="http://schemas.openxmlformats.org/drawingml/2006/main"/>
        </p:blipFill>
        <p:spPr>
          <a:xfrm xmlns:a="http://schemas.openxmlformats.org/drawingml/2006/main">
            <a:off x="3779179" y="1952625"/>
            <a:ext cx="2347642"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968F13B-3140-4DC5-BB3B-11174E5F901F}"/>
              </a:ext>
            </a:extLst>
          </p:cNvPr>
          <p:cNvPicPr>
            <a:picLocks xmlns:a="http://schemas.openxmlformats.org/drawingml/2006/main" noChangeAspect="1"/>
          </p:cNvPicPr>
          <p:nvPr/>
        </p:nvPicPr>
        <p:blipFill>
          <a:blip xmlns:r="http://schemas.openxmlformats.org/officeDocument/2006/relationships" xmlns:a="http://schemas.openxmlformats.org/drawingml/2006/main" r:embed="R216f019dd2b54316"/>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131814310"/>
      </p:ext>
    </p:extLst>
  </p:cSld>
</p:sld>
</file>

<file path=ppt/slides/slide3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D126865-C9D6-408E-9E1E-DCA0E27DC2CF}"/>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6. First shielded transaction: key 0 sends 0.0001 test ETH</a:t>
            </a:r>
          </a:p>
        </p:txBody>
      </p:sp>
      <p:sp>
        <p:nvSpPr>
          <p:cNvPr id="2" name="">
            <a:extLst xmlns:a="http://schemas.openxmlformats.org/drawingml/2006/main">
              <a:ext uri="{FF2B5EF4-FFF2-40B4-BE49-F238E27FC236}">
                <a16:creationId xmlns:a16="http://schemas.microsoft.com/office/drawing/2014/main" id="{B6D3C611-2B2C-46A9-B983-07E23EC362B1}"/>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D5AD639B-2E11-47F4-B354-E7FDD390EA7E}"/>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captured phone layout clips the long hash and some label text. The short check code is visible; the desktop payer screenshot below shows the full hash. That clipping is a layout limitation of the current page, not redaction applied to these screenshots.</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At this point, no one-time signature for the transaction has been made. The console has built the Safe transaction hash and challenge c from the displayed fields, chain, seat, Safe and key number. It does not accept a precomputed hash supplied by the payer or wallet.</a:t>
            </a:r>
          </a:p>
        </p:txBody>
      </p:sp>
    </p:spTree>
    <p:extLst>
      <p:ext uri="{BB962C8B-B14F-4D97-AF65-F5344CB8AC3E}">
        <p14:creationId xmlns:p14="http://schemas.microsoft.com/office/powerpoint/2010/main" val="1703744535"/>
      </p:ext>
    </p:extLst>
  </p:cSld>
</p:sld>
</file>

<file path=ppt/slides/slide3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81B327A-AF03-4565-80D6-B6AEB4C8A9F4}"/>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What the passkey method returns</a:t>
            </a:r>
          </a:p>
        </p:txBody>
      </p:sp>
      <p:sp>
        <p:nvSpPr>
          <p:cNvPr id="2" name="">
            <a:extLst xmlns:a="http://schemas.openxmlformats.org/drawingml/2006/main">
              <a:ext uri="{FF2B5EF4-FFF2-40B4-BE49-F238E27FC236}">
                <a16:creationId xmlns:a16="http://schemas.microsoft.com/office/drawing/2014/main" id="{8BA07402-D9B2-4CD5-8E00-92B385A95043}"/>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2D63D738-986E-4D00-8DEB-2CDFC3269279}"/>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application requests an assertion with two PRF outputs. This is the shape of the request; it omits credential selection and byte conversion:</a:t>
            </a:r>
          </a:p>
        </p:txBody>
      </p:sp>
    </p:spTree>
    <p:extLst>
      <p:ext uri="{BB962C8B-B14F-4D97-AF65-F5344CB8AC3E}">
        <p14:creationId xmlns:p14="http://schemas.microsoft.com/office/powerpoint/2010/main" val="1309338456"/>
      </p:ext>
    </p:extLst>
  </p:cSld>
</p:sld>
</file>

<file path=ppt/slides/slide3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EEC616-037F-48A0-BD9E-D6F4F8F37F0A}"/>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The approval passkey request</a:t>
            </a:r>
          </a:p>
        </p:txBody>
      </p:sp>
      <p:sp>
        <p:nvSpPr>
          <p:cNvPr id="2" name="">
            <a:extLst xmlns:a="http://schemas.openxmlformats.org/drawingml/2006/main">
              <a:ext uri="{FF2B5EF4-FFF2-40B4-BE49-F238E27FC236}">
                <a16:creationId xmlns:a16="http://schemas.microsoft.com/office/drawing/2014/main" id="{7B629312-7A95-44DC-92B0-B77DAB62026E}"/>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33</a:t>
            </a:r>
          </a:p>
        </p:txBody>
      </p:sp>
      <p:sp>
        <p:nvSpPr>
          <p:cNvPr id="3" name="">
            <a:extLst xmlns:a="http://schemas.openxmlformats.org/drawingml/2006/main">
              <a:ext uri="{FF2B5EF4-FFF2-40B4-BE49-F238E27FC236}">
                <a16:creationId xmlns:a16="http://schemas.microsoft.com/office/drawing/2014/main" id="{D7EE7360-45C8-4000-8258-E6DF36D80150}"/>
              </a:ext>
            </a:extLst>
          </p:cNvPr>
          <p:cNvSpPr>
            <a:spLocks xmlns:a="http://schemas.openxmlformats.org/drawingml/2006/main" noGrp="1"/>
          </p:cNvSpPr>
          <p:nvPr/>
        </p:nvSpPr>
        <p:spPr>
          <a:xfrm xmlns:a="http://schemas.openxmlformats.org/drawingml/2006/main">
            <a:off x="857250" y="1762125"/>
            <a:ext cx="16383000" cy="628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20314B"/>
                </a:solidFill>
                <a:latin typeface="Arial"/>
                <a:ea typeface="Arial"/>
                <a:cs typeface="Arial"/>
              </a:defRPr>
            </a:defPPr>
          </a:lstStyle>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navigator.credentials.get({</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  publicKey: {</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    rpId: siteDomain,</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    challenge: c,</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    userVerification: "required",</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    extensions: {</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      prf: { eval: { first: salt(0), second: salt(1) } }</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    }</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  }</a:t>
            </a:r>
          </a:p>
          <a:p xmlns:a="http://schemas.openxmlformats.org/drawingml/2006/main">
            <a:pPr>
              <a:defRPr sz="2625" b="0">
                <a:solidFill>
                  <a:srgbClr val="20314B"/>
                </a:solidFill>
                <a:latin typeface="Arial"/>
                <a:ea typeface="Arial"/>
                <a:cs typeface="Arial"/>
              </a:defRPr>
            </a:pPr>
            <a:r>
              <a:rPr sz="2625" b="0">
                <a:solidFill>
                  <a:srgbClr val="20314B"/>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72B27100-262E-44D0-8BCC-2FCC3C35B6F8}"/>
              </a:ext>
            </a:extLst>
          </p:cNvPr>
          <p:cNvSpPr>
            <a:spLocks xmlns:a="http://schemas.openxmlformats.org/drawingml/2006/main" noGrp="1"/>
          </p:cNvSpPr>
          <p:nvPr/>
        </p:nvSpPr>
        <p:spPr>
          <a:xfrm xmlns:a="http://schemas.openxmlformats.org/drawingml/2006/main">
            <a:off x="857250" y="8953500"/>
            <a:ext cx="1619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96C82"/>
                </a:solidFill>
                <a:latin typeface="Arial"/>
                <a:ea typeface="Arial"/>
                <a:cs typeface="Arial"/>
              </a:defRPr>
            </a:defPPr>
          </a:lstStyle>
          <a:p xmlns:a="http://schemas.openxmlformats.org/drawingml/2006/main">
            <a:pPr>
              <a:defRPr sz="2100" b="0">
                <a:solidFill>
                  <a:srgbClr val="596C82"/>
                </a:solidFill>
                <a:latin typeface="Arial"/>
                <a:ea typeface="Arial"/>
                <a:cs typeface="Arial"/>
              </a:defRPr>
            </a:pPr>
            <a:r>
              <a:rPr sz="2100" b="0">
                <a:solidFill>
                  <a:srgbClr val="596C82"/>
                </a:solidFill>
                <a:latin typeface="Arial"/>
                <a:ea typeface="Arial"/>
                <a:cs typeface="Arial"/>
              </a:rPr>
              <a:t>Request shape only. Credential selection and byte conversion omitted.</a:t>
            </a:r>
          </a:p>
        </p:txBody>
      </p:sp>
    </p:spTree>
    <p:extLst>
      <p:ext uri="{BB962C8B-B14F-4D97-AF65-F5344CB8AC3E}">
        <p14:creationId xmlns:p14="http://schemas.microsoft.com/office/powerpoint/2010/main" val="1992507321"/>
      </p:ext>
    </p:extLst>
  </p:cSld>
</p:sld>
</file>

<file path=ppt/slides/slide3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F255B3C-265E-470C-BA5B-B567DD5892BC}"/>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What the passkey method returns</a:t>
            </a:r>
          </a:p>
        </p:txBody>
      </p:sp>
      <p:sp>
        <p:nvSpPr>
          <p:cNvPr id="2" name="">
            <a:extLst xmlns:a="http://schemas.openxmlformats.org/drawingml/2006/main">
              <a:ext uri="{FF2B5EF4-FFF2-40B4-BE49-F238E27FC236}">
                <a16:creationId xmlns:a16="http://schemas.microsoft.com/office/drawing/2014/main" id="{481FDDB3-93FB-440D-998D-67586B6E492E}"/>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34</a:t>
            </a:r>
          </a:p>
        </p:txBody>
      </p:sp>
      <p:sp>
        <p:nvSpPr>
          <p:cNvPr id="3" name="">
            <a:extLst xmlns:a="http://schemas.openxmlformats.org/drawingml/2006/main">
              <a:ext uri="{FF2B5EF4-FFF2-40B4-BE49-F238E27FC236}">
                <a16:creationId xmlns:a16="http://schemas.microsoft.com/office/drawing/2014/main" id="{7492854E-62AF-4422-AFD0-0263C355AC5D}"/>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response has two different jobs:</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1. A WebAuthn P-256 assertion. More precisely, the passkey signs authenticator data plus the    SHA-256 hash of the client-data JSON, which contains challenge c and the origin. It does not    simply sign the raw bytes of c.</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2. PRF outputs seed(0) and seed(1). These are private one-time signing material returned to the    page. They are not the passkey private key, and they are not derived by recovering a secret    from its P-256 signature.</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console checks the assertion's challenge and user-verification fields. It checks that seed(0) produces the fingerprint the seat expects. It derives key 1's fingerprint from seed(1), builds m from c and that next fingerprint, and signs m with one-time key 0. Only the one-time signature binds the next fingerprint in this v1 format; the P-256 challenge does not include it. See the open authorization question.</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console records the signed approval in its ledger before returning it. Key 0 must never sign another message, even though the chain still expects key 0 until the approval lands. The application does not intentionally save or log seeds. Clearing references is not a proof that all copies have been erased from JavaScript or WebAssembly memory.</a:t>
            </a:r>
          </a:p>
        </p:txBody>
      </p:sp>
    </p:spTree>
    <p:extLst>
      <p:ext uri="{BB962C8B-B14F-4D97-AF65-F5344CB8AC3E}">
        <p14:creationId xmlns:p14="http://schemas.microsoft.com/office/powerpoint/2010/main" val="487260491"/>
      </p:ext>
    </p:extLst>
  </p:cSld>
</p:sld>
</file>

<file path=ppt/slides/slide3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5A97D00-A78A-4D5F-B491-CE61F11035E7}"/>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The signature leaves before the on-chain burn</a:t>
            </a:r>
          </a:p>
        </p:txBody>
      </p:sp>
      <p:sp>
        <p:nvSpPr>
          <p:cNvPr id="2" name="">
            <a:extLst xmlns:a="http://schemas.openxmlformats.org/drawingml/2006/main">
              <a:ext uri="{FF2B5EF4-FFF2-40B4-BE49-F238E27FC236}">
                <a16:creationId xmlns:a16="http://schemas.microsoft.com/office/drawing/2014/main" id="{2227231A-2C9D-44A4-A5E5-B545D87B1F6C}"/>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35</a:t>
            </a:r>
          </a:p>
        </p:txBody>
      </p:sp>
      <p:sp>
        <p:nvSpPr>
          <p:cNvPr id="3" name="">
            <a:extLst xmlns:a="http://schemas.openxmlformats.org/drawingml/2006/main">
              <a:ext uri="{FF2B5EF4-FFF2-40B4-BE49-F238E27FC236}">
                <a16:creationId xmlns:a16="http://schemas.microsoft.com/office/drawing/2014/main" id="{F6AA142F-3A5F-450E-B332-4C3C05C8484B}"/>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page sends the completed approval to the RPC for simulation. That call costs no gas and changes no chain state, but it is a disclosure to the RPC operator. It includes the one-time signature and the P-256 assertion. Anyone with the approval and its public context can compute the 67 one-time public-key endpoints.</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phone then offers a signed payment link. It contains the signatures, next fingerprint and transaction fields, not the seeds. The URL fragment is not sent in the ordinary request for the page, but copying it into a message discloses it to the recipient and potentially the messaging service. A fragment is not encrypted storage.</a:t>
            </a:r>
          </a:p>
        </p:txBody>
      </p:sp>
    </p:spTree>
    <p:extLst>
      <p:ext uri="{BB962C8B-B14F-4D97-AF65-F5344CB8AC3E}">
        <p14:creationId xmlns:p14="http://schemas.microsoft.com/office/powerpoint/2010/main" val="1114452818"/>
      </p:ext>
    </p:extLst>
  </p:cSld>
</p:sld>
</file>

<file path=ppt/slides/slide3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AF1708-90A5-4EC5-B6C4-BD21BF624A93}"/>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key 0 has signed and is waiting for a payer</a:t>
            </a:r>
          </a:p>
        </p:txBody>
      </p:sp>
      <p:sp>
        <p:nvSpPr>
          <p:cNvPr id="2" name="">
            <a:extLst xmlns:a="http://schemas.openxmlformats.org/drawingml/2006/main">
              <a:ext uri="{FF2B5EF4-FFF2-40B4-BE49-F238E27FC236}">
                <a16:creationId xmlns:a16="http://schemas.microsoft.com/office/drawing/2014/main" id="{A737DD27-95E9-4EF3-A5FA-3448E3174F41}"/>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B137D618-9D27-4372-8FB3-0403D90FD9FA}"/>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ABE6CBCD-6EB5-40C9-AB59-8707020CA2FA}"/>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8CD3E0EF-8189-4978-AD4A-63E20C2154B7}"/>
              </a:ext>
            </a:extLst>
          </p:cNvPr>
          <p:cNvPicPr>
            <a:picLocks xmlns:a="http://schemas.openxmlformats.org/drawingml/2006/main" noChangeAspect="1"/>
          </p:cNvPicPr>
          <p:nvPr/>
        </p:nvPicPr>
        <p:blipFill>
          <a:blip xmlns:r="http://schemas.openxmlformats.org/officeDocument/2006/relationships" xmlns:a="http://schemas.openxmlformats.org/drawingml/2006/main" r:embed="R0a8fd5f8c1a04161"/>
          <a:stretch xmlns:a="http://schemas.openxmlformats.org/drawingml/2006/main"/>
        </p:blipFill>
        <p:spPr>
          <a:xfrm xmlns:a="http://schemas.openxmlformats.org/drawingml/2006/main">
            <a:off x="3889882" y="1952625"/>
            <a:ext cx="2126235"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05F6721-E607-4987-A6C3-D060B503BAF3}"/>
              </a:ext>
            </a:extLst>
          </p:cNvPr>
          <p:cNvPicPr>
            <a:picLocks xmlns:a="http://schemas.openxmlformats.org/drawingml/2006/main" noChangeAspect="1"/>
          </p:cNvPicPr>
          <p:nvPr/>
        </p:nvPicPr>
        <p:blipFill>
          <a:blip xmlns:r="http://schemas.openxmlformats.org/officeDocument/2006/relationships" xmlns:a="http://schemas.openxmlformats.org/drawingml/2006/main" r:embed="Raf867ebc9bc84335"/>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339838102"/>
      </p:ext>
    </p:extLst>
  </p:cSld>
</p:sld>
</file>

<file path=ppt/slides/slide3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DCFEC3B-4DE9-4D25-8FD4-A3B1A1A5D0B8}"/>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The signature leaves before the on-chain burn</a:t>
            </a:r>
          </a:p>
        </p:txBody>
      </p:sp>
      <p:sp>
        <p:nvSpPr>
          <p:cNvPr id="2" name="">
            <a:extLst xmlns:a="http://schemas.openxmlformats.org/drawingml/2006/main">
              <a:ext uri="{FF2B5EF4-FFF2-40B4-BE49-F238E27FC236}">
                <a16:creationId xmlns:a16="http://schemas.microsoft.com/office/drawing/2014/main" id="{4569965C-15A5-4EA5-BEC2-682EF3717787}"/>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37</a:t>
            </a:r>
          </a:p>
        </p:txBody>
      </p:sp>
      <p:sp>
        <p:nvSpPr>
          <p:cNvPr id="3" name="">
            <a:extLst xmlns:a="http://schemas.openxmlformats.org/drawingml/2006/main">
              <a:ext uri="{FF2B5EF4-FFF2-40B4-BE49-F238E27FC236}">
                <a16:creationId xmlns:a16="http://schemas.microsoft.com/office/drawing/2014/main" id="{69B1AC20-F593-42BC-AEF5-02FBFFF42FD8}"/>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payer opens that link. Their console computes the hash again from the fields; compare its check code with the phone's. The payer's RPC receives the approval for simulation too.</a:t>
            </a:r>
          </a:p>
        </p:txBody>
      </p:sp>
    </p:spTree>
    <p:extLst>
      <p:ext uri="{BB962C8B-B14F-4D97-AF65-F5344CB8AC3E}">
        <p14:creationId xmlns:p14="http://schemas.microsoft.com/office/powerpoint/2010/main" val="151451838"/>
      </p:ext>
    </p:extLst>
  </p:cSld>
</p:sld>
</file>

<file path=ppt/slides/slide3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9FE07F-7394-421A-99FF-95C3C8D2B2EB}"/>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send the approval already signed on the phone</a:t>
            </a:r>
          </a:p>
        </p:txBody>
      </p:sp>
      <p:sp>
        <p:nvSpPr>
          <p:cNvPr id="2" name="">
            <a:extLst xmlns:a="http://schemas.openxmlformats.org/drawingml/2006/main">
              <a:ext uri="{FF2B5EF4-FFF2-40B4-BE49-F238E27FC236}">
                <a16:creationId xmlns:a16="http://schemas.microsoft.com/office/drawing/2014/main" id="{8B347081-67E5-47E1-96EB-544DD0D43FA7}"/>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38</a:t>
            </a:r>
          </a:p>
        </p:txBody>
      </p:sp>
      <p:sp>
        <p:nvSpPr>
          <p:cNvPr id="3" name="">
            <a:extLst xmlns:a="http://schemas.openxmlformats.org/drawingml/2006/main">
              <a:ext uri="{FF2B5EF4-FFF2-40B4-BE49-F238E27FC236}">
                <a16:creationId xmlns:a16="http://schemas.microsoft.com/office/drawing/2014/main" id="{A56F881F-C478-49EF-AE40-855B0DFCA216}"/>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A8138005-A4F3-4366-9292-692D51C29A36}"/>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5E68FBE0-38D3-447E-A290-DA26BEC6672E}"/>
              </a:ext>
            </a:extLst>
          </p:cNvPr>
          <p:cNvPicPr>
            <a:picLocks xmlns:a="http://schemas.openxmlformats.org/drawingml/2006/main" noChangeAspect="1"/>
          </p:cNvPicPr>
          <p:nvPr/>
        </p:nvPicPr>
        <p:blipFill>
          <a:blip xmlns:r="http://schemas.openxmlformats.org/officeDocument/2006/relationships" xmlns:a="http://schemas.openxmlformats.org/drawingml/2006/main" r:embed="R000c12939d8749f7"/>
          <a:stretch xmlns:a="http://schemas.openxmlformats.org/drawingml/2006/main"/>
        </p:blipFill>
        <p:spPr>
          <a:xfrm xmlns:a="http://schemas.openxmlformats.org/drawingml/2006/main">
            <a:off x="1452317" y="1952625"/>
            <a:ext cx="7001366"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2B948B3-A738-4622-9AD0-1342ED689430}"/>
              </a:ext>
            </a:extLst>
          </p:cNvPr>
          <p:cNvPicPr>
            <a:picLocks xmlns:a="http://schemas.openxmlformats.org/drawingml/2006/main" noChangeAspect="1"/>
          </p:cNvPicPr>
          <p:nvPr/>
        </p:nvPicPr>
        <p:blipFill>
          <a:blip xmlns:r="http://schemas.openxmlformats.org/officeDocument/2006/relationships" xmlns:a="http://schemas.openxmlformats.org/drawingml/2006/main" r:embed="R106025a0817a4a5b"/>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1287574179"/>
      </p:ext>
    </p:extLst>
  </p:cSld>
</p:sld>
</file>

<file path=ppt/slides/slide3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F873FE-6E30-41DF-8A73-55C02E943821}"/>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The signature leaves before the on-chain burn</a:t>
            </a:r>
          </a:p>
        </p:txBody>
      </p:sp>
      <p:sp>
        <p:nvSpPr>
          <p:cNvPr id="2" name="">
            <a:extLst xmlns:a="http://schemas.openxmlformats.org/drawingml/2006/main">
              <a:ext uri="{FF2B5EF4-FFF2-40B4-BE49-F238E27FC236}">
                <a16:creationId xmlns:a16="http://schemas.microsoft.com/office/drawing/2014/main" id="{0EDF65B7-DC18-4888-9B3D-3002F70EE7F8}"/>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39</a:t>
            </a:r>
          </a:p>
        </p:txBody>
      </p:sp>
      <p:sp>
        <p:nvSpPr>
          <p:cNvPr id="3" name="">
            <a:extLst xmlns:a="http://schemas.openxmlformats.org/drawingml/2006/main">
              <a:ext uri="{FF2B5EF4-FFF2-40B4-BE49-F238E27FC236}">
                <a16:creationId xmlns:a16="http://schemas.microsoft.com/office/drawing/2014/main" id="{DD273A8C-E752-4F56-98F1-BF47854A7462}"/>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Pressing Send it: one transaction asks the payer's wallet to send a Multicall3 transaction. The wallet pays gas; it does not make the seat's approval. The call approves with the seat and tries to execute the Safe transaction.</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Once the transaction is broadcast, its recipients can read the signatures. Do not assume every network has a public mempool or that a private relay keeps transaction data private forever. After inclusion, the signatures remain in on-chain transaction data.</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When Seat.approve succeeds, it replaces key 0's fingerprint with key 1's and advances n to 1. The example's Safe also runs the transfer. The phone sees this and displays the result.</a:t>
            </a:r>
          </a:p>
        </p:txBody>
      </p:sp>
    </p:spTree>
    <p:extLst>
      <p:ext uri="{BB962C8B-B14F-4D97-AF65-F5344CB8AC3E}">
        <p14:creationId xmlns:p14="http://schemas.microsoft.com/office/powerpoint/2010/main" val="1984184935"/>
      </p:ext>
    </p:extLst>
  </p:cSld>
</p:sld>
</file>

<file path=ppt/slides/slide40.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0CD7D9-8F43-4449-995C-D01245232411}"/>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first approval landed; key 0 is burned on-chain</a:t>
            </a:r>
          </a:p>
        </p:txBody>
      </p:sp>
      <p:sp>
        <p:nvSpPr>
          <p:cNvPr id="2" name="">
            <a:extLst xmlns:a="http://schemas.openxmlformats.org/drawingml/2006/main">
              <a:ext uri="{FF2B5EF4-FFF2-40B4-BE49-F238E27FC236}">
                <a16:creationId xmlns:a16="http://schemas.microsoft.com/office/drawing/2014/main" id="{4111824C-9D42-4EF5-807B-485B4D8B9A42}"/>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40</a:t>
            </a:r>
          </a:p>
        </p:txBody>
      </p:sp>
      <p:sp>
        <p:nvSpPr>
          <p:cNvPr id="3" name="">
            <a:extLst xmlns:a="http://schemas.openxmlformats.org/drawingml/2006/main">
              <a:ext uri="{FF2B5EF4-FFF2-40B4-BE49-F238E27FC236}">
                <a16:creationId xmlns:a16="http://schemas.microsoft.com/office/drawing/2014/main" id="{E53002CB-BD20-4F8C-9972-A8B23D52FB2C}"/>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F26711FB-D538-4004-891D-9380DBA38A22}"/>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D0ED807B-CBE6-4E83-8A08-7159A5D95651}"/>
              </a:ext>
            </a:extLst>
          </p:cNvPr>
          <p:cNvPicPr>
            <a:picLocks xmlns:a="http://schemas.openxmlformats.org/drawingml/2006/main" noChangeAspect="1"/>
          </p:cNvPicPr>
          <p:nvPr/>
        </p:nvPicPr>
        <p:blipFill>
          <a:blip xmlns:r="http://schemas.openxmlformats.org/officeDocument/2006/relationships" xmlns:a="http://schemas.openxmlformats.org/drawingml/2006/main" r:embed="R69e86a225af24eff"/>
          <a:stretch xmlns:a="http://schemas.openxmlformats.org/drawingml/2006/main"/>
        </p:blipFill>
        <p:spPr>
          <a:xfrm xmlns:a="http://schemas.openxmlformats.org/drawingml/2006/main">
            <a:off x="3572453" y="1952625"/>
            <a:ext cx="2761093"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8ADE1AF-6BCF-493A-9F7C-07A795D32EE5}"/>
              </a:ext>
            </a:extLst>
          </p:cNvPr>
          <p:cNvPicPr>
            <a:picLocks xmlns:a="http://schemas.openxmlformats.org/drawingml/2006/main" noChangeAspect="1"/>
          </p:cNvPicPr>
          <p:nvPr/>
        </p:nvPicPr>
        <p:blipFill>
          <a:blip xmlns:r="http://schemas.openxmlformats.org/officeDocument/2006/relationships" xmlns:a="http://schemas.openxmlformats.org/drawingml/2006/main" r:embed="Rbc5f233a9d7e4859"/>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450602560"/>
      </p:ext>
    </p:extLst>
  </p:cSld>
</p:sld>
</file>

<file path=ppt/slides/slide4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AC4F2EC-87C0-4815-96B6-4D3E9F54E00E}"/>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7. Two more shielded transactions</a:t>
            </a:r>
          </a:p>
        </p:txBody>
      </p:sp>
      <p:sp>
        <p:nvSpPr>
          <p:cNvPr id="2" name="">
            <a:extLst xmlns:a="http://schemas.openxmlformats.org/drawingml/2006/main">
              <a:ext uri="{FF2B5EF4-FFF2-40B4-BE49-F238E27FC236}">
                <a16:creationId xmlns:a16="http://schemas.microsoft.com/office/drawing/2014/main" id="{F75185AA-2B6D-40E9-85B0-89F96F9BF34E}"/>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41</a:t>
            </a:r>
          </a:p>
        </p:txBody>
      </p:sp>
      <p:sp>
        <p:nvSpPr>
          <p:cNvPr id="3" name="">
            <a:extLst xmlns:a="http://schemas.openxmlformats.org/drawingml/2006/main">
              <a:ext uri="{FF2B5EF4-FFF2-40B4-BE49-F238E27FC236}">
                <a16:creationId xmlns:a16="http://schemas.microsoft.com/office/drawing/2014/main" id="{B96A03D6-0B52-4DCE-95D4-52099C959427}"/>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same phone remains the signer. The same other browser remains the payer. There is no deployment step again. Each new approval gets one passkey assertion and one new pair of PRF outputs.</a:t>
            </a:r>
          </a:p>
        </p:txBody>
      </p:sp>
    </p:spTree>
    <p:extLst>
      <p:ext uri="{BB962C8B-B14F-4D97-AF65-F5344CB8AC3E}">
        <p14:creationId xmlns:p14="http://schemas.microsoft.com/office/powerpoint/2010/main" val="1270856781"/>
      </p:ext>
    </p:extLst>
  </p:cSld>
</p:sld>
</file>

<file path=ppt/slides/slide4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D8A5EAB-394D-470E-8A47-625ED7A6358F}"/>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7. Two more shielded transactions</a:t>
            </a:r>
          </a:p>
        </p:txBody>
      </p:sp>
      <p:sp>
        <p:nvSpPr>
          <p:cNvPr id="2" name="">
            <a:extLst xmlns:a="http://schemas.openxmlformats.org/drawingml/2006/main">
              <a:ext uri="{FF2B5EF4-FFF2-40B4-BE49-F238E27FC236}">
                <a16:creationId xmlns:a16="http://schemas.microsoft.com/office/drawing/2014/main" id="{25B57C2A-F52E-4686-A212-E20CEFC57C12}"/>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42</a:t>
            </a:r>
          </a:p>
        </p:txBody>
      </p:sp>
      <p:graphicFrame>
        <p:nvGraphicFramePr>
          <p:cNvPr id="3" name="">
            <a:extLst xmlns:a="http://schemas.openxmlformats.org/drawingml/2006/main">
              <a:ext uri="{FF2B5EF4-FFF2-40B4-BE49-F238E27FC236}">
                <a16:creationId xmlns:a16="http://schemas.microsoft.com/office/drawing/2014/main" id="{E53EB203-D020-4EE5-8C57-C70AC804C8CD}"/>
              </a:ext>
            </a:extLst>
          </p:cNvPr>
          <p:cNvGraphicFramePr/>
          <p:nvPr/>
        </p:nvGraphicFramePr>
        <p:xfrm>
          <a:off xmlns:a="http://schemas.openxmlformats.org/drawingml/2006/main" x="666750" y="1666875"/>
          <a:ext xmlns:a="http://schemas.openxmlformats.org/drawingml/2006/main" cx="16954500" cy="3667125"/>
        </p:xfrm>
        <a:graphic xmlns:a="http://schemas.openxmlformats.org/drawingml/2006/main">
          <a:graphicData uri="http://schemas.openxmlformats.org/drawingml/2006/table">
            <a:tbl>
              <a:tblPr/>
              <a:tblGrid>
                <a:gridCol w="2095500"/>
                <a:gridCol w="2762250"/>
                <a:gridCol w="1714500"/>
                <a:gridCol w="5048250"/>
                <a:gridCol w="5334000"/>
              </a:tblGrid>
              <a:tr h="809625">
                <a:tc>
                  <a:txBody>
                    <a:bodyPr/>
                    <a:lstStyle/>
                    <a:p>
                      <a:r>
                        <a:rPr sz="2100" b="1">
                          <a:solidFill>
                            <a:srgbClr val="FFFFFF"/>
                          </a:solidFill>
                          <a:latin typeface="Arial"/>
                          <a:ea typeface="Arial"/>
                          <a:cs typeface="Arial"/>
                        </a:rPr>
                        <a:t>Example</a:t>
                      </a:r>
                    </a:p>
                  </a:txBody>
                  <a:tcPr marL="91440" marR="91440" marT="45720" marB="45720">
                    <a:solidFill>
                      <a:srgbClr val="20314B"/>
                    </a:solidFill>
                  </a:tcPr>
                </a:tc>
                <a:tc>
                  <a:txBody>
                    <a:bodyPr/>
                    <a:lstStyle/>
                    <a:p>
                      <a:r>
                        <a:rPr sz="2100" b="1">
                          <a:solidFill>
                            <a:srgbClr val="FFFFFF"/>
                          </a:solidFill>
                          <a:latin typeface="Arial"/>
                          <a:ea typeface="Arial"/>
                          <a:cs typeface="Arial"/>
                        </a:rPr>
                        <a:t>Safe sends</a:t>
                      </a:r>
                    </a:p>
                  </a:txBody>
                  <a:tcPr marL="91440" marR="91440" marT="45720" marB="45720">
                    <a:solidFill>
                      <a:srgbClr val="20314B"/>
                    </a:solidFill>
                  </a:tcPr>
                </a:tc>
                <a:tc>
                  <a:txBody>
                    <a:bodyPr/>
                    <a:lstStyle/>
                    <a:p>
                      <a:r>
                        <a:rPr sz="2100" b="1">
                          <a:solidFill>
                            <a:srgbClr val="FFFFFF"/>
                          </a:solidFill>
                          <a:latin typeface="Arial"/>
                          <a:ea typeface="Arial"/>
                          <a:cs typeface="Arial"/>
                        </a:rPr>
                        <a:t>Key signs</a:t>
                      </a:r>
                    </a:p>
                  </a:txBody>
                  <a:tcPr marL="91440" marR="91440" marT="45720" marB="45720">
                    <a:solidFill>
                      <a:srgbClr val="20314B"/>
                    </a:solidFill>
                  </a:tcPr>
                </a:tc>
                <a:tc>
                  <a:txBody>
                    <a:bodyPr/>
                    <a:lstStyle/>
                    <a:p>
                      <a:r>
                        <a:rPr sz="2100" b="1">
                          <a:solidFill>
                            <a:srgbClr val="FFFFFF"/>
                          </a:solidFill>
                          <a:latin typeface="Arial"/>
                          <a:ea typeface="Arial"/>
                          <a:cs typeface="Arial"/>
                        </a:rPr>
                        <a:t>PRF outputs returned to the phone</a:t>
                      </a:r>
                    </a:p>
                  </a:txBody>
                  <a:tcPr marL="91440" marR="91440" marT="45720" marB="45720">
                    <a:solidFill>
                      <a:srgbClr val="20314B"/>
                    </a:solidFill>
                  </a:tcPr>
                </a:tc>
                <a:tc>
                  <a:txBody>
                    <a:bodyPr/>
                    <a:lstStyle/>
                    <a:p>
                      <a:r>
                        <a:rPr sz="2100" b="1">
                          <a:solidFill>
                            <a:srgbClr val="FFFFFF"/>
                          </a:solidFill>
                          <a:latin typeface="Arial"/>
                          <a:ea typeface="Arial"/>
                          <a:cs typeface="Arial"/>
                        </a:rPr>
                        <a:t>State after the approval lands</a:t>
                      </a:r>
                    </a:p>
                  </a:txBody>
                  <a:tcPr marL="91440" marR="91440" marT="45720" marB="45720">
                    <a:solidFill>
                      <a:srgbClr val="20314B"/>
                    </a:solidFill>
                  </a:tcPr>
                </a:tc>
              </a:tr>
              <a:tr h="952500">
                <a:tc>
                  <a:txBody>
                    <a:bodyPr/>
                    <a:lstStyle/>
                    <a:p>
                      <a:r>
                        <a:rPr sz="2175" b="0">
                          <a:solidFill>
                            <a:srgbClr val="20314B"/>
                          </a:solidFill>
                          <a:latin typeface="Arial"/>
                          <a:ea typeface="Arial"/>
                          <a:cs typeface="Arial"/>
                        </a:rPr>
                        <a:t>First</a:t>
                      </a:r>
                    </a:p>
                  </a:txBody>
                  <a:tcPr marL="91440" marR="91440" marT="45720" marB="45720">
                    <a:solidFill>
                      <a:srgbClr val="F0F4F3"/>
                    </a:solidFill>
                  </a:tcPr>
                </a:tc>
                <a:tc>
                  <a:txBody>
                    <a:bodyPr/>
                    <a:lstStyle/>
                    <a:p>
                      <a:r>
                        <a:rPr sz="2175" b="0">
                          <a:solidFill>
                            <a:srgbClr val="20314B"/>
                          </a:solidFill>
                          <a:latin typeface="Arial"/>
                          <a:ea typeface="Arial"/>
                          <a:cs typeface="Arial"/>
                        </a:rPr>
                        <a:t>0.0001 test ETH</a:t>
                      </a:r>
                    </a:p>
                  </a:txBody>
                  <a:tcPr marL="91440" marR="91440" marT="45720" marB="45720">
                    <a:solidFill>
                      <a:srgbClr val="F0F4F3"/>
                    </a:solidFill>
                  </a:tcPr>
                </a:tc>
                <a:tc>
                  <a:txBody>
                    <a:bodyPr/>
                    <a:lstStyle/>
                    <a:p>
                      <a:r>
                        <a:rPr sz="2175" b="0">
                          <a:solidFill>
                            <a:srgbClr val="20314B"/>
                          </a:solidFill>
                          <a:latin typeface="Arial"/>
                          <a:ea typeface="Arial"/>
                          <a:cs typeface="Arial"/>
                        </a:rPr>
                        <a:t>0</a:t>
                      </a:r>
                    </a:p>
                  </a:txBody>
                  <a:tcPr marL="91440" marR="91440" marT="45720" marB="45720">
                    <a:solidFill>
                      <a:srgbClr val="F0F4F3"/>
                    </a:solidFill>
                  </a:tcPr>
                </a:tc>
                <a:tc>
                  <a:txBody>
                    <a:bodyPr/>
                    <a:lstStyle/>
                    <a:p>
                      <a:r>
                        <a:rPr sz="2175" b="0">
                          <a:solidFill>
                            <a:srgbClr val="20314B"/>
                          </a:solidFill>
                          <a:latin typeface="Arial"/>
                          <a:ea typeface="Arial"/>
                          <a:cs typeface="Arial"/>
                        </a:rPr>
                        <a:t>seed(0), seed(1)</a:t>
                      </a:r>
                    </a:p>
                  </a:txBody>
                  <a:tcPr marL="91440" marR="91440" marT="45720" marB="45720">
                    <a:solidFill>
                      <a:srgbClr val="F0F4F3"/>
                    </a:solidFill>
                  </a:tcPr>
                </a:tc>
                <a:tc>
                  <a:txBody>
                    <a:bodyPr/>
                    <a:lstStyle/>
                    <a:p>
                      <a:r>
                        <a:rPr sz="2175" b="0">
                          <a:solidFill>
                            <a:srgbClr val="20314B"/>
                          </a:solidFill>
                          <a:latin typeface="Arial"/>
                          <a:ea typeface="Arial"/>
                          <a:cs typeface="Arial"/>
                        </a:rPr>
                        <a:t>Seat expects key 1; Safe nonce 1</a:t>
                      </a:r>
                    </a:p>
                  </a:txBody>
                  <a:tcPr marL="91440" marR="91440" marT="45720" marB="45720">
                    <a:solidFill>
                      <a:srgbClr val="F0F4F3"/>
                    </a:solidFill>
                  </a:tcPr>
                </a:tc>
              </a:tr>
              <a:tr h="952500">
                <a:tc>
                  <a:txBody>
                    <a:bodyPr/>
                    <a:lstStyle/>
                    <a:p>
                      <a:r>
                        <a:rPr sz="2175" b="0">
                          <a:solidFill>
                            <a:srgbClr val="20314B"/>
                          </a:solidFill>
                          <a:latin typeface="Arial"/>
                          <a:ea typeface="Arial"/>
                          <a:cs typeface="Arial"/>
                        </a:rPr>
                        <a:t>Second</a:t>
                      </a:r>
                    </a:p>
                  </a:txBody>
                  <a:tcPr marL="91440" marR="91440" marT="45720" marB="45720">
                    <a:solidFill>
                      <a:srgbClr val="FFFDF7"/>
                    </a:solidFill>
                  </a:tcPr>
                </a:tc>
                <a:tc>
                  <a:txBody>
                    <a:bodyPr/>
                    <a:lstStyle/>
                    <a:p>
                      <a:r>
                        <a:rPr sz="2175" b="0">
                          <a:solidFill>
                            <a:srgbClr val="20314B"/>
                          </a:solidFill>
                          <a:latin typeface="Arial"/>
                          <a:ea typeface="Arial"/>
                          <a:cs typeface="Arial"/>
                        </a:rPr>
                        <a:t>0.0002 test ETH</a:t>
                      </a:r>
                    </a:p>
                  </a:txBody>
                  <a:tcPr marL="91440" marR="91440" marT="45720" marB="45720">
                    <a:solidFill>
                      <a:srgbClr val="FFFDF7"/>
                    </a:solidFill>
                  </a:tcPr>
                </a:tc>
                <a:tc>
                  <a:txBody>
                    <a:bodyPr/>
                    <a:lstStyle/>
                    <a:p>
                      <a:r>
                        <a:rPr sz="2175" b="0">
                          <a:solidFill>
                            <a:srgbClr val="20314B"/>
                          </a:solidFill>
                          <a:latin typeface="Arial"/>
                          <a:ea typeface="Arial"/>
                          <a:cs typeface="Arial"/>
                        </a:rPr>
                        <a:t>1</a:t>
                      </a:r>
                    </a:p>
                  </a:txBody>
                  <a:tcPr marL="91440" marR="91440" marT="45720" marB="45720">
                    <a:solidFill>
                      <a:srgbClr val="FFFDF7"/>
                    </a:solidFill>
                  </a:tcPr>
                </a:tc>
                <a:tc>
                  <a:txBody>
                    <a:bodyPr/>
                    <a:lstStyle/>
                    <a:p>
                      <a:r>
                        <a:rPr sz="2175" b="0">
                          <a:solidFill>
                            <a:srgbClr val="20314B"/>
                          </a:solidFill>
                          <a:latin typeface="Arial"/>
                          <a:ea typeface="Arial"/>
                          <a:cs typeface="Arial"/>
                        </a:rPr>
                        <a:t>seed(1), seed(2)</a:t>
                      </a:r>
                    </a:p>
                  </a:txBody>
                  <a:tcPr marL="91440" marR="91440" marT="45720" marB="45720">
                    <a:solidFill>
                      <a:srgbClr val="FFFDF7"/>
                    </a:solidFill>
                  </a:tcPr>
                </a:tc>
                <a:tc>
                  <a:txBody>
                    <a:bodyPr/>
                    <a:lstStyle/>
                    <a:p>
                      <a:r>
                        <a:rPr sz="2175" b="0">
                          <a:solidFill>
                            <a:srgbClr val="20314B"/>
                          </a:solidFill>
                          <a:latin typeface="Arial"/>
                          <a:ea typeface="Arial"/>
                          <a:cs typeface="Arial"/>
                        </a:rPr>
                        <a:t>Seat expects key 2; Safe nonce 2</a:t>
                      </a:r>
                    </a:p>
                  </a:txBody>
                  <a:tcPr marL="91440" marR="91440" marT="45720" marB="45720">
                    <a:solidFill>
                      <a:srgbClr val="FFFDF7"/>
                    </a:solidFill>
                  </a:tcPr>
                </a:tc>
              </a:tr>
              <a:tr h="952500">
                <a:tc>
                  <a:txBody>
                    <a:bodyPr/>
                    <a:lstStyle/>
                    <a:p>
                      <a:r>
                        <a:rPr sz="2175" b="0">
                          <a:solidFill>
                            <a:srgbClr val="20314B"/>
                          </a:solidFill>
                          <a:latin typeface="Arial"/>
                          <a:ea typeface="Arial"/>
                          <a:cs typeface="Arial"/>
                        </a:rPr>
                        <a:t>Third</a:t>
                      </a:r>
                    </a:p>
                  </a:txBody>
                  <a:tcPr marL="91440" marR="91440" marT="45720" marB="45720">
                    <a:solidFill>
                      <a:srgbClr val="F0F4F3"/>
                    </a:solidFill>
                  </a:tcPr>
                </a:tc>
                <a:tc>
                  <a:txBody>
                    <a:bodyPr/>
                    <a:lstStyle/>
                    <a:p>
                      <a:r>
                        <a:rPr sz="2175" b="0">
                          <a:solidFill>
                            <a:srgbClr val="20314B"/>
                          </a:solidFill>
                          <a:latin typeface="Arial"/>
                          <a:ea typeface="Arial"/>
                          <a:cs typeface="Arial"/>
                        </a:rPr>
                        <a:t>0.0001 test ETH</a:t>
                      </a:r>
                    </a:p>
                  </a:txBody>
                  <a:tcPr marL="91440" marR="91440" marT="45720" marB="45720">
                    <a:solidFill>
                      <a:srgbClr val="F0F4F3"/>
                    </a:solidFill>
                  </a:tcPr>
                </a:tc>
                <a:tc>
                  <a:txBody>
                    <a:bodyPr/>
                    <a:lstStyle/>
                    <a:p>
                      <a:r>
                        <a:rPr sz="2175" b="0">
                          <a:solidFill>
                            <a:srgbClr val="20314B"/>
                          </a:solidFill>
                          <a:latin typeface="Arial"/>
                          <a:ea typeface="Arial"/>
                          <a:cs typeface="Arial"/>
                        </a:rPr>
                        <a:t>2</a:t>
                      </a:r>
                    </a:p>
                  </a:txBody>
                  <a:tcPr marL="91440" marR="91440" marT="45720" marB="45720">
                    <a:solidFill>
                      <a:srgbClr val="F0F4F3"/>
                    </a:solidFill>
                  </a:tcPr>
                </a:tc>
                <a:tc>
                  <a:txBody>
                    <a:bodyPr/>
                    <a:lstStyle/>
                    <a:p>
                      <a:r>
                        <a:rPr sz="2175" b="0">
                          <a:solidFill>
                            <a:srgbClr val="20314B"/>
                          </a:solidFill>
                          <a:latin typeface="Arial"/>
                          <a:ea typeface="Arial"/>
                          <a:cs typeface="Arial"/>
                        </a:rPr>
                        <a:t>seed(2), seed(3)</a:t>
                      </a:r>
                    </a:p>
                  </a:txBody>
                  <a:tcPr marL="91440" marR="91440" marT="45720" marB="45720">
                    <a:solidFill>
                      <a:srgbClr val="F0F4F3"/>
                    </a:solidFill>
                  </a:tcPr>
                </a:tc>
                <a:tc>
                  <a:txBody>
                    <a:bodyPr/>
                    <a:lstStyle/>
                    <a:p>
                      <a:r>
                        <a:rPr sz="2175" b="0">
                          <a:solidFill>
                            <a:srgbClr val="20314B"/>
                          </a:solidFill>
                          <a:latin typeface="Arial"/>
                          <a:ea typeface="Arial"/>
                          <a:cs typeface="Arial"/>
                        </a:rPr>
                        <a:t>Seat expects key 3; Safe nonce 3</a:t>
                      </a:r>
                    </a:p>
                  </a:txBody>
                  <a:tcPr marL="91440" marR="91440" marT="45720" marB="45720">
                    <a:solidFill>
                      <a:srgbClr val="F0F4F3"/>
                    </a:solidFill>
                  </a:tcPr>
                </a:tc>
              </a:tr>
            </a:tbl>
          </a:graphicData>
        </a:graphic>
      </p:graphicFrame>
    </p:spTree>
    <p:extLst>
      <p:ext uri="{BB962C8B-B14F-4D97-AF65-F5344CB8AC3E}">
        <p14:creationId xmlns:p14="http://schemas.microsoft.com/office/powerpoint/2010/main" val="2120321885"/>
      </p:ext>
    </p:extLst>
  </p:cSld>
</p:sld>
</file>

<file path=ppt/slides/slide4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979FD4-EBC2-492C-B8CE-01FD66AAC75F}"/>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7. Two more shielded transactions</a:t>
            </a:r>
          </a:p>
        </p:txBody>
      </p:sp>
      <p:sp>
        <p:nvSpPr>
          <p:cNvPr id="2" name="">
            <a:extLst xmlns:a="http://schemas.openxmlformats.org/drawingml/2006/main">
              <a:ext uri="{FF2B5EF4-FFF2-40B4-BE49-F238E27FC236}">
                <a16:creationId xmlns:a16="http://schemas.microsoft.com/office/drawing/2014/main" id="{938383D5-B8B4-4505-9C78-FF91E0A40B38}"/>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43</a:t>
            </a:r>
          </a:p>
        </p:txBody>
      </p:sp>
      <p:sp>
        <p:nvSpPr>
          <p:cNvPr id="3" name="">
            <a:extLst xmlns:a="http://schemas.openxmlformats.org/drawingml/2006/main">
              <a:ext uri="{FF2B5EF4-FFF2-40B4-BE49-F238E27FC236}">
                <a16:creationId xmlns:a16="http://schemas.microsoft.com/office/drawing/2014/main" id="{D6387003-B215-41AA-ADE7-BA70B58AD4FC}"/>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 same method applies at key 27: the console reads n = 27 from the seat, asks for PRF outputs seed(27) and seed(28), signs once with key 27, and commits key 28's fingerprint. The seat advances to n = 28 only when that approval lands. n is an approval index, not a random nonce, and it is separate from the Safe transaction nonce.</a:t>
            </a:r>
          </a:p>
        </p:txBody>
      </p:sp>
    </p:spTree>
    <p:extLst>
      <p:ext uri="{BB962C8B-B14F-4D97-AF65-F5344CB8AC3E}">
        <p14:creationId xmlns:p14="http://schemas.microsoft.com/office/powerpoint/2010/main" val="14087018"/>
      </p:ext>
    </p:extLst>
  </p:cSld>
</p:sld>
</file>

<file path=ppt/slides/slide4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486F6A-46BA-430A-929B-143E8F9C1210}"/>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The same passkey method at key 27</a:t>
            </a:r>
          </a:p>
        </p:txBody>
      </p:sp>
      <p:sp>
        <p:nvSpPr>
          <p:cNvPr id="2" name="">
            <a:extLst xmlns:a="http://schemas.openxmlformats.org/drawingml/2006/main">
              <a:ext uri="{FF2B5EF4-FFF2-40B4-BE49-F238E27FC236}">
                <a16:creationId xmlns:a16="http://schemas.microsoft.com/office/drawing/2014/main" id="{3D2BB152-6A33-421D-A74A-90A87A9D36C8}"/>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44</a:t>
            </a:r>
          </a:p>
        </p:txBody>
      </p:sp>
      <p:pic>
        <p:nvPicPr>
          <p:cNvPr id="3" name="">
            <a:extLst xmlns:a="http://schemas.openxmlformats.org/drawingml/2006/main">
              <a:ext uri="{FF2B5EF4-FFF2-40B4-BE49-F238E27FC236}">
                <a16:creationId xmlns:a16="http://schemas.microsoft.com/office/drawing/2014/main" id="{78C8D706-7EBC-454F-A6A2-7DD145BC8FAA}"/>
              </a:ext>
            </a:extLst>
          </p:cNvPr>
          <p:cNvPicPr>
            <a:picLocks xmlns:a="http://schemas.openxmlformats.org/drawingml/2006/main" noChangeAspect="1"/>
          </p:cNvPicPr>
          <p:nvPr/>
        </p:nvPicPr>
        <p:blipFill>
          <a:blip xmlns:r="http://schemas.openxmlformats.org/officeDocument/2006/relationships" xmlns:a="http://schemas.openxmlformats.org/drawingml/2006/main" r:embed="R160f0fed898d405c"/>
          <a:stretch xmlns:a="http://schemas.openxmlformats.org/drawingml/2006/main"/>
        </p:blipFill>
        <p:spPr>
          <a:xfrm xmlns:a="http://schemas.openxmlformats.org/drawingml/2006/main">
            <a:off x="3082155" y="1524000"/>
            <a:ext cx="3265440" cy="809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0E94E2-CB18-47A0-9372-0972BB4295E4}"/>
              </a:ext>
            </a:extLst>
          </p:cNvPr>
          <p:cNvSpPr>
            <a:spLocks xmlns:a="http://schemas.openxmlformats.org/drawingml/2006/main" noGrp="1"/>
          </p:cNvSpPr>
          <p:nvPr/>
        </p:nvSpPr>
        <p:spPr>
          <a:xfrm xmlns:a="http://schemas.openxmlformats.org/drawingml/2006/main">
            <a:off x="9620250" y="2000250"/>
            <a:ext cx="7524750" cy="657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20314B"/>
                </a:solidFill>
                <a:latin typeface="Arial"/>
                <a:ea typeface="Arial"/>
                <a:cs typeface="Arial"/>
              </a:defRPr>
            </a:defPPr>
          </a:lstStyle>
          <a:p xmlns:a="http://schemas.openxmlformats.org/drawingml/2006/main">
            <a:pPr>
              <a:defRPr sz="2700" b="0">
                <a:solidFill>
                  <a:srgbClr val="20314B"/>
                </a:solidFill>
                <a:latin typeface="Arial"/>
                <a:ea typeface="Arial"/>
                <a:cs typeface="Arial"/>
              </a:defRPr>
            </a:pPr>
            <a:r>
              <a:rPr sz="2700" b="0">
                <a:solidFill>
                  <a:srgbClr val="20314B"/>
                </a:solidFill>
                <a:latin typeface="Arial"/>
                <a:ea typeface="Arial"/>
                <a:cs typeface="Arial"/>
              </a:rPr>
              <a:t>The console reads seat n = 27.</a:t>
            </a:r>
          </a:p>
          <a:p xmlns:a="http://schemas.openxmlformats.org/drawingml/2006/main">
            <a:r>
              <a:t/>
            </a:r>
          </a:p>
          <a:p xmlns:a="http://schemas.openxmlformats.org/drawingml/2006/main">
            <a:pPr>
              <a:defRPr sz="2700" b="0">
                <a:solidFill>
                  <a:srgbClr val="20314B"/>
                </a:solidFill>
                <a:latin typeface="Arial"/>
                <a:ea typeface="Arial"/>
                <a:cs typeface="Arial"/>
              </a:defRPr>
            </a:pPr>
            <a:r>
              <a:rPr sz="2700" b="0">
                <a:solidFill>
                  <a:srgbClr val="20314B"/>
                </a:solidFill>
                <a:latin typeface="Arial"/>
                <a:ea typeface="Arial"/>
                <a:cs typeface="Arial"/>
              </a:rPr>
              <a:t>The PRF returns seed(27) and seed(28) to the signing page.</a:t>
            </a:r>
          </a:p>
          <a:p xmlns:a="http://schemas.openxmlformats.org/drawingml/2006/main">
            <a:r>
              <a:t/>
            </a:r>
          </a:p>
          <a:p xmlns:a="http://schemas.openxmlformats.org/drawingml/2006/main">
            <a:pPr>
              <a:defRPr sz="2700" b="0">
                <a:solidFill>
                  <a:srgbClr val="20314B"/>
                </a:solidFill>
                <a:latin typeface="Arial"/>
                <a:ea typeface="Arial"/>
                <a:cs typeface="Arial"/>
              </a:defRPr>
            </a:pPr>
            <a:r>
              <a:rPr sz="2700" b="0">
                <a:solidFill>
                  <a:srgbClr val="20314B"/>
                </a:solidFill>
                <a:latin typeface="Arial"/>
                <a:ea typeface="Arial"/>
                <a:cs typeface="Arial"/>
              </a:rPr>
              <a:t>Key 27 signs once and names the next fingerprint. The seat advances to n = 28 only when the approval lands.</a:t>
            </a:r>
          </a:p>
          <a:p xmlns:a="http://schemas.openxmlformats.org/drawingml/2006/main">
            <a:r>
              <a:t/>
            </a:r>
          </a:p>
          <a:p xmlns:a="http://schemas.openxmlformats.org/drawingml/2006/main">
            <a:pPr>
              <a:defRPr sz="2700" b="0">
                <a:solidFill>
                  <a:srgbClr val="20314B"/>
                </a:solidFill>
                <a:latin typeface="Arial"/>
                <a:ea typeface="Arial"/>
                <a:cs typeface="Arial"/>
              </a:defRPr>
            </a:pPr>
            <a:r>
              <a:rPr sz="2700" b="0">
                <a:solidFill>
                  <a:srgbClr val="20314B"/>
                </a:solidFill>
                <a:latin typeface="Arial"/>
                <a:ea typeface="Arial"/>
                <a:cs typeface="Arial"/>
              </a:rPr>
              <a:t>The seat index and Safe transaction nonce are separate counters.</a:t>
            </a:r>
          </a:p>
        </p:txBody>
      </p:sp>
      <p:sp>
        <p:nvSpPr>
          <p:cNvPr id="5" name="">
            <a:extLst xmlns:a="http://schemas.openxmlformats.org/drawingml/2006/main">
              <a:ext uri="{FF2B5EF4-FFF2-40B4-BE49-F238E27FC236}">
                <a16:creationId xmlns:a16="http://schemas.microsoft.com/office/drawing/2014/main" id="{646E1EE5-B355-4AE0-9540-EE8E0C38B525}"/>
              </a:ext>
            </a:extLst>
          </p:cNvPr>
          <p:cNvSpPr>
            <a:spLocks xmlns:a="http://schemas.openxmlformats.org/drawingml/2006/main" noGrp="1"/>
          </p:cNvSpPr>
          <p:nvPr/>
        </p:nvSpPr>
        <p:spPr>
          <a:xfrm xmlns:a="http://schemas.openxmlformats.org/drawingml/2006/main">
            <a:off x="9620250" y="885825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96C82"/>
                </a:solidFill>
                <a:latin typeface="Arial"/>
                <a:ea typeface="Arial"/>
                <a:cs typeface="Arial"/>
              </a:defRPr>
            </a:defPPr>
          </a:lstStyle>
          <a:p xmlns:a="http://schemas.openxmlformats.org/drawingml/2006/main">
            <a:pPr>
              <a:defRPr sz="1875" b="0">
                <a:solidFill>
                  <a:srgbClr val="596C82"/>
                </a:solidFill>
                <a:latin typeface="Arial"/>
                <a:ea typeface="Arial"/>
                <a:cs typeface="Arial"/>
              </a:defRPr>
            </a:pPr>
            <a:r>
              <a:rPr sz="1875" b="0">
                <a:solidFill>
                  <a:srgbClr val="596C82"/>
                </a:solidFill>
                <a:latin typeface="Arial"/>
                <a:ea typeface="Arial"/>
                <a:cs typeface="Arial"/>
              </a:rPr>
              <a:t>Conceptual example. The captured transactions use keys 0, 1 and 2.</a:t>
            </a:r>
          </a:p>
        </p:txBody>
      </p:sp>
    </p:spTree>
    <p:extLst>
      <p:ext uri="{BB962C8B-B14F-4D97-AF65-F5344CB8AC3E}">
        <p14:creationId xmlns:p14="http://schemas.microsoft.com/office/powerpoint/2010/main" val="861758875"/>
      </p:ext>
    </p:extLst>
  </p:cSld>
</p:sld>
</file>

<file path=ppt/slides/slide4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928177E-2465-49FD-A884-891837958D88}"/>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7. Two more shielded transactions</a:t>
            </a:r>
          </a:p>
        </p:txBody>
      </p:sp>
      <p:sp>
        <p:nvSpPr>
          <p:cNvPr id="2" name="">
            <a:extLst xmlns:a="http://schemas.openxmlformats.org/drawingml/2006/main">
              <a:ext uri="{FF2B5EF4-FFF2-40B4-BE49-F238E27FC236}">
                <a16:creationId xmlns:a16="http://schemas.microsoft.com/office/drawing/2014/main" id="{A216EFEF-0BE4-4CAA-A0C5-E78D063CBD42}"/>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45</a:t>
            </a:r>
          </a:p>
        </p:txBody>
      </p:sp>
      <p:sp>
        <p:nvSpPr>
          <p:cNvPr id="3" name="">
            <a:extLst xmlns:a="http://schemas.openxmlformats.org/drawingml/2006/main">
              <a:ext uri="{FF2B5EF4-FFF2-40B4-BE49-F238E27FC236}">
                <a16:creationId xmlns:a16="http://schemas.microsoft.com/office/drawing/2014/main" id="{8FA68A51-BB08-41A5-B4B7-AF006114BE1A}"/>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This diagram is a conceptual example, not an additional captured transaction.</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This illustrates why the seeds are a separate risk: seed(1) is returned while approving with key 0, then returned again when key 1 signs. The fingerprint of the next key hides its public key from the chain; it does not hide that seed from a compromised signing page during the tap.</a:t>
            </a:r>
          </a:p>
        </p:txBody>
      </p:sp>
    </p:spTree>
    <p:extLst>
      <p:ext uri="{BB962C8B-B14F-4D97-AF65-F5344CB8AC3E}">
        <p14:creationId xmlns:p14="http://schemas.microsoft.com/office/powerpoint/2010/main" val="1404957119"/>
      </p:ext>
    </p:extLst>
  </p:cSld>
</p:sld>
</file>

<file path=ppt/slides/slide4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75921C-62EE-48FA-B572-B9A50335043F}"/>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second approval landed; key 1 is burned</a:t>
            </a:r>
          </a:p>
        </p:txBody>
      </p:sp>
      <p:sp>
        <p:nvSpPr>
          <p:cNvPr id="2" name="">
            <a:extLst xmlns:a="http://schemas.openxmlformats.org/drawingml/2006/main">
              <a:ext uri="{FF2B5EF4-FFF2-40B4-BE49-F238E27FC236}">
                <a16:creationId xmlns:a16="http://schemas.microsoft.com/office/drawing/2014/main" id="{D4112851-9A6C-4BA9-A7E9-B6100472454D}"/>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46</a:t>
            </a:r>
          </a:p>
        </p:txBody>
      </p:sp>
      <p:sp>
        <p:nvSpPr>
          <p:cNvPr id="3" name="">
            <a:extLst xmlns:a="http://schemas.openxmlformats.org/drawingml/2006/main">
              <a:ext uri="{FF2B5EF4-FFF2-40B4-BE49-F238E27FC236}">
                <a16:creationId xmlns:a16="http://schemas.microsoft.com/office/drawing/2014/main" id="{C85FD321-A929-48D8-A265-74506C473770}"/>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0288A067-6D43-4BF3-8E53-F02B390AA059}"/>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17ADFA0B-DAE2-4D1D-885B-2703A5624D3E}"/>
              </a:ext>
            </a:extLst>
          </p:cNvPr>
          <p:cNvPicPr>
            <a:picLocks xmlns:a="http://schemas.openxmlformats.org/drawingml/2006/main" noChangeAspect="1"/>
          </p:cNvPicPr>
          <p:nvPr/>
        </p:nvPicPr>
        <p:blipFill>
          <a:blip xmlns:r="http://schemas.openxmlformats.org/officeDocument/2006/relationships" xmlns:a="http://schemas.openxmlformats.org/drawingml/2006/main" r:embed="R3c60c28baf9645e5"/>
          <a:stretch xmlns:a="http://schemas.openxmlformats.org/drawingml/2006/main"/>
        </p:blipFill>
        <p:spPr>
          <a:xfrm xmlns:a="http://schemas.openxmlformats.org/drawingml/2006/main">
            <a:off x="3572453" y="1952625"/>
            <a:ext cx="2761093"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A60DB91-8241-453A-91C7-7C0324F8DECC}"/>
              </a:ext>
            </a:extLst>
          </p:cNvPr>
          <p:cNvPicPr>
            <a:picLocks xmlns:a="http://schemas.openxmlformats.org/drawingml/2006/main" noChangeAspect="1"/>
          </p:cNvPicPr>
          <p:nvPr/>
        </p:nvPicPr>
        <p:blipFill>
          <a:blip xmlns:r="http://schemas.openxmlformats.org/officeDocument/2006/relationships" xmlns:a="http://schemas.openxmlformats.org/drawingml/2006/main" r:embed="Rb07472b9558a4c85"/>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95373770"/>
      </p:ext>
    </p:extLst>
  </p:cSld>
</p:sld>
</file>

<file path=ppt/slides/slide4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22FC1BC-A399-42FC-9726-C7D8C5C6E938}"/>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7. Two more shielded transactions</a:t>
            </a:r>
          </a:p>
        </p:txBody>
      </p:sp>
      <p:sp>
        <p:nvSpPr>
          <p:cNvPr id="2" name="">
            <a:extLst xmlns:a="http://schemas.openxmlformats.org/drawingml/2006/main">
              <a:ext uri="{FF2B5EF4-FFF2-40B4-BE49-F238E27FC236}">
                <a16:creationId xmlns:a16="http://schemas.microsoft.com/office/drawing/2014/main" id="{52DBA76C-9D3E-4056-BE4E-32D635E0E549}"/>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47</a:t>
            </a:r>
          </a:p>
        </p:txBody>
      </p:sp>
      <p:sp>
        <p:nvSpPr>
          <p:cNvPr id="3" name="">
            <a:extLst xmlns:a="http://schemas.openxmlformats.org/drawingml/2006/main">
              <a:ext uri="{FF2B5EF4-FFF2-40B4-BE49-F238E27FC236}">
                <a16:creationId xmlns:a16="http://schemas.microsoft.com/office/drawing/2014/main" id="{ACA883FB-C105-4DFD-A57B-EC1C9E091D3C}"/>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For the third example, the payer rejects the wallet's send confirmation. The phone is reloaded. It still offers approval 2, already signed. Reloading does not justify another signature or let the user change this waiting approval. The payer retries the same approval without another tap on the phone.</a:t>
            </a:r>
          </a:p>
        </p:txBody>
      </p:sp>
    </p:spTree>
    <p:extLst>
      <p:ext uri="{BB962C8B-B14F-4D97-AF65-F5344CB8AC3E}">
        <p14:creationId xmlns:p14="http://schemas.microsoft.com/office/powerpoint/2010/main" val="392989058"/>
      </p:ext>
    </p:extLst>
  </p:cSld>
</p:sld>
</file>

<file path=ppt/slides/slide4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F2F8C0-B222-4798-9FE9-1B085D0B69E6}"/>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the same key 2 approval waits after refusal and reload</a:t>
            </a:r>
          </a:p>
        </p:txBody>
      </p:sp>
      <p:sp>
        <p:nvSpPr>
          <p:cNvPr id="2" name="">
            <a:extLst xmlns:a="http://schemas.openxmlformats.org/drawingml/2006/main">
              <a:ext uri="{FF2B5EF4-FFF2-40B4-BE49-F238E27FC236}">
                <a16:creationId xmlns:a16="http://schemas.microsoft.com/office/drawing/2014/main" id="{A6BB9CBB-99AE-4F58-A1C7-690B09A66F64}"/>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48</a:t>
            </a:r>
          </a:p>
        </p:txBody>
      </p:sp>
      <p:sp>
        <p:nvSpPr>
          <p:cNvPr id="3" name="">
            <a:extLst xmlns:a="http://schemas.openxmlformats.org/drawingml/2006/main">
              <a:ext uri="{FF2B5EF4-FFF2-40B4-BE49-F238E27FC236}">
                <a16:creationId xmlns:a16="http://schemas.microsoft.com/office/drawing/2014/main" id="{A8BC2023-135C-4974-8705-B349A1F285D9}"/>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5A87A0E9-6221-4216-BCF7-98CC9D045CAA}"/>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7BF19BBE-4F41-42D2-B69A-BDA3F39D71EA}"/>
              </a:ext>
            </a:extLst>
          </p:cNvPr>
          <p:cNvPicPr>
            <a:picLocks xmlns:a="http://schemas.openxmlformats.org/drawingml/2006/main" noChangeAspect="1"/>
          </p:cNvPicPr>
          <p:nvPr/>
        </p:nvPicPr>
        <p:blipFill>
          <a:blip xmlns:r="http://schemas.openxmlformats.org/officeDocument/2006/relationships" xmlns:a="http://schemas.openxmlformats.org/drawingml/2006/main" r:embed="Rdcfebd5ad4f74c3f"/>
          <a:stretch xmlns:a="http://schemas.openxmlformats.org/drawingml/2006/main"/>
        </p:blipFill>
        <p:spPr>
          <a:xfrm xmlns:a="http://schemas.openxmlformats.org/drawingml/2006/main">
            <a:off x="3889882" y="1952625"/>
            <a:ext cx="2126235" cy="762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A85B6F9-9BCC-4B94-A006-A24F0D5DE190}"/>
              </a:ext>
            </a:extLst>
          </p:cNvPr>
          <p:cNvPicPr>
            <a:picLocks xmlns:a="http://schemas.openxmlformats.org/drawingml/2006/main" noChangeAspect="1"/>
          </p:cNvPicPr>
          <p:nvPr/>
        </p:nvPicPr>
        <p:blipFill>
          <a:blip xmlns:r="http://schemas.openxmlformats.org/officeDocument/2006/relationships" xmlns:a="http://schemas.openxmlformats.org/drawingml/2006/main" r:embed="Rbf71359d42424cd3"/>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764593278"/>
      </p:ext>
    </p:extLst>
  </p:cSld>
</p:sld>
</file>

<file path=ppt/slides/slide4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5632C11-46E9-417A-8A21-EBB106427183}"/>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7. Two more shielded transactions</a:t>
            </a:r>
          </a:p>
        </p:txBody>
      </p:sp>
      <p:sp>
        <p:nvSpPr>
          <p:cNvPr id="2" name="">
            <a:extLst xmlns:a="http://schemas.openxmlformats.org/drawingml/2006/main">
              <a:ext uri="{FF2B5EF4-FFF2-40B4-BE49-F238E27FC236}">
                <a16:creationId xmlns:a16="http://schemas.microsoft.com/office/drawing/2014/main" id="{33794893-8F15-4001-90BF-E48738C383D7}"/>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49</a:t>
            </a:r>
          </a:p>
        </p:txBody>
      </p:sp>
      <p:sp>
        <p:nvSpPr>
          <p:cNvPr id="3" name="">
            <a:extLst xmlns:a="http://schemas.openxmlformats.org/drawingml/2006/main">
              <a:ext uri="{FF2B5EF4-FFF2-40B4-BE49-F238E27FC236}">
                <a16:creationId xmlns:a16="http://schemas.microsoft.com/office/drawing/2014/main" id="{1961BEBF-2EDE-4FE6-993A-90C17B94EDFA}"/>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After the payer accepts the retry, key 2 burns on-chain and the Safe makes the third transfer. The three transfers total 0.0004 test ETH. With a starting Safe balance of 0.001, the Safe has 0.0006 test ETH left in this example. Gas was paid separately by the payer.</a:t>
            </a:r>
          </a:p>
        </p:txBody>
      </p:sp>
    </p:spTree>
    <p:extLst>
      <p:ext uri="{BB962C8B-B14F-4D97-AF65-F5344CB8AC3E}">
        <p14:creationId xmlns:p14="http://schemas.microsoft.com/office/powerpoint/2010/main" val="1378868688"/>
      </p:ext>
    </p:extLst>
  </p:cSld>
</p:sld>
</file>

<file path=ppt/slides/slide50.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544C7D-D0F5-4B38-8EEC-1A123CB51118}"/>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three approvals in the local ledger</a:t>
            </a:r>
          </a:p>
        </p:txBody>
      </p:sp>
      <p:sp>
        <p:nvSpPr>
          <p:cNvPr id="2" name="">
            <a:extLst xmlns:a="http://schemas.openxmlformats.org/drawingml/2006/main">
              <a:ext uri="{FF2B5EF4-FFF2-40B4-BE49-F238E27FC236}">
                <a16:creationId xmlns:a16="http://schemas.microsoft.com/office/drawing/2014/main" id="{74ADAF0E-A793-45E3-8DA5-6AB520B2C798}"/>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50</a:t>
            </a:r>
          </a:p>
        </p:txBody>
      </p:sp>
      <p:sp>
        <p:nvSpPr>
          <p:cNvPr id="3" name="">
            <a:extLst xmlns:a="http://schemas.openxmlformats.org/drawingml/2006/main">
              <a:ext uri="{FF2B5EF4-FFF2-40B4-BE49-F238E27FC236}">
                <a16:creationId xmlns:a16="http://schemas.microsoft.com/office/drawing/2014/main" id="{2B875272-94A1-4B05-B6D0-4DDC3A731D8F}"/>
              </a:ext>
            </a:extLst>
          </p:cNvPr>
          <p:cNvSpPr>
            <a:spLocks xmlns:a="http://schemas.openxmlformats.org/drawingml/2006/main" noGrp="1"/>
          </p:cNvSpPr>
          <p:nvPr/>
        </p:nvSpPr>
        <p:spPr>
          <a:xfrm xmlns:a="http://schemas.openxmlformats.org/drawingml/2006/main">
            <a:off x="762000" y="13811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the user sees</a:t>
            </a:r>
          </a:p>
        </p:txBody>
      </p:sp>
      <p:sp>
        <p:nvSpPr>
          <p:cNvPr id="4" name="">
            <a:extLst xmlns:a="http://schemas.openxmlformats.org/drawingml/2006/main">
              <a:ext uri="{FF2B5EF4-FFF2-40B4-BE49-F238E27FC236}">
                <a16:creationId xmlns:a16="http://schemas.microsoft.com/office/drawing/2014/main" id="{A361D4DA-8680-4F11-AD8C-B18479A1524E}"/>
              </a:ext>
            </a:extLst>
          </p:cNvPr>
          <p:cNvSpPr>
            <a:spLocks xmlns:a="http://schemas.openxmlformats.org/drawingml/2006/main" noGrp="1"/>
          </p:cNvSpPr>
          <p:nvPr/>
        </p:nvSpPr>
        <p:spPr>
          <a:xfrm xmlns:a="http://schemas.openxmlformats.org/drawingml/2006/main">
            <a:off x="9810750" y="13811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596C82"/>
                </a:solidFill>
                <a:latin typeface="Arial"/>
                <a:ea typeface="Arial"/>
                <a:cs typeface="Arial"/>
              </a:defRPr>
            </a:defPPr>
          </a:lstStyle>
          <a:p xmlns:a="http://schemas.openxmlformats.org/drawingml/2006/main">
            <a:pPr>
              <a:defRPr sz="1875" b="1">
                <a:solidFill>
                  <a:srgbClr val="596C82"/>
                </a:solidFill>
                <a:latin typeface="Arial"/>
                <a:ea typeface="Arial"/>
                <a:cs typeface="Arial"/>
              </a:defRPr>
            </a:pPr>
            <a:r>
              <a:rPr sz="1875" b="1">
                <a:solidFill>
                  <a:srgbClr val="596C82"/>
                </a:solidFill>
                <a:latin typeface="Arial"/>
                <a:ea typeface="Arial"/>
                <a:cs typeface="Arial"/>
              </a:rPr>
              <a:t>What happens behind it</a:t>
            </a:r>
          </a:p>
        </p:txBody>
      </p:sp>
      <p:pic>
        <p:nvPicPr>
          <p:cNvPr id="5" name="">
            <a:extLst xmlns:a="http://schemas.openxmlformats.org/drawingml/2006/main">
              <a:ext uri="{FF2B5EF4-FFF2-40B4-BE49-F238E27FC236}">
                <a16:creationId xmlns:a16="http://schemas.microsoft.com/office/drawing/2014/main" id="{44A5A437-E513-485E-B0FD-F5F6E242273B}"/>
              </a:ext>
            </a:extLst>
          </p:cNvPr>
          <p:cNvPicPr>
            <a:picLocks xmlns:a="http://schemas.openxmlformats.org/drawingml/2006/main" noChangeAspect="1"/>
          </p:cNvPicPr>
          <p:nvPr/>
        </p:nvPicPr>
        <p:blipFill>
          <a:blip xmlns:r="http://schemas.openxmlformats.org/officeDocument/2006/relationships" xmlns:a="http://schemas.openxmlformats.org/drawingml/2006/main" r:embed="R371ce6038ff148d5"/>
          <a:stretch xmlns:a="http://schemas.openxmlformats.org/drawingml/2006/main"/>
        </p:blipFill>
        <p:spPr>
          <a:xfrm xmlns:a="http://schemas.openxmlformats.org/drawingml/2006/main">
            <a:off x="666750" y="3182938"/>
            <a:ext cx="8572500" cy="51593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E2E6703-58FC-4192-905E-DE695FEA0546}"/>
              </a:ext>
            </a:extLst>
          </p:cNvPr>
          <p:cNvPicPr>
            <a:picLocks xmlns:a="http://schemas.openxmlformats.org/drawingml/2006/main" noChangeAspect="1"/>
          </p:cNvPicPr>
          <p:nvPr/>
        </p:nvPicPr>
        <p:blipFill>
          <a:blip xmlns:r="http://schemas.openxmlformats.org/officeDocument/2006/relationships" xmlns:a="http://schemas.openxmlformats.org/drawingml/2006/main" r:embed="R9121b269cc4b4f7b"/>
          <a:stretch xmlns:a="http://schemas.openxmlformats.org/drawingml/2006/main"/>
        </p:blipFill>
        <p:spPr>
          <a:xfrm xmlns:a="http://schemas.openxmlformats.org/drawingml/2006/main">
            <a:off x="12179322" y="1952625"/>
            <a:ext cx="3073355" cy="7620000"/>
          </a:xfrm>
          <a:prstGeom xmlns:a="http://schemas.openxmlformats.org/drawingml/2006/main" prst="rect">
            <a:avLst/>
          </a:prstGeom>
        </p:spPr>
      </p:pic>
    </p:spTree>
    <p:extLst>
      <p:ext uri="{BB962C8B-B14F-4D97-AF65-F5344CB8AC3E}">
        <p14:creationId xmlns:p14="http://schemas.microsoft.com/office/powerpoint/2010/main" val="917800081"/>
      </p:ext>
    </p:extLst>
  </p:cSld>
</p:sld>
</file>

<file path=ppt/slides/slide5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7FAD24C-BA87-4FEA-B62A-240B902F6795}"/>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7. Two more shielded transactions</a:t>
            </a:r>
          </a:p>
        </p:txBody>
      </p:sp>
      <p:sp>
        <p:nvSpPr>
          <p:cNvPr id="2" name="">
            <a:extLst xmlns:a="http://schemas.openxmlformats.org/drawingml/2006/main">
              <a:ext uri="{FF2B5EF4-FFF2-40B4-BE49-F238E27FC236}">
                <a16:creationId xmlns:a16="http://schemas.microsoft.com/office/drawing/2014/main" id="{FA545790-CD00-4A8D-940B-2A720B2F6A8F}"/>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51</a:t>
            </a:r>
          </a:p>
        </p:txBody>
      </p:sp>
      <p:sp>
        <p:nvSpPr>
          <p:cNvPr id="3" name="">
            <a:extLst xmlns:a="http://schemas.openxmlformats.org/drawingml/2006/main">
              <a:ext uri="{FF2B5EF4-FFF2-40B4-BE49-F238E27FC236}">
                <a16:creationId xmlns:a16="http://schemas.microsoft.com/office/drawing/2014/main" id="{2CF942F0-2614-4543-A6CF-D88A3ADF830E}"/>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A landed approval and a successful Safe execution are separate outcomes. The implementation can burn the key and keep the seat's vote even if Safe execution fails. A payer's successful receipt alone does not establish that the transfer ran. Check the page's execution result and Safe nonce. The screenshots above show successful executions; the refusal did not land until retried.</a:t>
            </a:r>
          </a:p>
        </p:txBody>
      </p:sp>
    </p:spTree>
    <p:extLst>
      <p:ext uri="{BB962C8B-B14F-4D97-AF65-F5344CB8AC3E}">
        <p14:creationId xmlns:p14="http://schemas.microsoft.com/office/powerpoint/2010/main" val="237794517"/>
      </p:ext>
    </p:extLst>
  </p:cSld>
</p:sld>
</file>

<file path=ppt/slides/slide5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58B5A30-DBF0-4AB8-8454-7192236057C7}"/>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Where the theoretical exposures are (1)</a:t>
            </a:r>
          </a:p>
        </p:txBody>
      </p:sp>
      <p:sp>
        <p:nvSpPr>
          <p:cNvPr id="2" name="">
            <a:extLst xmlns:a="http://schemas.openxmlformats.org/drawingml/2006/main">
              <a:ext uri="{FF2B5EF4-FFF2-40B4-BE49-F238E27FC236}">
                <a16:creationId xmlns:a16="http://schemas.microsoft.com/office/drawing/2014/main" id="{FAD53F16-C902-4545-831E-6744F6BD3D3C}"/>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52</a:t>
            </a:r>
          </a:p>
        </p:txBody>
      </p:sp>
      <p:graphicFrame>
        <p:nvGraphicFramePr>
          <p:cNvPr id="3" name="">
            <a:extLst xmlns:a="http://schemas.openxmlformats.org/drawingml/2006/main">
              <a:ext uri="{FF2B5EF4-FFF2-40B4-BE49-F238E27FC236}">
                <a16:creationId xmlns:a16="http://schemas.microsoft.com/office/drawing/2014/main" id="{34255D69-2E18-4C04-AB36-FB8B77EC776C}"/>
              </a:ext>
            </a:extLst>
          </p:cNvPr>
          <p:cNvGraphicFramePr/>
          <p:nvPr/>
        </p:nvGraphicFramePr>
        <p:xfrm>
          <a:off xmlns:a="http://schemas.openxmlformats.org/drawingml/2006/main" x="666750" y="1666875"/>
          <a:ext xmlns:a="http://schemas.openxmlformats.org/drawingml/2006/main" cx="16954500" cy="6191250"/>
        </p:xfrm>
        <a:graphic xmlns:a="http://schemas.openxmlformats.org/drawingml/2006/main">
          <a:graphicData uri="http://schemas.openxmlformats.org/drawingml/2006/table">
            <a:tbl>
              <a:tblPr/>
              <a:tblGrid>
                <a:gridCol w="3429000"/>
                <a:gridCol w="6096000"/>
                <a:gridCol w="7429500"/>
              </a:tblGrid>
              <a:tr h="809625">
                <a:tc>
                  <a:txBody>
                    <a:bodyPr/>
                    <a:lstStyle/>
                    <a:p>
                      <a:r>
                        <a:rPr sz="2100" b="1">
                          <a:solidFill>
                            <a:srgbClr val="FFFFFF"/>
                          </a:solidFill>
                          <a:latin typeface="Arial"/>
                          <a:ea typeface="Arial"/>
                          <a:cs typeface="Arial"/>
                        </a:rPr>
                        <a:t>Place or moment</a:t>
                      </a:r>
                    </a:p>
                  </a:txBody>
                  <a:tcPr marL="91440" marR="91440" marT="45720" marB="45720">
                    <a:solidFill>
                      <a:srgbClr val="20314B"/>
                    </a:solidFill>
                  </a:tcPr>
                </a:tc>
                <a:tc>
                  <a:txBody>
                    <a:bodyPr/>
                    <a:lstStyle/>
                    <a:p>
                      <a:r>
                        <a:rPr sz="2100" b="1">
                          <a:solidFill>
                            <a:srgbClr val="FFFFFF"/>
                          </a:solidFill>
                          <a:latin typeface="Arial"/>
                          <a:ea typeface="Arial"/>
                          <a:cs typeface="Arial"/>
                        </a:rPr>
                        <a:t>What is exposed</a:t>
                      </a:r>
                    </a:p>
                  </a:txBody>
                  <a:tcPr marL="91440" marR="91440" marT="45720" marB="45720">
                    <a:solidFill>
                      <a:srgbClr val="20314B"/>
                    </a:solidFill>
                  </a:tcPr>
                </a:tc>
                <a:tc>
                  <a:txBody>
                    <a:bodyPr/>
                    <a:lstStyle/>
                    <a:p>
                      <a:r>
                        <a:rPr sz="2100" b="1">
                          <a:solidFill>
                            <a:srgbClr val="FFFFFF"/>
                          </a:solidFill>
                          <a:latin typeface="Arial"/>
                          <a:ea typeface="Arial"/>
                          <a:cs typeface="Arial"/>
                        </a:rPr>
                        <a:t>What that means</a:t>
                      </a:r>
                    </a:p>
                  </a:txBody>
                  <a:tcPr marL="91440" marR="91440" marT="45720" marB="45720">
                    <a:solidFill>
                      <a:srgbClr val="20314B"/>
                    </a:solidFill>
                  </a:tcPr>
                </a:tc>
              </a:tr>
              <a:tr h="1438275">
                <a:tc>
                  <a:txBody>
                    <a:bodyPr/>
                    <a:lstStyle/>
                    <a:p>
                      <a:r>
                        <a:rPr sz="2175" b="0">
                          <a:solidFill>
                            <a:srgbClr val="20314B"/>
                          </a:solidFill>
                          <a:latin typeface="Arial"/>
                          <a:ea typeface="Arial"/>
                          <a:cs typeface="Arial"/>
                        </a:rPr>
                        <a:t>Signing page after a PRF call</a:t>
                      </a:r>
                    </a:p>
                  </a:txBody>
                  <a:tcPr marL="91440" marR="91440" marT="45720" marB="45720">
                    <a:solidFill>
                      <a:srgbClr val="F0F4F3"/>
                    </a:solidFill>
                  </a:tcPr>
                </a:tc>
                <a:tc>
                  <a:txBody>
                    <a:bodyPr/>
                    <a:lstStyle/>
                    <a:p>
                      <a:r>
                        <a:rPr sz="2175" b="0">
                          <a:solidFill>
                            <a:srgbClr val="20314B"/>
                          </a:solidFill>
                          <a:latin typeface="Arial"/>
                          <a:ea typeface="Arial"/>
                          <a:cs typeface="Arial"/>
                        </a:rPr>
                        <a:t>Current and, for an approval, next seeds; assertion; then the completed approval</a:t>
                      </a:r>
                    </a:p>
                  </a:txBody>
                  <a:tcPr marL="91440" marR="91440" marT="45720" marB="45720">
                    <a:solidFill>
                      <a:srgbClr val="F0F4F3"/>
                    </a:solidFill>
                  </a:tcPr>
                </a:tc>
                <a:tc>
                  <a:txBody>
                    <a:bodyPr/>
                    <a:lstStyle/>
                    <a:p>
                      <a:r>
                        <a:rPr sz="2175" b="0">
                          <a:solidFill>
                            <a:srgbClr val="20314B"/>
                          </a:solidFill>
                          <a:latin typeface="Arial"/>
                          <a:ea typeface="Arial"/>
                          <a:cs typeface="Arial"/>
                        </a:rPr>
                        <a:t>Malware with access to this memory can steal private one-time material. This exceeds the intended public-signature exposure.</a:t>
                      </a:r>
                    </a:p>
                  </a:txBody>
                  <a:tcPr marL="91440" marR="91440" marT="45720" marB="45720">
                    <a:solidFill>
                      <a:srgbClr val="F0F4F3"/>
                    </a:solidFill>
                  </a:tcPr>
                </a:tc>
              </a:tr>
              <a:tr h="1066800">
                <a:tc>
                  <a:txBody>
                    <a:bodyPr/>
                    <a:lstStyle/>
                    <a:p>
                      <a:r>
                        <a:rPr sz="2175" b="0">
                          <a:solidFill>
                            <a:srgbClr val="20314B"/>
                          </a:solidFill>
                          <a:latin typeface="Arial"/>
                          <a:ea typeface="Arial"/>
                          <a:cs typeface="Arial"/>
                        </a:rPr>
                        <a:t>First-key setup</a:t>
                      </a:r>
                    </a:p>
                  </a:txBody>
                  <a:tcPr marL="91440" marR="91440" marT="45720" marB="45720">
                    <a:solidFill>
                      <a:srgbClr val="FFFDF7"/>
                    </a:solidFill>
                  </a:tcPr>
                </a:tc>
                <a:tc>
                  <a:txBody>
                    <a:bodyPr/>
                    <a:lstStyle/>
                    <a:p>
                      <a:r>
                        <a:rPr sz="2175" b="0">
                          <a:solidFill>
                            <a:srgbClr val="20314B"/>
                          </a:solidFill>
                          <a:latin typeface="Arial"/>
                          <a:ea typeface="Arial"/>
                          <a:cs typeface="Arial"/>
                        </a:rPr>
                        <a:t>seed(0) briefly reaches the page</a:t>
                      </a:r>
                    </a:p>
                  </a:txBody>
                  <a:tcPr marL="91440" marR="91440" marT="45720" marB="45720">
                    <a:solidFill>
                      <a:srgbClr val="FFFDF7"/>
                    </a:solidFill>
                  </a:tcPr>
                </a:tc>
                <a:tc>
                  <a:txBody>
                    <a:bodyPr/>
                    <a:lstStyle/>
                    <a:p>
                      <a:r>
                        <a:rPr sz="2175" b="0">
                          <a:solidFill>
                            <a:srgbClr val="20314B"/>
                          </a:solidFill>
                          <a:latin typeface="Arial"/>
                          <a:ea typeface="Arial"/>
                          <a:cs typeface="Arial"/>
                        </a:rPr>
                        <a:t>Seed exposure can precede any transaction approval.</a:t>
                      </a:r>
                    </a:p>
                  </a:txBody>
                  <a:tcPr marL="91440" marR="91440" marT="45720" marB="45720">
                    <a:solidFill>
                      <a:srgbClr val="FFFDF7"/>
                    </a:solidFill>
                  </a:tcPr>
                </a:tc>
              </a:tr>
              <a:tr h="1066800">
                <a:tc>
                  <a:txBody>
                    <a:bodyPr/>
                    <a:lstStyle/>
                    <a:p>
                      <a:r>
                        <a:rPr sz="2175" b="0">
                          <a:solidFill>
                            <a:srgbClr val="20314B"/>
                          </a:solidFill>
                          <a:latin typeface="Arial"/>
                          <a:ea typeface="Arial"/>
                          <a:cs typeface="Arial"/>
                        </a:rPr>
                        <a:t>Simulation RPC</a:t>
                      </a:r>
                    </a:p>
                  </a:txBody>
                  <a:tcPr marL="91440" marR="91440" marT="45720" marB="45720">
                    <a:solidFill>
                      <a:srgbClr val="F0F4F3"/>
                    </a:solidFill>
                  </a:tcPr>
                </a:tc>
                <a:tc>
                  <a:txBody>
                    <a:bodyPr/>
                    <a:lstStyle/>
                    <a:p>
                      <a:r>
                        <a:rPr sz="2175" b="0">
                          <a:solidFill>
                            <a:srgbClr val="20314B"/>
                          </a:solidFill>
                          <a:latin typeface="Arial"/>
                          <a:ea typeface="Arial"/>
                          <a:cs typeface="Arial"/>
                        </a:rPr>
                        <a:t>Completed approval and transaction details</a:t>
                      </a:r>
                    </a:p>
                  </a:txBody>
                  <a:tcPr marL="91440" marR="91440" marT="45720" marB="45720">
                    <a:solidFill>
                      <a:srgbClr val="F0F4F3"/>
                    </a:solidFill>
                  </a:tcPr>
                </a:tc>
                <a:tc>
                  <a:txBody>
                    <a:bodyPr/>
                    <a:lstStyle/>
                    <a:p>
                      <a:r>
                        <a:rPr sz="2175" b="0">
                          <a:solidFill>
                            <a:srgbClr val="20314B"/>
                          </a:solidFill>
                          <a:latin typeface="Arial"/>
                          <a:ea typeface="Arial"/>
                          <a:cs typeface="Arial"/>
                        </a:rPr>
                        <a:t>Gas-free does not mean private. The one-time public key can be computed before the burn lands.</a:t>
                      </a:r>
                    </a:p>
                  </a:txBody>
                  <a:tcPr marL="91440" marR="91440" marT="45720" marB="45720">
                    <a:solidFill>
                      <a:srgbClr val="F0F4F3"/>
                    </a:solidFill>
                  </a:tcPr>
                </a:tc>
              </a:tr>
              <a:tr h="1809750">
                <a:tc>
                  <a:txBody>
                    <a:bodyPr/>
                    <a:lstStyle/>
                    <a:p>
                      <a:r>
                        <a:rPr sz="2175" b="0">
                          <a:solidFill>
                            <a:srgbClr val="20314B"/>
                          </a:solidFill>
                          <a:latin typeface="Arial"/>
                          <a:ea typeface="Arial"/>
                          <a:cs typeface="Arial"/>
                        </a:rPr>
                        <a:t>Copied approval link, messaging service, payer or hypothetical relayer</a:t>
                      </a:r>
                    </a:p>
                  </a:txBody>
                  <a:tcPr marL="91440" marR="91440" marT="45720" marB="45720">
                    <a:solidFill>
                      <a:srgbClr val="FFFDF7"/>
                    </a:solidFill>
                  </a:tcPr>
                </a:tc>
                <a:tc>
                  <a:txBody>
                    <a:bodyPr/>
                    <a:lstStyle/>
                    <a:p>
                      <a:r>
                        <a:rPr sz="2175" b="0">
                          <a:solidFill>
                            <a:srgbClr val="20314B"/>
                          </a:solidFill>
                          <a:latin typeface="Arial"/>
                          <a:ea typeface="Arial"/>
                          <a:cs typeface="Arial"/>
                        </a:rPr>
                        <a:t>Completed approval, transaction fields and next fingerprint</a:t>
                      </a:r>
                    </a:p>
                  </a:txBody>
                  <a:tcPr marL="91440" marR="91440" marT="45720" marB="45720">
                    <a:solidFill>
                      <a:srgbClr val="FFFDF7"/>
                    </a:solidFill>
                  </a:tcPr>
                </a:tc>
                <a:tc>
                  <a:txBody>
                    <a:bodyPr/>
                    <a:lstStyle/>
                    <a:p>
                      <a:r>
                        <a:rPr sz="2175" b="0">
                          <a:solidFill>
                            <a:srgbClr val="20314B"/>
                          </a:solidFill>
                          <a:latin typeface="Arial"/>
                          <a:ea typeface="Arial"/>
                          <a:cs typeface="Arial"/>
                        </a:rPr>
                        <a:t>They can submit the existing approval. They do not receive seeds through the intended link format. No relayer service is built here.</a:t>
                      </a:r>
                    </a:p>
                  </a:txBody>
                  <a:tcPr marL="91440" marR="91440" marT="45720" marB="45720">
                    <a:solidFill>
                      <a:srgbClr val="FFFDF7"/>
                    </a:solidFill>
                  </a:tcPr>
                </a:tc>
              </a:tr>
            </a:tbl>
          </a:graphicData>
        </a:graphic>
      </p:graphicFrame>
    </p:spTree>
    <p:extLst>
      <p:ext uri="{BB962C8B-B14F-4D97-AF65-F5344CB8AC3E}">
        <p14:creationId xmlns:p14="http://schemas.microsoft.com/office/powerpoint/2010/main" val="1902411155"/>
      </p:ext>
    </p:extLst>
  </p:cSld>
</p:sld>
</file>

<file path=ppt/slides/slide5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1D89D91-0197-4394-9304-2D569825527C}"/>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Where the theoretical exposures are (2)</a:t>
            </a:r>
          </a:p>
        </p:txBody>
      </p:sp>
      <p:sp>
        <p:nvSpPr>
          <p:cNvPr id="2" name="">
            <a:extLst xmlns:a="http://schemas.openxmlformats.org/drawingml/2006/main">
              <a:ext uri="{FF2B5EF4-FFF2-40B4-BE49-F238E27FC236}">
                <a16:creationId xmlns:a16="http://schemas.microsoft.com/office/drawing/2014/main" id="{3CFF16E0-DC26-4AE7-BBFE-175B408A3E27}"/>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53</a:t>
            </a:r>
          </a:p>
        </p:txBody>
      </p:sp>
      <p:graphicFrame>
        <p:nvGraphicFramePr>
          <p:cNvPr id="3" name="">
            <a:extLst xmlns:a="http://schemas.openxmlformats.org/drawingml/2006/main">
              <a:ext uri="{FF2B5EF4-FFF2-40B4-BE49-F238E27FC236}">
                <a16:creationId xmlns:a16="http://schemas.microsoft.com/office/drawing/2014/main" id="{F4B395A5-776A-4B67-B4FB-6CE9DD6723A8}"/>
              </a:ext>
            </a:extLst>
          </p:cNvPr>
          <p:cNvGraphicFramePr/>
          <p:nvPr/>
        </p:nvGraphicFramePr>
        <p:xfrm>
          <a:off xmlns:a="http://schemas.openxmlformats.org/drawingml/2006/main" x="666750" y="1666875"/>
          <a:ext xmlns:a="http://schemas.openxmlformats.org/drawingml/2006/main" cx="16954500" cy="6562725"/>
        </p:xfrm>
        <a:graphic xmlns:a="http://schemas.openxmlformats.org/drawingml/2006/main">
          <a:graphicData uri="http://schemas.openxmlformats.org/drawingml/2006/table">
            <a:tbl>
              <a:tblPr/>
              <a:tblGrid>
                <a:gridCol w="3429000"/>
                <a:gridCol w="6096000"/>
                <a:gridCol w="7429500"/>
              </a:tblGrid>
              <a:tr h="809625">
                <a:tc>
                  <a:txBody>
                    <a:bodyPr/>
                    <a:lstStyle/>
                    <a:p>
                      <a:r>
                        <a:rPr sz="2100" b="1">
                          <a:solidFill>
                            <a:srgbClr val="FFFFFF"/>
                          </a:solidFill>
                          <a:latin typeface="Arial"/>
                          <a:ea typeface="Arial"/>
                          <a:cs typeface="Arial"/>
                        </a:rPr>
                        <a:t>Place or moment</a:t>
                      </a:r>
                    </a:p>
                  </a:txBody>
                  <a:tcPr marL="91440" marR="91440" marT="45720" marB="45720">
                    <a:solidFill>
                      <a:srgbClr val="20314B"/>
                    </a:solidFill>
                  </a:tcPr>
                </a:tc>
                <a:tc>
                  <a:txBody>
                    <a:bodyPr/>
                    <a:lstStyle/>
                    <a:p>
                      <a:r>
                        <a:rPr sz="2100" b="1">
                          <a:solidFill>
                            <a:srgbClr val="FFFFFF"/>
                          </a:solidFill>
                          <a:latin typeface="Arial"/>
                          <a:ea typeface="Arial"/>
                          <a:cs typeface="Arial"/>
                        </a:rPr>
                        <a:t>What is exposed</a:t>
                      </a:r>
                    </a:p>
                  </a:txBody>
                  <a:tcPr marL="91440" marR="91440" marT="45720" marB="45720">
                    <a:solidFill>
                      <a:srgbClr val="20314B"/>
                    </a:solidFill>
                  </a:tcPr>
                </a:tc>
                <a:tc>
                  <a:txBody>
                    <a:bodyPr/>
                    <a:lstStyle/>
                    <a:p>
                      <a:r>
                        <a:rPr sz="2100" b="1">
                          <a:solidFill>
                            <a:srgbClr val="FFFFFF"/>
                          </a:solidFill>
                          <a:latin typeface="Arial"/>
                          <a:ea typeface="Arial"/>
                          <a:cs typeface="Arial"/>
                        </a:rPr>
                        <a:t>What that means</a:t>
                      </a:r>
                    </a:p>
                  </a:txBody>
                  <a:tcPr marL="91440" marR="91440" marT="45720" marB="45720">
                    <a:solidFill>
                      <a:srgbClr val="20314B"/>
                    </a:solidFill>
                  </a:tcPr>
                </a:tc>
              </a:tr>
              <a:tr h="1438275">
                <a:tc>
                  <a:txBody>
                    <a:bodyPr/>
                    <a:lstStyle/>
                    <a:p>
                      <a:r>
                        <a:rPr sz="2175" b="0">
                          <a:solidFill>
                            <a:srgbClr val="20314B"/>
                          </a:solidFill>
                          <a:latin typeface="Arial"/>
                          <a:ea typeface="Arial"/>
                          <a:cs typeface="Arial"/>
                        </a:rPr>
                        <a:t>Payer wallet and its transaction infrastructure</a:t>
                      </a:r>
                    </a:p>
                  </a:txBody>
                  <a:tcPr marL="91440" marR="91440" marT="45720" marB="45720">
                    <a:solidFill>
                      <a:srgbClr val="F0F4F3"/>
                    </a:solidFill>
                  </a:tcPr>
                </a:tc>
                <a:tc>
                  <a:txBody>
                    <a:bodyPr/>
                    <a:lstStyle/>
                    <a:p>
                      <a:r>
                        <a:rPr sz="2175" b="0">
                          <a:solidFill>
                            <a:srgbClr val="20314B"/>
                          </a:solidFill>
                          <a:latin typeface="Arial"/>
                          <a:ea typeface="Arial"/>
                          <a:cs typeface="Arial"/>
                        </a:rPr>
                        <a:t>Calls and signatures submitted for broadcast</a:t>
                      </a:r>
                    </a:p>
                  </a:txBody>
                  <a:tcPr marL="91440" marR="91440" marT="45720" marB="45720">
                    <a:solidFill>
                      <a:srgbClr val="F0F4F3"/>
                    </a:solidFill>
                  </a:tcPr>
                </a:tc>
                <a:tc>
                  <a:txBody>
                    <a:bodyPr/>
                    <a:lstStyle/>
                    <a:p>
                      <a:r>
                        <a:rPr sz="2175" b="0">
                          <a:solidFill>
                            <a:srgbClr val="20314B"/>
                          </a:solidFill>
                          <a:latin typeface="Arial"/>
                          <a:ea typeface="Arial"/>
                          <a:cs typeface="Arial"/>
                        </a:rPr>
                        <a:t>The approval is visible before inclusion. A compromised payer cannot be assumed to keep it private.</a:t>
                      </a:r>
                    </a:p>
                  </a:txBody>
                  <a:tcPr marL="91440" marR="91440" marT="45720" marB="45720">
                    <a:solidFill>
                      <a:srgbClr val="F0F4F3"/>
                    </a:solidFill>
                  </a:tcPr>
                </a:tc>
              </a:tr>
              <a:tr h="1438275">
                <a:tc>
                  <a:txBody>
                    <a:bodyPr/>
                    <a:lstStyle/>
                    <a:p>
                      <a:r>
                        <a:rPr sz="2175" b="0">
                          <a:solidFill>
                            <a:srgbClr val="20314B"/>
                          </a:solidFill>
                          <a:latin typeface="Arial"/>
                          <a:ea typeface="Arial"/>
                          <a:cs typeface="Arial"/>
                        </a:rPr>
                        <a:t>Included transaction</a:t>
                      </a:r>
                    </a:p>
                  </a:txBody>
                  <a:tcPr marL="91440" marR="91440" marT="45720" marB="45720">
                    <a:solidFill>
                      <a:srgbClr val="FFFDF7"/>
                    </a:solidFill>
                  </a:tcPr>
                </a:tc>
                <a:tc>
                  <a:txBody>
                    <a:bodyPr/>
                    <a:lstStyle/>
                    <a:p>
                      <a:r>
                        <a:rPr sz="2175" b="0">
                          <a:solidFill>
                            <a:srgbClr val="20314B"/>
                          </a:solidFill>
                          <a:latin typeface="Arial"/>
                          <a:ea typeface="Arial"/>
                          <a:cs typeface="Arial"/>
                        </a:rPr>
                        <a:t>Signatures and transaction fields, permanently</a:t>
                      </a:r>
                    </a:p>
                  </a:txBody>
                  <a:tcPr marL="91440" marR="91440" marT="45720" marB="45720">
                    <a:solidFill>
                      <a:srgbClr val="FFFDF7"/>
                    </a:solidFill>
                  </a:tcPr>
                </a:tc>
                <a:tc>
                  <a:txBody>
                    <a:bodyPr/>
                    <a:lstStyle/>
                    <a:p>
                      <a:r>
                        <a:rPr sz="2175" b="0">
                          <a:solidFill>
                            <a:srgbClr val="20314B"/>
                          </a:solidFill>
                          <a:latin typeface="Arial"/>
                          <a:ea typeface="Arial"/>
                          <a:cs typeface="Arial"/>
                        </a:rPr>
                        <a:t>The old key is retired on-chain if the approval succeeds. Only the next key's fingerprint is committed.</a:t>
                      </a:r>
                    </a:p>
                  </a:txBody>
                  <a:tcPr marL="91440" marR="91440" marT="45720" marB="45720">
                    <a:solidFill>
                      <a:srgbClr val="FFFDF7"/>
                    </a:solidFill>
                  </a:tcPr>
                </a:tc>
              </a:tr>
              <a:tr h="1438275">
                <a:tc>
                  <a:txBody>
                    <a:bodyPr/>
                    <a:lstStyle/>
                    <a:p>
                      <a:r>
                        <a:rPr sz="2175" b="0">
                          <a:solidFill>
                            <a:srgbClr val="20314B"/>
                          </a:solidFill>
                          <a:latin typeface="Arial"/>
                          <a:ea typeface="Arial"/>
                          <a:cs typeface="Arial"/>
                        </a:rPr>
                        <a:t>Cleared ledger or a second signing browser</a:t>
                      </a:r>
                    </a:p>
                  </a:txBody>
                  <a:tcPr marL="91440" marR="91440" marT="45720" marB="45720">
                    <a:solidFill>
                      <a:srgbClr val="F0F4F3"/>
                    </a:solidFill>
                  </a:tcPr>
                </a:tc>
                <a:tc>
                  <a:txBody>
                    <a:bodyPr/>
                    <a:lstStyle/>
                    <a:p>
                      <a:r>
                        <a:rPr sz="2175" b="0">
                          <a:solidFill>
                            <a:srgbClr val="20314B"/>
                          </a:solidFill>
                          <a:latin typeface="Arial"/>
                          <a:ea typeface="Arial"/>
                          <a:cs typeface="Arial"/>
                        </a:rPr>
                        <a:t>The console can lose knowledge of an already disclosed signature</a:t>
                      </a:r>
                    </a:p>
                  </a:txBody>
                  <a:tcPr marL="91440" marR="91440" marT="45720" marB="45720">
                    <a:solidFill>
                      <a:srgbClr val="F0F4F3"/>
                    </a:solidFill>
                  </a:tcPr>
                </a:tc>
                <a:tc>
                  <a:txBody>
                    <a:bodyPr/>
                    <a:lstStyle/>
                    <a:p>
                      <a:r>
                        <a:rPr sz="2175" b="0">
                          <a:solidFill>
                            <a:srgbClr val="20314B"/>
                          </a:solidFill>
                          <a:latin typeface="Arial"/>
                          <a:ea typeface="Arial"/>
                          <a:cs typeface="Arial"/>
                        </a:rPr>
                        <a:t>A second signature with the same one-time key can reveal more chain positions and enable forgery attempts. Reuse breaks the design's assumption.</a:t>
                      </a:r>
                    </a:p>
                  </a:txBody>
                  <a:tcPr marL="91440" marR="91440" marT="45720" marB="45720">
                    <a:solidFill>
                      <a:srgbClr val="F0F4F3"/>
                    </a:solidFill>
                  </a:tcPr>
                </a:tc>
              </a:tr>
              <a:tr h="1438275">
                <a:tc>
                  <a:txBody>
                    <a:bodyPr/>
                    <a:lstStyle/>
                    <a:p>
                      <a:r>
                        <a:rPr sz="2175" b="0">
                          <a:solidFill>
                            <a:srgbClr val="20314B"/>
                          </a:solidFill>
                          <a:latin typeface="Arial"/>
                          <a:ea typeface="Arial"/>
                          <a:cs typeface="Arial"/>
                        </a:rPr>
                        <a:t>Compromised OS, authenticator or synced credential account</a:t>
                      </a:r>
                    </a:p>
                  </a:txBody>
                  <a:tcPr marL="91440" marR="91440" marT="45720" marB="45720">
                    <a:solidFill>
                      <a:srgbClr val="FFFDF7"/>
                    </a:solidFill>
                  </a:tcPr>
                </a:tc>
                <a:tc>
                  <a:txBody>
                    <a:bodyPr/>
                    <a:lstStyle/>
                    <a:p>
                      <a:r>
                        <a:rPr sz="2175" b="0">
                          <a:solidFill>
                            <a:srgbClr val="20314B"/>
                          </a:solidFill>
                          <a:latin typeface="Arial"/>
                          <a:ea typeface="Arial"/>
                          <a:cs typeface="Arial"/>
                        </a:rPr>
                        <a:t>Depends on what the attacker controls</a:t>
                      </a:r>
                    </a:p>
                  </a:txBody>
                  <a:tcPr marL="91440" marR="91440" marT="45720" marB="45720">
                    <a:solidFill>
                      <a:srgbClr val="FFFDF7"/>
                    </a:solidFill>
                  </a:tcPr>
                </a:tc>
                <a:tc>
                  <a:txBody>
                    <a:bodyPr/>
                    <a:lstStyle/>
                    <a:p>
                      <a:r>
                        <a:rPr sz="2175" b="0">
                          <a:solidFill>
                            <a:srgbClr val="20314B"/>
                          </a:solidFill>
                          <a:latin typeface="Arial"/>
                          <a:ea typeface="Arial"/>
                          <a:cs typeface="Arial"/>
                        </a:rPr>
                        <a:t>An attacker may invoke the passkey or capture outputs. The application does not protect a compromised signing environment.</a:t>
                      </a:r>
                    </a:p>
                  </a:txBody>
                  <a:tcPr marL="91440" marR="91440" marT="45720" marB="45720">
                    <a:solidFill>
                      <a:srgbClr val="FFFDF7"/>
                    </a:solidFill>
                  </a:tcPr>
                </a:tc>
              </a:tr>
            </a:tbl>
          </a:graphicData>
        </a:graphic>
      </p:graphicFrame>
    </p:spTree>
    <p:extLst>
      <p:ext uri="{BB962C8B-B14F-4D97-AF65-F5344CB8AC3E}">
        <p14:creationId xmlns:p14="http://schemas.microsoft.com/office/powerpoint/2010/main" val="627919028"/>
      </p:ext>
    </p:extLst>
  </p:cSld>
</p:sld>
</file>

<file path=ppt/slides/slide5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8D06855-47FF-478F-AAAE-7C20D63AA10F}"/>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Where the theoretical exposures are</a:t>
            </a:r>
          </a:p>
        </p:txBody>
      </p:sp>
      <p:sp>
        <p:nvSpPr>
          <p:cNvPr id="2" name="">
            <a:extLst xmlns:a="http://schemas.openxmlformats.org/drawingml/2006/main">
              <a:ext uri="{FF2B5EF4-FFF2-40B4-BE49-F238E27FC236}">
                <a16:creationId xmlns:a16="http://schemas.microsoft.com/office/drawing/2014/main" id="{C9BFFE1F-D0D8-46D1-8510-E6F9E51FAFC5}"/>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54</a:t>
            </a:r>
          </a:p>
        </p:txBody>
      </p:sp>
      <p:sp>
        <p:nvSpPr>
          <p:cNvPr id="3" name="">
            <a:extLst xmlns:a="http://schemas.openxmlformats.org/drawingml/2006/main">
              <a:ext uri="{FF2B5EF4-FFF2-40B4-BE49-F238E27FC236}">
                <a16:creationId xmlns:a16="http://schemas.microsoft.com/office/drawing/2014/main" id="{7F032FCE-2D10-4883-9D02-C76F213FFE45}"/>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There is no built-in expiry on the signed approval. Time between disclosure and inclusion can be long, especially when a link is sent to another person. The console treats the key as used for signing immediately; the seat retires it only when the approval lands. Keep the signing browser's ledger, use one signing browser per seat, and resend the same waiting approval.</a:t>
            </a:r>
          </a:p>
          <a:p xmlns:a="http://schemas.openxmlformats.org/drawingml/2006/main">
            <a:r>
              <a:t/>
            </a:r>
          </a:p>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Revealing a public key is not ordinary private-key extraction. The theoretical curve-breaking scenario concerns public curve keys; the passkey's P-256 public key is already public after its signer is deployed. The one-time half is intended to require an additional hash-based signature. It does not make the signing page trustworthy, and it does not protect the gas wallet's funds.</a:t>
            </a:r>
          </a:p>
        </p:txBody>
      </p:sp>
    </p:spTree>
    <p:extLst>
      <p:ext uri="{BB962C8B-B14F-4D97-AF65-F5344CB8AC3E}">
        <p14:creationId xmlns:p14="http://schemas.microsoft.com/office/powerpoint/2010/main" val="1852724083"/>
      </p:ext>
    </p:extLst>
  </p:cSld>
</p:sld>
</file>

<file path=ppt/slides/slide5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56E63FB-8B98-495E-BD85-2070A03D1834}"/>
              </a:ext>
            </a:extLst>
          </p:cNvPr>
          <p:cNvSpPr>
            <a:spLocks xmlns:a="http://schemas.openxmlformats.org/drawingml/2006/main" noGrp="1"/>
          </p:cNvSpPr>
          <p:nvPr/>
        </p:nvSpPr>
        <p:spPr>
          <a:xfrm xmlns:a="http://schemas.openxmlformats.org/drawingml/2006/main">
            <a:off x="666750" y="381000"/>
            <a:ext cx="1695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20314B"/>
                </a:solidFill>
                <a:latin typeface="Arial"/>
                <a:ea typeface="Arial"/>
                <a:cs typeface="Arial"/>
              </a:defRPr>
            </a:defPPr>
          </a:lstStyle>
          <a:p xmlns:a="http://schemas.openxmlformats.org/drawingml/2006/main">
            <a:pPr>
              <a:defRPr sz="3600" b="1">
                <a:solidFill>
                  <a:srgbClr val="20314B"/>
                </a:solidFill>
                <a:latin typeface="Arial"/>
                <a:ea typeface="Arial"/>
                <a:cs typeface="Arial"/>
              </a:defRPr>
            </a:pPr>
            <a:r>
              <a:rPr sz="3600" b="1">
                <a:solidFill>
                  <a:srgbClr val="20314B"/>
                </a:solidFill>
                <a:latin typeface="Arial"/>
                <a:ea typeface="Arial"/>
                <a:cs typeface="Arial"/>
              </a:rPr>
              <a:t>Sources and limits</a:t>
            </a:r>
          </a:p>
        </p:txBody>
      </p:sp>
      <p:sp>
        <p:nvSpPr>
          <p:cNvPr id="2" name="">
            <a:extLst xmlns:a="http://schemas.openxmlformats.org/drawingml/2006/main">
              <a:ext uri="{FF2B5EF4-FFF2-40B4-BE49-F238E27FC236}">
                <a16:creationId xmlns:a16="http://schemas.microsoft.com/office/drawing/2014/main" id="{18F0098B-D2B0-4FAA-B561-D1906A76EE1C}"/>
              </a:ext>
            </a:extLst>
          </p:cNvPr>
          <p:cNvSpPr>
            <a:spLocks xmlns:a="http://schemas.openxmlformats.org/drawingml/2006/main" noGrp="1"/>
          </p:cNvSpPr>
          <p:nvPr/>
        </p:nvSpPr>
        <p:spPr>
          <a:xfrm xmlns:a="http://schemas.openxmlformats.org/drawingml/2006/main">
            <a:off x="17145000" y="98107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6C82"/>
                </a:solidFill>
                <a:latin typeface="Arial"/>
                <a:ea typeface="Arial"/>
                <a:cs typeface="Arial"/>
              </a:defRPr>
            </a:defPPr>
          </a:lstStyle>
          <a:p xmlns:a="http://schemas.openxmlformats.org/drawingml/2006/main">
            <a:pPr>
              <a:defRPr sz="1500" b="0">
                <a:solidFill>
                  <a:srgbClr val="596C82"/>
                </a:solidFill>
                <a:latin typeface="Arial"/>
                <a:ea typeface="Arial"/>
                <a:cs typeface="Arial"/>
              </a:defRPr>
            </a:pPr>
            <a:r>
              <a:rPr sz="1500" b="0">
                <a:solidFill>
                  <a:srgbClr val="596C82"/>
                </a:solidFill>
                <a:latin typeface="Arial"/>
                <a:ea typeface="Arial"/>
                <a:cs typeface="Arial"/>
              </a:rPr>
              <a:t>55</a:t>
            </a:r>
          </a:p>
        </p:txBody>
      </p:sp>
      <p:sp>
        <p:nvSpPr>
          <p:cNvPr id="3" name="">
            <a:extLst xmlns:a="http://schemas.openxmlformats.org/drawingml/2006/main">
              <a:ext uri="{FF2B5EF4-FFF2-40B4-BE49-F238E27FC236}">
                <a16:creationId xmlns:a16="http://schemas.microsoft.com/office/drawing/2014/main" id="{E1E9BCD7-1544-4BD7-8227-6D6A8906A901}"/>
              </a:ext>
            </a:extLst>
          </p:cNvPr>
          <p:cNvSpPr>
            <a:spLocks xmlns:a="http://schemas.openxmlformats.org/drawingml/2006/main" noGrp="1"/>
          </p:cNvSpPr>
          <p:nvPr/>
        </p:nvSpPr>
        <p:spPr>
          <a:xfrm xmlns:a="http://schemas.openxmlformats.org/drawingml/2006/main">
            <a:off x="666750" y="1619250"/>
            <a:ext cx="16954500" cy="790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0314B"/>
                </a:solidFill>
                <a:latin typeface="Arial"/>
                <a:ea typeface="Arial"/>
                <a:cs typeface="Arial"/>
              </a:defRPr>
            </a:defPPr>
          </a:lstStyle>
          <a:p xmlns:a="http://schemas.openxmlformats.org/drawingml/2006/main">
            <a:pPr>
              <a:defRPr sz="2550" b="0">
                <a:solidFill>
                  <a:srgbClr val="20314B"/>
                </a:solidFill>
                <a:latin typeface="Arial"/>
                <a:ea typeface="Arial"/>
                <a:cs typeface="Arial"/>
              </a:defRPr>
            </a:pPr>
            <a:r>
              <a:rPr sz="2550" b="0">
                <a:solidFill>
                  <a:srgbClr val="20314B"/>
                </a:solidFill>
                <a:latin typeface="Arial"/>
                <a:ea typeface="Arial"/>
                <a:cs typeface="Arial"/>
              </a:rPr>
              <a:t>This walkthrough was checked against passkey methods, console signing and the ledger, the page's signing and simulation order, payment links, one-time key derivation, and the seat's checks and rotation. The capture run checked one passkey assertion per fresh approval, three Safe executions, key-number advances, and the same approval surviving refusal and reload. The native prompts, real phone PRF support, a live MetaMask session and a real second-device flow were not tested here.</a:t>
            </a:r>
          </a:p>
        </p:txBody>
      </p:sp>
    </p:spTree>
    <p:extLst>
      <p:ext uri="{BB962C8B-B14F-4D97-AF65-F5344CB8AC3E}">
        <p14:creationId xmlns:p14="http://schemas.microsoft.com/office/powerpoint/2010/main" val="185536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2026-10-10T00:37:52.1230000Z</dcterms:created>
  <dcterms:modified xsi:type="dcterms:W3CDTF">2026-10-10T00:37:52.1230000Z</dcterms:modified>
</coreProperties>
</file>